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89" r:id="rId4"/>
    <p:sldId id="287" r:id="rId5"/>
    <p:sldId id="288" r:id="rId6"/>
    <p:sldId id="258" r:id="rId7"/>
    <p:sldId id="259" r:id="rId8"/>
    <p:sldId id="275" r:id="rId9"/>
    <p:sldId id="286" r:id="rId10"/>
    <p:sldId id="285" r:id="rId11"/>
    <p:sldId id="272" r:id="rId12"/>
    <p:sldId id="274" r:id="rId13"/>
    <p:sldId id="265" r:id="rId14"/>
    <p:sldId id="279" r:id="rId15"/>
    <p:sldId id="280" r:id="rId16"/>
    <p:sldId id="281" r:id="rId17"/>
    <p:sldId id="277" r:id="rId18"/>
    <p:sldId id="264" r:id="rId19"/>
    <p:sldId id="267" r:id="rId20"/>
    <p:sldId id="266" r:id="rId21"/>
    <p:sldId id="273"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956"/>
    <p:restoredTop sz="91840"/>
  </p:normalViewPr>
  <p:slideViewPr>
    <p:cSldViewPr snapToGrid="0" snapToObjects="1">
      <p:cViewPr varScale="1">
        <p:scale>
          <a:sx n="115" d="100"/>
          <a:sy n="115" d="100"/>
        </p:scale>
        <p:origin x="1632"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15426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37237310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US" sz="1200" dirty="0"/>
              <a:t>Claude Enterprise Price Basis</a:t>
            </a:r>
          </a:p>
          <a:p>
            <a:pPr marL="285750" indent="-285750">
              <a:buFontTx/>
              <a:buChar char="-"/>
            </a:pPr>
            <a:r>
              <a:rPr lang="en-US" sz="1200" dirty="0"/>
              <a:t>$20/seat/month </a:t>
            </a:r>
            <a:r>
              <a:rPr lang="en-US" sz="1200" u="sng" dirty="0"/>
              <a:t>plus usage billed at API rates</a:t>
            </a:r>
            <a:r>
              <a:rPr lang="en-US" sz="1200" dirty="0"/>
              <a:t> (usage based: the more you use it, the more it costs)</a:t>
            </a:r>
            <a:endParaRPr lang="en-US" sz="1200" u="sng" dirty="0"/>
          </a:p>
          <a:p>
            <a:pPr marL="285750" indent="-285750">
              <a:buFontTx/>
              <a:buChar char="-"/>
            </a:pPr>
            <a:r>
              <a:rPr lang="en-US" sz="1200" dirty="0"/>
              <a:t>Billed annually (not monthly)</a:t>
            </a:r>
          </a:p>
          <a:p>
            <a:pPr marL="285750" indent="-285750">
              <a:buFontTx/>
              <a:buChar char="-"/>
            </a:pPr>
            <a:r>
              <a:rPr lang="en-US" sz="1200" dirty="0"/>
              <a:t>Everything in Team, plus: SSO, SCIM, role-based access with fine-grained </a:t>
            </a:r>
            <a:r>
              <a:rPr lang="en-US" sz="1200" dirty="0" err="1"/>
              <a:t>permissioning</a:t>
            </a:r>
            <a:r>
              <a:rPr lang="en-US" sz="1200" dirty="0"/>
              <a:t>, audit logs, a Compliance API, custom data retention controls, network-level access control, IP allowlisting, admin-set spend limits, HIPAA-ready offering, and (beta) Claude Security</a:t>
            </a:r>
          </a:p>
          <a:p>
            <a:pPr marL="285750" indent="-285750">
              <a:buFontTx/>
              <a:buChar char="-"/>
            </a:pPr>
            <a:r>
              <a:rPr lang="en-US" sz="1200" dirty="0"/>
              <a:t>500k context window on the default model — notably larger than Max's 200k</a:t>
            </a:r>
          </a:p>
          <a:p>
            <a:endParaRPr lang="en-US" dirty="0"/>
          </a:p>
        </p:txBody>
      </p:sp>
    </p:spTree>
    <p:extLst>
      <p:ext uri="{BB962C8B-B14F-4D97-AF65-F5344CB8AC3E}">
        <p14:creationId xmlns:p14="http://schemas.microsoft.com/office/powerpoint/2010/main" val="42697771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8597B-A388-4841-E9C1-E297C983A2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B68910-CA8E-35D2-7D9A-0B65560C1E4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E964BB5-682B-9B6E-2DEC-F97D638A494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3105A05-81AB-6250-DE5D-D0129B028740}"/>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30255139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2744"/>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82744"/>
          </a:solidFill>
          <a:ln/>
        </p:spPr>
        <p:txBody>
          <a:bodyPr/>
          <a:lstStyle/>
          <a:p>
            <a:endParaRPr lang="en-US"/>
          </a:p>
        </p:txBody>
      </p:sp>
      <p:sp>
        <p:nvSpPr>
          <p:cNvPr id="3" name="Text 1"/>
          <p:cNvSpPr/>
          <p:nvPr/>
        </p:nvSpPr>
        <p:spPr>
          <a:xfrm>
            <a:off x="0" y="502920"/>
            <a:ext cx="12191695" cy="320040"/>
          </a:xfrm>
          <a:prstGeom prst="rect">
            <a:avLst/>
          </a:prstGeom>
          <a:noFill/>
          <a:ln/>
        </p:spPr>
        <p:txBody>
          <a:bodyPr wrap="square" rtlCol="0" anchor="ctr"/>
          <a:lstStyle/>
          <a:p>
            <a:pPr marL="0" indent="0" algn="ctr">
              <a:buNone/>
            </a:pPr>
            <a:endParaRPr lang="en-US" sz="1300" dirty="0"/>
          </a:p>
        </p:txBody>
      </p:sp>
      <p:sp>
        <p:nvSpPr>
          <p:cNvPr id="4" name="Text 2"/>
          <p:cNvSpPr/>
          <p:nvPr/>
        </p:nvSpPr>
        <p:spPr>
          <a:xfrm>
            <a:off x="0" y="2286000"/>
            <a:ext cx="12191695" cy="1097280"/>
          </a:xfrm>
          <a:prstGeom prst="rect">
            <a:avLst/>
          </a:prstGeom>
          <a:noFill/>
          <a:ln/>
        </p:spPr>
        <p:txBody>
          <a:bodyPr wrap="square" rtlCol="0" anchor="ctr"/>
          <a:lstStyle/>
          <a:p>
            <a:pPr marL="0" indent="0" algn="ctr">
              <a:buNone/>
            </a:pPr>
            <a:r>
              <a:rPr lang="en-US" sz="5400" b="1" dirty="0">
                <a:solidFill>
                  <a:srgbClr val="FFFFFF"/>
                </a:solidFill>
                <a:latin typeface="Cambria" pitchFamily="34" charset="0"/>
                <a:ea typeface="Cambria" pitchFamily="34" charset="-122"/>
                <a:cs typeface="Cambria" pitchFamily="34" charset="-120"/>
              </a:rPr>
              <a:t>AI at NexTern</a:t>
            </a:r>
            <a:endParaRPr lang="en-US" sz="5400" dirty="0"/>
          </a:p>
        </p:txBody>
      </p:sp>
      <p:sp>
        <p:nvSpPr>
          <p:cNvPr id="5" name="Text 3"/>
          <p:cNvSpPr/>
          <p:nvPr/>
        </p:nvSpPr>
        <p:spPr>
          <a:xfrm>
            <a:off x="1371600" y="3429000"/>
            <a:ext cx="9448495" cy="548640"/>
          </a:xfrm>
          <a:prstGeom prst="rect">
            <a:avLst/>
          </a:prstGeom>
          <a:noFill/>
          <a:ln/>
        </p:spPr>
        <p:txBody>
          <a:bodyPr wrap="square" rtlCol="0" anchor="ctr"/>
          <a:lstStyle/>
          <a:p>
            <a:pPr marL="0" indent="0" algn="ctr">
              <a:buNone/>
            </a:pPr>
            <a:r>
              <a:rPr lang="en-US" sz="1800" dirty="0">
                <a:solidFill>
                  <a:srgbClr val="CFE0F0"/>
                </a:solidFill>
                <a:latin typeface="Calibri" pitchFamily="34" charset="0"/>
                <a:ea typeface="Calibri" pitchFamily="34" charset="-122"/>
                <a:cs typeface="Calibri" pitchFamily="34" charset="-120"/>
              </a:rPr>
              <a:t>What we've learned, what we've concluded, and what we're asking for.</a:t>
            </a:r>
            <a:endParaRPr lang="en-US" sz="1800" dirty="0"/>
          </a:p>
        </p:txBody>
      </p:sp>
      <p:sp>
        <p:nvSpPr>
          <p:cNvPr id="6" name="Text 4"/>
          <p:cNvSpPr/>
          <p:nvPr/>
        </p:nvSpPr>
        <p:spPr>
          <a:xfrm>
            <a:off x="914400" y="5989320"/>
            <a:ext cx="10362895" cy="365760"/>
          </a:xfrm>
          <a:prstGeom prst="rect">
            <a:avLst/>
          </a:prstGeom>
          <a:noFill/>
          <a:ln/>
        </p:spPr>
        <p:txBody>
          <a:bodyPr wrap="square" rtlCol="0" anchor="ctr"/>
          <a:lstStyle/>
          <a:p>
            <a:pPr marL="0" indent="0" algn="ctr">
              <a:buNone/>
            </a:pPr>
            <a:r>
              <a:rPr lang="en-US" sz="1150" i="1" dirty="0">
                <a:solidFill>
                  <a:srgbClr val="9DB8D4"/>
                </a:solidFill>
                <a:latin typeface="Calibri" pitchFamily="34" charset="0"/>
                <a:ea typeface="Calibri" pitchFamily="34" charset="-122"/>
                <a:cs typeface="Calibri" pitchFamily="34" charset="-120"/>
              </a:rPr>
              <a:t>Prepared for review by Mike Brenzel (CTO), CFO, and COO  ·  Ohana Consulting — architecture &amp; governance advisor</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p:cNvSpPr/>
          <p:nvPr/>
        </p:nvSpPr>
        <p:spPr>
          <a:xfrm>
            <a:off x="502920" y="320040"/>
            <a:ext cx="8229600" cy="274320"/>
          </a:xfrm>
          <a:prstGeom prst="rect">
            <a:avLst/>
          </a:prstGeom>
          <a:noFill/>
          <a:ln/>
        </p:spPr>
        <p:txBody>
          <a:bodyPr wrap="square" rtlCol="0" anchor="ctr"/>
          <a:lstStyle/>
          <a:p>
            <a:pPr marL="0" indent="0">
              <a:buNone/>
            </a:pPr>
            <a:r>
              <a:rPr lang="en-US" sz="1200" b="1" kern="0" spc="200" dirty="0">
                <a:solidFill>
                  <a:srgbClr val="E65100"/>
                </a:solidFill>
                <a:latin typeface="Calibri" pitchFamily="34" charset="0"/>
                <a:ea typeface="Calibri" pitchFamily="34" charset="-122"/>
                <a:cs typeface="Calibri" pitchFamily="34" charset="-120"/>
              </a:rPr>
              <a:t>AGENDA</a:t>
            </a:r>
            <a:endParaRPr lang="en-US" sz="1200" dirty="0"/>
          </a:p>
        </p:txBody>
      </p:sp>
      <p:sp>
        <p:nvSpPr>
          <p:cNvPr id="3" name="Text"/>
          <p:cNvSpPr/>
          <p:nvPr/>
        </p:nvSpPr>
        <p:spPr>
          <a:xfrm>
            <a:off x="502920" y="576072"/>
            <a:ext cx="10515600" cy="640080"/>
          </a:xfrm>
          <a:prstGeom prst="rect">
            <a:avLst/>
          </a:prstGeom>
          <a:noFill/>
          <a:ln/>
        </p:spPr>
        <p:txBody>
          <a:bodyPr wrap="square" rtlCol="0" anchor="ctr"/>
          <a:lstStyle/>
          <a:p>
            <a:pPr marL="0" indent="0">
              <a:buNone/>
            </a:pPr>
            <a:r>
              <a:rPr lang="en-US" sz="2800" b="1" kern="0" dirty="0">
                <a:solidFill>
                  <a:srgbClr val="082744"/>
                </a:solidFill>
                <a:latin typeface="Cambria" pitchFamily="34" charset="0"/>
                <a:ea typeface="Cambria" pitchFamily="34" charset="-122"/>
                <a:cs typeface="Cambria" pitchFamily="34" charset="-120"/>
              </a:rPr>
              <a:t>Defining and Managing AI Guardrails</a:t>
            </a:r>
            <a:endParaRPr lang="en-US" sz="2800" dirty="0"/>
          </a:p>
        </p:txBody>
      </p:sp>
      <p:sp>
        <p:nvSpPr>
          <p:cNvPr id="5" name="Bar"/>
          <p:cNvSpPr/>
          <p:nvPr/>
        </p:nvSpPr>
        <p:spPr>
          <a:xfrm>
            <a:off x="799078" y="1951820"/>
            <a:ext cx="3291840" cy="54864"/>
          </a:xfrm>
          <a:prstGeom prst="rect">
            <a:avLst/>
          </a:prstGeom>
          <a:solidFill>
            <a:srgbClr val="E65100"/>
          </a:solidFill>
          <a:ln/>
        </p:spPr>
        <p:txBody>
          <a:bodyPr/>
          <a:lstStyle/>
          <a:p>
            <a:endParaRPr lang="en-US"/>
          </a:p>
        </p:txBody>
      </p:sp>
      <p:sp>
        <p:nvSpPr>
          <p:cNvPr id="6" name="Card"/>
          <p:cNvSpPr/>
          <p:nvPr/>
        </p:nvSpPr>
        <p:spPr>
          <a:xfrm>
            <a:off x="799078" y="2006684"/>
            <a:ext cx="3291840" cy="3246120"/>
          </a:xfrm>
          <a:prstGeom prst="roundRect">
            <a:avLst>
              <a:gd name="adj" fmla="val 2759"/>
            </a:avLst>
          </a:prstGeom>
          <a:solidFill>
            <a:srgbClr val="F3F6FB"/>
          </a:solidFill>
          <a:ln w="12700">
            <a:solidFill>
              <a:srgbClr val="E1E4EF"/>
            </a:solidFill>
            <a:prstDash val="solid"/>
          </a:ln>
        </p:spPr>
        <p:txBody>
          <a:bodyPr/>
          <a:lstStyle/>
          <a:p>
            <a:endParaRPr lang="en-US"/>
          </a:p>
        </p:txBody>
      </p:sp>
      <p:sp>
        <p:nvSpPr>
          <p:cNvPr id="7" name="Text"/>
          <p:cNvSpPr/>
          <p:nvPr/>
        </p:nvSpPr>
        <p:spPr>
          <a:xfrm>
            <a:off x="981958" y="2189564"/>
            <a:ext cx="2926080" cy="274320"/>
          </a:xfrm>
          <a:prstGeom prst="rect">
            <a:avLst/>
          </a:prstGeom>
          <a:noFill/>
          <a:ln/>
        </p:spPr>
        <p:txBody>
          <a:bodyPr wrap="square" rtlCol="0" anchor="ctr"/>
          <a:lstStyle/>
          <a:p>
            <a:pPr marL="0" indent="0">
              <a:buNone/>
            </a:pPr>
            <a:r>
              <a:rPr lang="en-US" sz="1000" b="1" kern="0" spc="150" dirty="0">
                <a:solidFill>
                  <a:srgbClr val="5F6368"/>
                </a:solidFill>
                <a:latin typeface="Calibri" pitchFamily="34" charset="0"/>
                <a:ea typeface="Calibri" pitchFamily="34" charset="-122"/>
                <a:cs typeface="Calibri" pitchFamily="34" charset="-120"/>
              </a:rPr>
              <a:t>PART 1</a:t>
            </a:r>
            <a:endParaRPr lang="en-US" sz="1000" dirty="0"/>
          </a:p>
        </p:txBody>
      </p:sp>
      <p:sp>
        <p:nvSpPr>
          <p:cNvPr id="8" name="Text"/>
          <p:cNvSpPr/>
          <p:nvPr/>
        </p:nvSpPr>
        <p:spPr>
          <a:xfrm>
            <a:off x="981958" y="2509604"/>
            <a:ext cx="2926080" cy="548640"/>
          </a:xfrm>
          <a:prstGeom prst="rect">
            <a:avLst/>
          </a:prstGeom>
          <a:noFill/>
          <a:ln/>
        </p:spPr>
        <p:txBody>
          <a:bodyPr wrap="square" rtlCol="0" anchor="ctr"/>
          <a:lstStyle/>
          <a:p>
            <a:pPr marL="0" indent="0">
              <a:buNone/>
            </a:pPr>
            <a:r>
              <a:rPr lang="en-US" sz="3000" b="1" kern="0" dirty="0">
                <a:solidFill>
                  <a:srgbClr val="082744"/>
                </a:solidFill>
                <a:latin typeface="Cambria" pitchFamily="34" charset="0"/>
                <a:ea typeface="Cambria" pitchFamily="34" charset="-122"/>
                <a:cs typeface="Cambria" pitchFamily="34" charset="-120"/>
              </a:rPr>
              <a:t>Overview</a:t>
            </a:r>
            <a:endParaRPr lang="en-US" sz="3000" dirty="0"/>
          </a:p>
        </p:txBody>
      </p:sp>
      <p:sp>
        <p:nvSpPr>
          <p:cNvPr id="9" name="Text"/>
          <p:cNvSpPr/>
          <p:nvPr/>
        </p:nvSpPr>
        <p:spPr>
          <a:xfrm>
            <a:off x="981958" y="3149684"/>
            <a:ext cx="2926080" cy="1828800"/>
          </a:xfrm>
          <a:prstGeom prst="rect">
            <a:avLst/>
          </a:prstGeom>
          <a:noFill/>
          <a:ln/>
        </p:spPr>
        <p:txBody>
          <a:bodyPr wrap="square" rtlCol="0" anchor="t"/>
          <a:lstStyle/>
          <a:p>
            <a:pPr marL="0" indent="0">
              <a:buNone/>
            </a:pPr>
            <a:r>
              <a:rPr lang="en-US" sz="1300" kern="0" dirty="0">
                <a:solidFill>
                  <a:srgbClr val="444444"/>
                </a:solidFill>
                <a:latin typeface="Calibri" pitchFamily="34" charset="0"/>
                <a:ea typeface="Calibri" pitchFamily="34" charset="-122"/>
                <a:cs typeface="Calibri" pitchFamily="34" charset="-120"/>
              </a:rPr>
              <a:t>Goals  ·  Status  ·  Recommendation</a:t>
            </a:r>
          </a:p>
          <a:p>
            <a:pPr marL="0" indent="0">
              <a:buNone/>
            </a:pPr>
            <a:endParaRPr lang="en-US" sz="1300" kern="0" dirty="0">
              <a:solidFill>
                <a:srgbClr val="444444"/>
              </a:solidFill>
              <a:latin typeface="Calibri" pitchFamily="34" charset="0"/>
              <a:ea typeface="Calibri" pitchFamily="34" charset="-122"/>
              <a:cs typeface="Calibri" pitchFamily="34" charset="-120"/>
            </a:endParaRPr>
          </a:p>
          <a:p>
            <a:pPr marL="285750" indent="-285750">
              <a:buFont typeface="Arial" panose="020B0604020202020204" pitchFamily="34" charset="0"/>
              <a:buChar char="•"/>
            </a:pPr>
            <a:r>
              <a:rPr lang="en-US" sz="1300" kern="0" dirty="0">
                <a:solidFill>
                  <a:srgbClr val="444444"/>
                </a:solidFill>
                <a:latin typeface="Calibri" pitchFamily="34" charset="0"/>
                <a:ea typeface="Calibri" pitchFamily="34" charset="-122"/>
                <a:cs typeface="Calibri" pitchFamily="34" charset="-120"/>
              </a:rPr>
              <a:t>Context</a:t>
            </a:r>
          </a:p>
          <a:p>
            <a:pPr marL="285750" indent="-285750">
              <a:buFont typeface="Arial" panose="020B0604020202020204" pitchFamily="34" charset="0"/>
              <a:buChar char="•"/>
            </a:pPr>
            <a:r>
              <a:rPr lang="en-US" sz="1300" kern="0" dirty="0">
                <a:solidFill>
                  <a:srgbClr val="444444"/>
                </a:solidFill>
                <a:latin typeface="Calibri" pitchFamily="34" charset="0"/>
                <a:ea typeface="Calibri" pitchFamily="34" charset="-122"/>
                <a:cs typeface="Calibri" pitchFamily="34" charset="-120"/>
              </a:rPr>
              <a:t>Why Structured Context</a:t>
            </a:r>
          </a:p>
          <a:p>
            <a:pPr marL="285750" indent="-285750">
              <a:buFont typeface="Arial" panose="020B0604020202020204" pitchFamily="34" charset="0"/>
              <a:buChar char="•"/>
            </a:pPr>
            <a:r>
              <a:rPr lang="en-US" sz="1300" kern="0" dirty="0">
                <a:solidFill>
                  <a:srgbClr val="444444"/>
                </a:solidFill>
                <a:latin typeface="Calibri" pitchFamily="34" charset="0"/>
                <a:ea typeface="Calibri" pitchFamily="34" charset="-122"/>
                <a:cs typeface="Calibri" pitchFamily="34" charset="-120"/>
              </a:rPr>
              <a:t>SCS Structure</a:t>
            </a:r>
          </a:p>
          <a:p>
            <a:pPr marL="285750" indent="-285750">
              <a:buFont typeface="Arial" panose="020B0604020202020204" pitchFamily="34" charset="0"/>
              <a:buChar char="•"/>
            </a:pPr>
            <a:r>
              <a:rPr lang="en-US" sz="1300" kern="0" dirty="0">
                <a:solidFill>
                  <a:srgbClr val="444444"/>
                </a:solidFill>
                <a:latin typeface="Calibri" pitchFamily="34" charset="0"/>
                <a:ea typeface="Calibri" pitchFamily="34" charset="-122"/>
                <a:cs typeface="Calibri" pitchFamily="34" charset="-120"/>
              </a:rPr>
              <a:t>SCS Components</a:t>
            </a:r>
          </a:p>
          <a:p>
            <a:pPr marL="285750" indent="-285750">
              <a:buFont typeface="Arial" panose="020B0604020202020204" pitchFamily="34" charset="0"/>
              <a:buChar char="•"/>
            </a:pPr>
            <a:r>
              <a:rPr lang="en-US" sz="1300" kern="0" dirty="0">
                <a:solidFill>
                  <a:srgbClr val="444444"/>
                </a:solidFill>
                <a:latin typeface="Calibri" pitchFamily="34" charset="0"/>
                <a:ea typeface="Calibri" pitchFamily="34" charset="-122"/>
                <a:cs typeface="Calibri" pitchFamily="34" charset="-120"/>
              </a:rPr>
              <a:t>What’s new in 0.5</a:t>
            </a:r>
          </a:p>
        </p:txBody>
      </p:sp>
      <p:sp>
        <p:nvSpPr>
          <p:cNvPr id="10" name="Bar"/>
          <p:cNvSpPr/>
          <p:nvPr/>
        </p:nvSpPr>
        <p:spPr>
          <a:xfrm>
            <a:off x="4365238" y="1951820"/>
            <a:ext cx="3291840" cy="54864"/>
          </a:xfrm>
          <a:prstGeom prst="rect">
            <a:avLst/>
          </a:prstGeom>
          <a:solidFill>
            <a:srgbClr val="E65100"/>
          </a:solidFill>
          <a:ln/>
        </p:spPr>
        <p:txBody>
          <a:bodyPr/>
          <a:lstStyle/>
          <a:p>
            <a:endParaRPr lang="en-US"/>
          </a:p>
        </p:txBody>
      </p:sp>
      <p:sp>
        <p:nvSpPr>
          <p:cNvPr id="11" name="Card"/>
          <p:cNvSpPr/>
          <p:nvPr/>
        </p:nvSpPr>
        <p:spPr>
          <a:xfrm>
            <a:off x="4365238" y="2006684"/>
            <a:ext cx="3291840" cy="3246120"/>
          </a:xfrm>
          <a:prstGeom prst="roundRect">
            <a:avLst>
              <a:gd name="adj" fmla="val 2759"/>
            </a:avLst>
          </a:prstGeom>
          <a:solidFill>
            <a:srgbClr val="F3F6FB"/>
          </a:solidFill>
          <a:ln w="12700">
            <a:solidFill>
              <a:srgbClr val="E1E4EF"/>
            </a:solidFill>
            <a:prstDash val="solid"/>
          </a:ln>
        </p:spPr>
        <p:txBody>
          <a:bodyPr/>
          <a:lstStyle/>
          <a:p>
            <a:endParaRPr lang="en-US"/>
          </a:p>
        </p:txBody>
      </p:sp>
      <p:sp>
        <p:nvSpPr>
          <p:cNvPr id="12" name="Text"/>
          <p:cNvSpPr/>
          <p:nvPr/>
        </p:nvSpPr>
        <p:spPr>
          <a:xfrm>
            <a:off x="4548118" y="2189564"/>
            <a:ext cx="2926080" cy="274320"/>
          </a:xfrm>
          <a:prstGeom prst="rect">
            <a:avLst/>
          </a:prstGeom>
          <a:noFill/>
          <a:ln/>
        </p:spPr>
        <p:txBody>
          <a:bodyPr wrap="square" rtlCol="0" anchor="ctr"/>
          <a:lstStyle/>
          <a:p>
            <a:pPr marL="0" indent="0">
              <a:buNone/>
            </a:pPr>
            <a:r>
              <a:rPr lang="en-US" sz="1000" b="1" kern="0" spc="150" dirty="0">
                <a:solidFill>
                  <a:srgbClr val="5F6368"/>
                </a:solidFill>
                <a:latin typeface="Calibri" pitchFamily="34" charset="0"/>
                <a:ea typeface="Calibri" pitchFamily="34" charset="-122"/>
                <a:cs typeface="Calibri" pitchFamily="34" charset="-120"/>
              </a:rPr>
              <a:t>PART 2</a:t>
            </a:r>
            <a:endParaRPr lang="en-US" sz="1000" dirty="0"/>
          </a:p>
        </p:txBody>
      </p:sp>
      <p:sp>
        <p:nvSpPr>
          <p:cNvPr id="13" name="Text"/>
          <p:cNvSpPr/>
          <p:nvPr/>
        </p:nvSpPr>
        <p:spPr>
          <a:xfrm>
            <a:off x="4548118" y="2509604"/>
            <a:ext cx="2926080" cy="548640"/>
          </a:xfrm>
          <a:prstGeom prst="rect">
            <a:avLst/>
          </a:prstGeom>
          <a:noFill/>
          <a:ln/>
        </p:spPr>
        <p:txBody>
          <a:bodyPr wrap="square" rtlCol="0" anchor="ctr"/>
          <a:lstStyle/>
          <a:p>
            <a:pPr marL="0" indent="0">
              <a:buNone/>
            </a:pPr>
            <a:r>
              <a:rPr lang="en-US" sz="3000" b="1" kern="0" dirty="0">
                <a:solidFill>
                  <a:srgbClr val="082744"/>
                </a:solidFill>
                <a:latin typeface="Cambria" pitchFamily="34" charset="0"/>
                <a:ea typeface="Cambria" pitchFamily="34" charset="-122"/>
                <a:cs typeface="Cambria" pitchFamily="34" charset="-120"/>
              </a:rPr>
              <a:t>How to Use</a:t>
            </a:r>
            <a:endParaRPr lang="en-US" sz="3000" dirty="0"/>
          </a:p>
        </p:txBody>
      </p:sp>
      <p:sp>
        <p:nvSpPr>
          <p:cNvPr id="14" name="Text"/>
          <p:cNvSpPr/>
          <p:nvPr/>
        </p:nvSpPr>
        <p:spPr>
          <a:xfrm>
            <a:off x="4548118" y="3149684"/>
            <a:ext cx="2926080" cy="1828800"/>
          </a:xfrm>
          <a:prstGeom prst="rect">
            <a:avLst/>
          </a:prstGeom>
          <a:noFill/>
          <a:ln/>
        </p:spPr>
        <p:txBody>
          <a:bodyPr wrap="square" rtlCol="0" anchor="t"/>
          <a:lstStyle/>
          <a:p>
            <a:pPr marL="0" indent="0">
              <a:buNone/>
            </a:pPr>
            <a:r>
              <a:rPr lang="en-US" sz="1300" kern="0" dirty="0">
                <a:solidFill>
                  <a:srgbClr val="444444"/>
                </a:solidFill>
                <a:latin typeface="Calibri" pitchFamily="34" charset="0"/>
                <a:ea typeface="Calibri" pitchFamily="34" charset="-122"/>
                <a:cs typeface="Calibri" pitchFamily="34" charset="-120"/>
              </a:rPr>
              <a:t>Gather  ·  Build  ·  Review  ·  Version</a:t>
            </a:r>
          </a:p>
          <a:p>
            <a:pPr marL="0" indent="0">
              <a:buNone/>
            </a:pPr>
            <a:endParaRPr lang="en-US" sz="1300" kern="0" dirty="0">
              <a:solidFill>
                <a:srgbClr val="444444"/>
              </a:solidFill>
              <a:latin typeface="Calibri" pitchFamily="34" charset="0"/>
              <a:cs typeface="Calibri" pitchFamily="34" charset="-120"/>
            </a:endParaRPr>
          </a:p>
          <a:p>
            <a:pPr marL="285750" indent="-285750">
              <a:buFont typeface="Arial" panose="020B0604020202020204" pitchFamily="34" charset="0"/>
              <a:buChar char="•"/>
            </a:pPr>
            <a:r>
              <a:rPr lang="en-US" sz="1300" kern="0" dirty="0">
                <a:solidFill>
                  <a:srgbClr val="444444"/>
                </a:solidFill>
                <a:latin typeface="Calibri" pitchFamily="34" charset="0"/>
                <a:cs typeface="Calibri" pitchFamily="34" charset="-120"/>
              </a:rPr>
              <a:t>Executive Team Engagement</a:t>
            </a:r>
          </a:p>
          <a:p>
            <a:pPr marL="285750" indent="-285750">
              <a:buFont typeface="Arial" panose="020B0604020202020204" pitchFamily="34" charset="0"/>
              <a:buChar char="•"/>
            </a:pPr>
            <a:r>
              <a:rPr lang="en-US" sz="1300" kern="0" dirty="0">
                <a:solidFill>
                  <a:srgbClr val="444444"/>
                </a:solidFill>
                <a:latin typeface="Calibri" pitchFamily="34" charset="0"/>
                <a:cs typeface="Calibri" pitchFamily="34" charset="-120"/>
              </a:rPr>
              <a:t>Locate or define policy documents</a:t>
            </a:r>
          </a:p>
          <a:p>
            <a:pPr marL="285750" indent="-285750">
              <a:buFont typeface="Arial" panose="020B0604020202020204" pitchFamily="34" charset="0"/>
              <a:buChar char="•"/>
            </a:pPr>
            <a:r>
              <a:rPr lang="en-US" sz="1300" kern="0" dirty="0">
                <a:solidFill>
                  <a:srgbClr val="444444"/>
                </a:solidFill>
                <a:latin typeface="Calibri" pitchFamily="34" charset="0"/>
                <a:cs typeface="Calibri" pitchFamily="34" charset="-120"/>
              </a:rPr>
              <a:t>Validate Policies</a:t>
            </a:r>
          </a:p>
          <a:p>
            <a:pPr marL="285750" indent="-285750">
              <a:buFont typeface="Arial" panose="020B0604020202020204" pitchFamily="34" charset="0"/>
              <a:buChar char="•"/>
            </a:pPr>
            <a:r>
              <a:rPr lang="en-US" sz="1300" kern="0" dirty="0">
                <a:solidFill>
                  <a:srgbClr val="444444"/>
                </a:solidFill>
                <a:latin typeface="Calibri" pitchFamily="34" charset="0"/>
                <a:cs typeface="Calibri" pitchFamily="34" charset="-120"/>
              </a:rPr>
              <a:t>Generate SCDs</a:t>
            </a:r>
          </a:p>
          <a:p>
            <a:pPr marL="285750" indent="-285750">
              <a:buFont typeface="Arial" panose="020B0604020202020204" pitchFamily="34" charset="0"/>
              <a:buChar char="•"/>
            </a:pPr>
            <a:r>
              <a:rPr lang="en-US" sz="1300" kern="0" dirty="0">
                <a:solidFill>
                  <a:srgbClr val="444444"/>
                </a:solidFill>
                <a:latin typeface="Calibri" pitchFamily="34" charset="0"/>
                <a:cs typeface="Calibri" pitchFamily="34" charset="-120"/>
              </a:rPr>
              <a:t>Review and approve SCDs</a:t>
            </a:r>
          </a:p>
          <a:p>
            <a:pPr marL="285750" indent="-285750">
              <a:buFont typeface="Arial" panose="020B0604020202020204" pitchFamily="34" charset="0"/>
              <a:buChar char="•"/>
            </a:pPr>
            <a:r>
              <a:rPr lang="en-US" sz="1300" kern="0" dirty="0">
                <a:solidFill>
                  <a:srgbClr val="444444"/>
                </a:solidFill>
                <a:latin typeface="Calibri" pitchFamily="34" charset="0"/>
                <a:cs typeface="Calibri" pitchFamily="34" charset="-120"/>
              </a:rPr>
              <a:t>Version and Deploy</a:t>
            </a:r>
          </a:p>
        </p:txBody>
      </p:sp>
      <p:sp>
        <p:nvSpPr>
          <p:cNvPr id="15" name="Bar"/>
          <p:cNvSpPr/>
          <p:nvPr/>
        </p:nvSpPr>
        <p:spPr>
          <a:xfrm>
            <a:off x="7931398" y="1951820"/>
            <a:ext cx="3291840" cy="54864"/>
          </a:xfrm>
          <a:prstGeom prst="rect">
            <a:avLst/>
          </a:prstGeom>
          <a:solidFill>
            <a:srgbClr val="E65100"/>
          </a:solidFill>
          <a:ln/>
        </p:spPr>
        <p:txBody>
          <a:bodyPr/>
          <a:lstStyle/>
          <a:p>
            <a:endParaRPr lang="en-US"/>
          </a:p>
        </p:txBody>
      </p:sp>
      <p:sp>
        <p:nvSpPr>
          <p:cNvPr id="16" name="Card"/>
          <p:cNvSpPr/>
          <p:nvPr/>
        </p:nvSpPr>
        <p:spPr>
          <a:xfrm>
            <a:off x="7931398" y="2006684"/>
            <a:ext cx="3291840" cy="3246120"/>
          </a:xfrm>
          <a:prstGeom prst="roundRect">
            <a:avLst>
              <a:gd name="adj" fmla="val 2759"/>
            </a:avLst>
          </a:prstGeom>
          <a:solidFill>
            <a:srgbClr val="F3F6FB"/>
          </a:solidFill>
          <a:ln w="12700">
            <a:solidFill>
              <a:srgbClr val="E1E4EF"/>
            </a:solidFill>
            <a:prstDash val="solid"/>
          </a:ln>
        </p:spPr>
        <p:txBody>
          <a:bodyPr/>
          <a:lstStyle/>
          <a:p>
            <a:endParaRPr lang="en-US" dirty="0"/>
          </a:p>
        </p:txBody>
      </p:sp>
      <p:sp>
        <p:nvSpPr>
          <p:cNvPr id="17" name="Text"/>
          <p:cNvSpPr/>
          <p:nvPr/>
        </p:nvSpPr>
        <p:spPr>
          <a:xfrm>
            <a:off x="8114278" y="2189564"/>
            <a:ext cx="2926080" cy="274320"/>
          </a:xfrm>
          <a:prstGeom prst="rect">
            <a:avLst/>
          </a:prstGeom>
          <a:noFill/>
          <a:ln/>
        </p:spPr>
        <p:txBody>
          <a:bodyPr wrap="square" rtlCol="0" anchor="ctr"/>
          <a:lstStyle/>
          <a:p>
            <a:pPr marL="0" indent="0">
              <a:buNone/>
            </a:pPr>
            <a:r>
              <a:rPr lang="en-US" sz="1000" b="1" kern="0" spc="150" dirty="0">
                <a:solidFill>
                  <a:srgbClr val="5F6368"/>
                </a:solidFill>
                <a:latin typeface="Calibri" pitchFamily="34" charset="0"/>
                <a:ea typeface="Calibri" pitchFamily="34" charset="-122"/>
                <a:cs typeface="Calibri" pitchFamily="34" charset="-120"/>
              </a:rPr>
              <a:t>PART 3</a:t>
            </a:r>
            <a:endParaRPr lang="en-US" sz="1000" dirty="0"/>
          </a:p>
        </p:txBody>
      </p:sp>
      <p:sp>
        <p:nvSpPr>
          <p:cNvPr id="18" name="Text"/>
          <p:cNvSpPr/>
          <p:nvPr/>
        </p:nvSpPr>
        <p:spPr>
          <a:xfrm>
            <a:off x="8114278" y="2509604"/>
            <a:ext cx="2926080" cy="548640"/>
          </a:xfrm>
          <a:prstGeom prst="rect">
            <a:avLst/>
          </a:prstGeom>
          <a:noFill/>
          <a:ln/>
        </p:spPr>
        <p:txBody>
          <a:bodyPr wrap="square" rtlCol="0" anchor="ctr"/>
          <a:lstStyle/>
          <a:p>
            <a:pPr marL="0" indent="0">
              <a:buNone/>
            </a:pPr>
            <a:r>
              <a:rPr lang="en-US" sz="3000" b="1" kern="0" dirty="0">
                <a:solidFill>
                  <a:srgbClr val="082744"/>
                </a:solidFill>
                <a:latin typeface="Cambria" pitchFamily="34" charset="0"/>
                <a:ea typeface="Cambria" pitchFamily="34" charset="-122"/>
                <a:cs typeface="Cambria" pitchFamily="34" charset="-120"/>
              </a:rPr>
              <a:t>What’s Next</a:t>
            </a:r>
            <a:endParaRPr lang="en-US" sz="3000" dirty="0"/>
          </a:p>
        </p:txBody>
      </p:sp>
      <p:sp>
        <p:nvSpPr>
          <p:cNvPr id="20" name="Text"/>
          <p:cNvSpPr/>
          <p:nvPr/>
        </p:nvSpPr>
        <p:spPr>
          <a:xfrm>
            <a:off x="11365992" y="6528816"/>
            <a:ext cx="365760" cy="256032"/>
          </a:xfrm>
          <a:prstGeom prst="rect">
            <a:avLst/>
          </a:prstGeom>
          <a:noFill/>
          <a:ln/>
        </p:spPr>
        <p:txBody>
          <a:bodyPr wrap="square" rtlCol="0" anchor="ctr"/>
          <a:lstStyle/>
          <a:p>
            <a:pPr marL="0" indent="0" algn="r">
              <a:buNone/>
            </a:pPr>
            <a:r>
              <a:rPr lang="en-US" sz="900" kern="0" dirty="0">
                <a:solidFill>
                  <a:srgbClr val="5F6368"/>
                </a:solidFill>
                <a:latin typeface="Calibri" pitchFamily="34" charset="0"/>
                <a:ea typeface="Calibri" pitchFamily="34" charset="-122"/>
                <a:cs typeface="Calibri" pitchFamily="34" charset="-120"/>
              </a:rPr>
              <a:t>2</a:t>
            </a:r>
            <a:endParaRPr lang="en-US" sz="900" dirty="0"/>
          </a:p>
        </p:txBody>
      </p:sp>
      <p:sp>
        <p:nvSpPr>
          <p:cNvPr id="21" name="Text">
            <a:extLst>
              <a:ext uri="{FF2B5EF4-FFF2-40B4-BE49-F238E27FC236}">
                <a16:creationId xmlns:a16="http://schemas.microsoft.com/office/drawing/2014/main" id="{71CA8551-E345-2526-EFE5-B0069444DC1E}"/>
              </a:ext>
            </a:extLst>
          </p:cNvPr>
          <p:cNvSpPr/>
          <p:nvPr/>
        </p:nvSpPr>
        <p:spPr>
          <a:xfrm>
            <a:off x="8114278" y="3149684"/>
            <a:ext cx="2926080" cy="1828800"/>
          </a:xfrm>
          <a:prstGeom prst="rect">
            <a:avLst/>
          </a:prstGeom>
          <a:noFill/>
          <a:ln/>
        </p:spPr>
        <p:txBody>
          <a:bodyPr wrap="square" rtlCol="0" anchor="t"/>
          <a:lstStyle/>
          <a:p>
            <a:pPr marL="0" indent="0">
              <a:buNone/>
            </a:pPr>
            <a:r>
              <a:rPr lang="en-US" sz="1300" kern="0" dirty="0">
                <a:solidFill>
                  <a:srgbClr val="444444"/>
                </a:solidFill>
                <a:latin typeface="Calibri" pitchFamily="34" charset="0"/>
                <a:ea typeface="Calibri" pitchFamily="34" charset="-122"/>
                <a:cs typeface="Calibri" pitchFamily="34" charset="-120"/>
              </a:rPr>
              <a:t>FY27 given successful pilot.</a:t>
            </a:r>
          </a:p>
          <a:p>
            <a:pPr marL="0" indent="0">
              <a:buNone/>
            </a:pPr>
            <a:endParaRPr lang="en-US" sz="1300" kern="0" dirty="0">
              <a:solidFill>
                <a:srgbClr val="444444"/>
              </a:solidFill>
              <a:latin typeface="Calibri" pitchFamily="34" charset="0"/>
              <a:cs typeface="Calibri" pitchFamily="34" charset="-120"/>
            </a:endParaRPr>
          </a:p>
          <a:p>
            <a:pPr marL="285750" indent="-285750">
              <a:buFont typeface="Arial" panose="020B0604020202020204" pitchFamily="34" charset="0"/>
              <a:buChar char="•"/>
            </a:pPr>
            <a:r>
              <a:rPr lang="en-US" sz="1300" kern="0" dirty="0">
                <a:solidFill>
                  <a:srgbClr val="444444"/>
                </a:solidFill>
                <a:latin typeface="Calibri" pitchFamily="34" charset="0"/>
                <a:cs typeface="Calibri" pitchFamily="34" charset="-120"/>
              </a:rPr>
              <a:t>Tim takes some time off</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a:extLst>
              <a:ext uri="{FF2B5EF4-FFF2-40B4-BE49-F238E27FC236}">
                <a16:creationId xmlns:a16="http://schemas.microsoft.com/office/drawing/2014/main" id="{78158A2D-B26E-CC29-21E9-2AF69CE16993}"/>
              </a:ext>
            </a:extLst>
          </p:cNvPr>
          <p:cNvSpPr/>
          <p:nvPr/>
        </p:nvSpPr>
        <p:spPr>
          <a:xfrm>
            <a:off x="502920" y="576072"/>
            <a:ext cx="10515600" cy="640080"/>
          </a:xfrm>
          <a:prstGeom prst="rect">
            <a:avLst/>
          </a:prstGeom>
          <a:noFill/>
          <a:ln/>
        </p:spPr>
        <p:txBody>
          <a:bodyPr wrap="square" rtlCol="0" anchor="ctr"/>
          <a:lstStyle/>
          <a:p>
            <a:pPr marL="0" indent="0">
              <a:buNone/>
            </a:pPr>
            <a:r>
              <a:rPr lang="en-US" sz="2800" b="1" dirty="0">
                <a:solidFill>
                  <a:srgbClr val="082744"/>
                </a:solidFill>
                <a:latin typeface="Cambria" pitchFamily="34" charset="0"/>
                <a:ea typeface="Cambria" pitchFamily="34" charset="-122"/>
                <a:cs typeface="Cambria" pitchFamily="34" charset="-120"/>
              </a:rPr>
              <a:t>What is SCS and what problem is it solving?</a:t>
            </a:r>
            <a:endParaRPr lang="en-US" sz="2800" dirty="0"/>
          </a:p>
        </p:txBody>
      </p:sp>
      <p:sp>
        <p:nvSpPr>
          <p:cNvPr id="3" name="Text 2">
            <a:extLst>
              <a:ext uri="{FF2B5EF4-FFF2-40B4-BE49-F238E27FC236}">
                <a16:creationId xmlns:a16="http://schemas.microsoft.com/office/drawing/2014/main" id="{1E8BD16B-C06F-B317-EA43-704BD9191F8B}"/>
              </a:ext>
            </a:extLst>
          </p:cNvPr>
          <p:cNvSpPr/>
          <p:nvPr/>
        </p:nvSpPr>
        <p:spPr>
          <a:xfrm>
            <a:off x="502920" y="1699606"/>
            <a:ext cx="8273090" cy="4467017"/>
          </a:xfrm>
          <a:prstGeom prst="rect">
            <a:avLst/>
          </a:prstGeom>
          <a:noFill/>
          <a:ln/>
        </p:spPr>
        <p:txBody>
          <a:bodyPr wrap="square" rtlCol="0" anchor="t"/>
          <a:lstStyle/>
          <a:p>
            <a:pPr marL="0" indent="0">
              <a:buNone/>
            </a:pPr>
            <a:r>
              <a:rPr lang="en-US" sz="1400" b="1" dirty="0">
                <a:solidFill>
                  <a:srgbClr val="082744"/>
                </a:solidFill>
                <a:latin typeface="Calibri" pitchFamily="34" charset="0"/>
                <a:cs typeface="Calibri" pitchFamily="34" charset="-120"/>
              </a:rPr>
              <a:t>Key Drivers:</a:t>
            </a:r>
          </a:p>
          <a:p>
            <a:pPr marL="0" indent="0">
              <a:buNone/>
            </a:pPr>
            <a:endParaRPr lang="en-US" sz="1400" b="1" dirty="0">
              <a:solidFill>
                <a:srgbClr val="082744"/>
              </a:solidFill>
              <a:latin typeface="Calibri" pitchFamily="34" charset="0"/>
              <a:cs typeface="Calibri" pitchFamily="34" charset="-120"/>
            </a:endParaRPr>
          </a:p>
          <a:p>
            <a:pPr marL="285750" indent="-285750">
              <a:buFont typeface="Arial" panose="020B0604020202020204" pitchFamily="34" charset="0"/>
              <a:buChar char="•"/>
            </a:pPr>
            <a:r>
              <a:rPr lang="en-US" sz="1400" b="1" dirty="0">
                <a:solidFill>
                  <a:srgbClr val="082744"/>
                </a:solidFill>
                <a:latin typeface="Calibri" pitchFamily="34" charset="0"/>
                <a:cs typeface="Calibri" pitchFamily="34" charset="-120"/>
              </a:rPr>
              <a:t>Without context, AI is stupid and dangerous</a:t>
            </a:r>
          </a:p>
          <a:p>
            <a:pPr marL="742950" lvl="1" indent="-285750">
              <a:buFont typeface="Arial" panose="020B0604020202020204" pitchFamily="34" charset="0"/>
              <a:buChar char="•"/>
            </a:pPr>
            <a:r>
              <a:rPr lang="en-US" sz="1400" dirty="0">
                <a:solidFill>
                  <a:srgbClr val="082744"/>
                </a:solidFill>
                <a:latin typeface="Calibri" pitchFamily="34" charset="0"/>
                <a:cs typeface="Calibri" pitchFamily="34" charset="-120"/>
              </a:rPr>
              <a:t>AI makes assumptions. Without context, it assumes that you don’t care.</a:t>
            </a:r>
          </a:p>
          <a:p>
            <a:pPr marL="742950" lvl="1" indent="-285750">
              <a:buFont typeface="Arial" panose="020B0604020202020204" pitchFamily="34" charset="0"/>
              <a:buChar char="•"/>
            </a:pPr>
            <a:r>
              <a:rPr lang="en-US" sz="1400" dirty="0">
                <a:solidFill>
                  <a:srgbClr val="082744"/>
                </a:solidFill>
                <a:latin typeface="Calibri" pitchFamily="34" charset="0"/>
                <a:cs typeface="Calibri" pitchFamily="34" charset="-120"/>
              </a:rPr>
              <a:t>Rule: AI Doesn’t Make Mistakes, People Do.</a:t>
            </a:r>
          </a:p>
          <a:p>
            <a:pPr marL="285750" indent="-285750">
              <a:buFont typeface="Arial" panose="020B0604020202020204" pitchFamily="34" charset="0"/>
              <a:buChar char="•"/>
            </a:pPr>
            <a:r>
              <a:rPr lang="en-US" sz="1400" b="1" dirty="0">
                <a:solidFill>
                  <a:srgbClr val="082744"/>
                </a:solidFill>
                <a:latin typeface="Calibri" pitchFamily="34" charset="0"/>
                <a:cs typeface="Calibri" pitchFamily="34" charset="-120"/>
              </a:rPr>
              <a:t>Guardrails are essential to keep AI from being stupid</a:t>
            </a:r>
          </a:p>
          <a:p>
            <a:pPr marL="742950" lvl="1" indent="-285750">
              <a:buFont typeface="Arial" panose="020B0604020202020204" pitchFamily="34" charset="0"/>
              <a:buChar char="•"/>
            </a:pPr>
            <a:r>
              <a:rPr lang="en-US" sz="1400" dirty="0">
                <a:solidFill>
                  <a:srgbClr val="082744"/>
                </a:solidFill>
                <a:latin typeface="Calibri" pitchFamily="34" charset="0"/>
                <a:cs typeface="Calibri" pitchFamily="34" charset="-120"/>
              </a:rPr>
              <a:t>Guardrails (rules, limits, conditions, criteria) are forms of context</a:t>
            </a:r>
          </a:p>
          <a:p>
            <a:pPr marL="742950" lvl="1" indent="-285750">
              <a:buFont typeface="Arial" panose="020B0604020202020204" pitchFamily="34" charset="0"/>
              <a:buChar char="•"/>
            </a:pPr>
            <a:r>
              <a:rPr lang="en-US" sz="1400" dirty="0">
                <a:solidFill>
                  <a:srgbClr val="082744"/>
                </a:solidFill>
                <a:latin typeface="Calibri" pitchFamily="34" charset="0"/>
                <a:cs typeface="Calibri" pitchFamily="34" charset="-120"/>
              </a:rPr>
              <a:t>Guardrails rarely change. When they do change, it’s a reflection of policy change.</a:t>
            </a:r>
          </a:p>
          <a:p>
            <a:pPr marL="742950" lvl="1" indent="-285750">
              <a:buFont typeface="Arial" panose="020B0604020202020204" pitchFamily="34" charset="0"/>
              <a:buChar char="•"/>
            </a:pPr>
            <a:r>
              <a:rPr lang="en-US" sz="1400" dirty="0">
                <a:solidFill>
                  <a:srgbClr val="082744"/>
                </a:solidFill>
                <a:latin typeface="Calibri" pitchFamily="34" charset="0"/>
                <a:cs typeface="Calibri" pitchFamily="34" charset="-120"/>
              </a:rPr>
              <a:t>To support changing policies, Guardrails (Context) is versioned and managed as an asset. </a:t>
            </a:r>
          </a:p>
          <a:p>
            <a:pPr marL="285750" indent="-285750">
              <a:buFont typeface="Arial" panose="020B0604020202020204" pitchFamily="34" charset="0"/>
              <a:buChar char="•"/>
            </a:pPr>
            <a:r>
              <a:rPr lang="en-US" sz="1400" b="1" dirty="0">
                <a:solidFill>
                  <a:srgbClr val="082744"/>
                </a:solidFill>
                <a:latin typeface="Calibri" pitchFamily="34" charset="0"/>
                <a:cs typeface="Calibri" pitchFamily="34" charset="-120"/>
              </a:rPr>
              <a:t>Kinds of Guardrails</a:t>
            </a:r>
          </a:p>
          <a:p>
            <a:pPr marL="742950" lvl="1" indent="-285750">
              <a:buFont typeface="Arial" panose="020B0604020202020204" pitchFamily="34" charset="0"/>
              <a:buChar char="•"/>
            </a:pPr>
            <a:r>
              <a:rPr lang="en-US" sz="1400" b="1" dirty="0">
                <a:solidFill>
                  <a:srgbClr val="082744"/>
                </a:solidFill>
                <a:latin typeface="Calibri" pitchFamily="34" charset="0"/>
                <a:cs typeface="Calibri" pitchFamily="34" charset="-120"/>
              </a:rPr>
              <a:t>Corporate Policy</a:t>
            </a:r>
          </a:p>
          <a:p>
            <a:pPr marL="742950" lvl="1" indent="-285750">
              <a:buFont typeface="Arial" panose="020B0604020202020204" pitchFamily="34" charset="0"/>
              <a:buChar char="•"/>
            </a:pPr>
            <a:r>
              <a:rPr lang="en-US" sz="1400" b="1" dirty="0">
                <a:solidFill>
                  <a:srgbClr val="082744"/>
                </a:solidFill>
                <a:latin typeface="Calibri" pitchFamily="34" charset="0"/>
                <a:cs typeface="Calibri" pitchFamily="34" charset="-120"/>
              </a:rPr>
              <a:t>Technical Requirements</a:t>
            </a:r>
          </a:p>
          <a:p>
            <a:pPr marL="742950" lvl="1" indent="-285750">
              <a:buFont typeface="Arial" panose="020B0604020202020204" pitchFamily="34" charset="0"/>
              <a:buChar char="•"/>
            </a:pPr>
            <a:r>
              <a:rPr lang="en-US" sz="1400" b="1" dirty="0">
                <a:solidFill>
                  <a:srgbClr val="082744"/>
                </a:solidFill>
                <a:latin typeface="Calibri" pitchFamily="34" charset="0"/>
                <a:cs typeface="Calibri" pitchFamily="34" charset="-120"/>
              </a:rPr>
              <a:t>Security Requirements</a:t>
            </a:r>
          </a:p>
          <a:p>
            <a:pPr marL="742950" lvl="1" indent="-285750">
              <a:buFont typeface="Arial" panose="020B0604020202020204" pitchFamily="34" charset="0"/>
              <a:buChar char="•"/>
            </a:pPr>
            <a:r>
              <a:rPr lang="en-US" sz="1400" b="1" dirty="0">
                <a:solidFill>
                  <a:srgbClr val="082744"/>
                </a:solidFill>
                <a:latin typeface="Calibri" pitchFamily="34" charset="0"/>
                <a:cs typeface="Calibri" pitchFamily="34" charset="-120"/>
              </a:rPr>
              <a:t>Regulation Requirements</a:t>
            </a:r>
          </a:p>
          <a:p>
            <a:pPr marL="742950" lvl="1" indent="-285750">
              <a:buFont typeface="Arial" panose="020B0604020202020204" pitchFamily="34" charset="0"/>
              <a:buChar char="•"/>
            </a:pPr>
            <a:r>
              <a:rPr lang="en-US" sz="1400" b="1" dirty="0">
                <a:solidFill>
                  <a:srgbClr val="082744"/>
                </a:solidFill>
                <a:latin typeface="Calibri" pitchFamily="34" charset="0"/>
                <a:cs typeface="Calibri" pitchFamily="34" charset="-120"/>
              </a:rPr>
              <a:t>Audience/customer</a:t>
            </a:r>
          </a:p>
          <a:p>
            <a:pPr marL="742950" lvl="1" indent="-285750">
              <a:buFont typeface="Arial" panose="020B0604020202020204" pitchFamily="34" charset="0"/>
              <a:buChar char="•"/>
            </a:pPr>
            <a:r>
              <a:rPr lang="en-US" sz="1400" b="1" dirty="0">
                <a:solidFill>
                  <a:srgbClr val="082744"/>
                </a:solidFill>
                <a:latin typeface="Calibri" pitchFamily="34" charset="0"/>
                <a:cs typeface="Calibri" pitchFamily="34" charset="-120"/>
              </a:rPr>
              <a:t>Project Requirements</a:t>
            </a:r>
          </a:p>
          <a:p>
            <a:pPr marL="742950" lvl="1" indent="-285750">
              <a:buFont typeface="Arial" panose="020B0604020202020204" pitchFamily="34" charset="0"/>
              <a:buChar char="•"/>
            </a:pPr>
            <a:r>
              <a:rPr lang="en-US" sz="1400" b="1" dirty="0">
                <a:solidFill>
                  <a:srgbClr val="082744"/>
                </a:solidFill>
                <a:latin typeface="Calibri" pitchFamily="34" charset="0"/>
                <a:cs typeface="Calibri" pitchFamily="34" charset="-120"/>
              </a:rPr>
              <a:t>Departmental Requirements</a:t>
            </a:r>
          </a:p>
          <a:p>
            <a:pPr marL="285750" indent="-285750">
              <a:buFont typeface="Arial" panose="020B0604020202020204" pitchFamily="34" charset="0"/>
              <a:buChar char="•"/>
            </a:pPr>
            <a:r>
              <a:rPr lang="en-US" sz="1400" b="1" dirty="0">
                <a:solidFill>
                  <a:srgbClr val="082744"/>
                </a:solidFill>
                <a:latin typeface="Calibri" pitchFamily="34" charset="0"/>
                <a:cs typeface="Calibri" pitchFamily="34" charset="-120"/>
              </a:rPr>
              <a:t>SCS is designed to create machine readable context from your policy documents and train agents on things your employees already know.</a:t>
            </a:r>
          </a:p>
        </p:txBody>
      </p:sp>
    </p:spTree>
    <p:extLst>
      <p:ext uri="{BB962C8B-B14F-4D97-AF65-F5344CB8AC3E}">
        <p14:creationId xmlns:p14="http://schemas.microsoft.com/office/powerpoint/2010/main" val="39230000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a:extLst>
              <a:ext uri="{FF2B5EF4-FFF2-40B4-BE49-F238E27FC236}">
                <a16:creationId xmlns:a16="http://schemas.microsoft.com/office/drawing/2014/main" id="{1E5359E4-C037-A0F4-632C-34B35C9620CE}"/>
              </a:ext>
            </a:extLst>
          </p:cNvPr>
          <p:cNvSpPr/>
          <p:nvPr/>
        </p:nvSpPr>
        <p:spPr>
          <a:xfrm>
            <a:off x="502920" y="576072"/>
            <a:ext cx="10515600" cy="640080"/>
          </a:xfrm>
          <a:prstGeom prst="rect">
            <a:avLst/>
          </a:prstGeom>
          <a:noFill/>
          <a:ln/>
        </p:spPr>
        <p:txBody>
          <a:bodyPr wrap="square" rtlCol="0" anchor="ctr"/>
          <a:lstStyle/>
          <a:p>
            <a:pPr marL="0" indent="0">
              <a:buNone/>
            </a:pPr>
            <a:r>
              <a:rPr lang="en-US" sz="2800" b="1" dirty="0">
                <a:solidFill>
                  <a:srgbClr val="082744"/>
                </a:solidFill>
                <a:latin typeface="Cambria" pitchFamily="34" charset="0"/>
                <a:ea typeface="Cambria" pitchFamily="34" charset="-122"/>
                <a:cs typeface="Cambria" pitchFamily="34" charset="-120"/>
              </a:rPr>
              <a:t>What is Context?</a:t>
            </a:r>
            <a:endParaRPr lang="en-US" sz="2800" dirty="0"/>
          </a:p>
        </p:txBody>
      </p:sp>
      <p:sp>
        <p:nvSpPr>
          <p:cNvPr id="3" name="Text 2">
            <a:extLst>
              <a:ext uri="{FF2B5EF4-FFF2-40B4-BE49-F238E27FC236}">
                <a16:creationId xmlns:a16="http://schemas.microsoft.com/office/drawing/2014/main" id="{57F5B6B8-4EB3-1110-ACC8-F4562F735292}"/>
              </a:ext>
            </a:extLst>
          </p:cNvPr>
          <p:cNvSpPr/>
          <p:nvPr/>
        </p:nvSpPr>
        <p:spPr>
          <a:xfrm>
            <a:off x="502920" y="2312924"/>
            <a:ext cx="5593079" cy="3022092"/>
          </a:xfrm>
          <a:prstGeom prst="rect">
            <a:avLst/>
          </a:prstGeom>
          <a:noFill/>
          <a:ln/>
        </p:spPr>
        <p:txBody>
          <a:bodyPr wrap="square" rtlCol="0" anchor="t"/>
          <a:lstStyle/>
          <a:p>
            <a:pPr marL="0" indent="0">
              <a:buNone/>
            </a:pPr>
            <a:r>
              <a:rPr lang="en-US" sz="1400" b="1" dirty="0">
                <a:solidFill>
                  <a:srgbClr val="082744"/>
                </a:solidFill>
                <a:latin typeface="Calibri" pitchFamily="34" charset="0"/>
                <a:cs typeface="Calibri" pitchFamily="34" charset="-120"/>
              </a:rPr>
              <a:t>Key Drivers:</a:t>
            </a:r>
          </a:p>
          <a:p>
            <a:pPr marL="0" indent="0">
              <a:buNone/>
            </a:pPr>
            <a:endParaRPr lang="en-US" sz="1400" b="1" dirty="0">
              <a:solidFill>
                <a:srgbClr val="082744"/>
              </a:solidFill>
              <a:latin typeface="Calibri" pitchFamily="34" charset="0"/>
              <a:cs typeface="Calibri" pitchFamily="34" charset="-120"/>
            </a:endParaRPr>
          </a:p>
          <a:p>
            <a:pPr marL="285750" indent="-285750">
              <a:buFont typeface="Arial" panose="020B0604020202020204" pitchFamily="34" charset="0"/>
              <a:buChar char="•"/>
            </a:pPr>
            <a:r>
              <a:rPr lang="en-US" sz="1400" b="1" dirty="0">
                <a:solidFill>
                  <a:srgbClr val="082744"/>
                </a:solidFill>
                <a:latin typeface="Calibri" pitchFamily="34" charset="0"/>
                <a:cs typeface="Calibri" pitchFamily="34" charset="-120"/>
              </a:rPr>
              <a:t>The Prompt</a:t>
            </a:r>
          </a:p>
          <a:p>
            <a:pPr marL="742950" lvl="1" indent="-285750">
              <a:buFont typeface="Arial" panose="020B0604020202020204" pitchFamily="34" charset="0"/>
              <a:buChar char="•"/>
            </a:pPr>
            <a:r>
              <a:rPr lang="en-US" sz="1400" dirty="0">
                <a:solidFill>
                  <a:srgbClr val="082744"/>
                </a:solidFill>
                <a:latin typeface="Calibri" pitchFamily="34" charset="0"/>
                <a:cs typeface="Calibri" pitchFamily="34" charset="-120"/>
              </a:rPr>
              <a:t>xx</a:t>
            </a:r>
          </a:p>
          <a:p>
            <a:pPr marL="285750" indent="-285750">
              <a:buFont typeface="Arial" panose="020B0604020202020204" pitchFamily="34" charset="0"/>
              <a:buChar char="•"/>
            </a:pPr>
            <a:r>
              <a:rPr lang="en-US" sz="1400" b="1" dirty="0">
                <a:solidFill>
                  <a:srgbClr val="082744"/>
                </a:solidFill>
                <a:latin typeface="Calibri" pitchFamily="34" charset="0"/>
                <a:cs typeface="Calibri" pitchFamily="34" charset="-120"/>
              </a:rPr>
              <a:t>Guardrails</a:t>
            </a:r>
          </a:p>
          <a:p>
            <a:pPr marL="742950" lvl="1" indent="-285750">
              <a:buFont typeface="Arial" panose="020B0604020202020204" pitchFamily="34" charset="0"/>
              <a:buChar char="•"/>
            </a:pPr>
            <a:r>
              <a:rPr lang="en-US" sz="1400" dirty="0">
                <a:solidFill>
                  <a:srgbClr val="082744"/>
                </a:solidFill>
                <a:latin typeface="Calibri" pitchFamily="34" charset="0"/>
                <a:cs typeface="Calibri" pitchFamily="34" charset="-120"/>
              </a:rPr>
              <a:t> xx</a:t>
            </a:r>
          </a:p>
          <a:p>
            <a:pPr marL="285750" indent="-285750">
              <a:buFont typeface="Arial" panose="020B0604020202020204" pitchFamily="34" charset="0"/>
              <a:buChar char="•"/>
            </a:pPr>
            <a:r>
              <a:rPr lang="en-US" sz="1400" b="1" dirty="0">
                <a:solidFill>
                  <a:srgbClr val="082744"/>
                </a:solidFill>
                <a:latin typeface="Calibri" pitchFamily="34" charset="0"/>
                <a:cs typeface="Calibri" pitchFamily="34" charset="-120"/>
              </a:rPr>
              <a:t>State Data</a:t>
            </a:r>
          </a:p>
          <a:p>
            <a:pPr marL="742950" lvl="1" indent="-285750">
              <a:buFont typeface="Arial" panose="020B0604020202020204" pitchFamily="34" charset="0"/>
              <a:buChar char="•"/>
            </a:pPr>
            <a:r>
              <a:rPr lang="en-US" sz="1400" b="1" dirty="0">
                <a:solidFill>
                  <a:srgbClr val="082744"/>
                </a:solidFill>
                <a:latin typeface="Calibri" pitchFamily="34" charset="0"/>
                <a:cs typeface="Calibri" pitchFamily="34" charset="-120"/>
              </a:rPr>
              <a:t>xx</a:t>
            </a:r>
          </a:p>
        </p:txBody>
      </p:sp>
    </p:spTree>
    <p:extLst>
      <p:ext uri="{BB962C8B-B14F-4D97-AF65-F5344CB8AC3E}">
        <p14:creationId xmlns:p14="http://schemas.microsoft.com/office/powerpoint/2010/main" val="32281752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4543528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1"/>
          <p:cNvSpPr/>
          <p:nvPr/>
        </p:nvSpPr>
        <p:spPr>
          <a:xfrm>
            <a:off x="502920" y="576072"/>
            <a:ext cx="10515600" cy="640080"/>
          </a:xfrm>
          <a:prstGeom prst="rect">
            <a:avLst/>
          </a:prstGeom>
          <a:noFill/>
          <a:ln/>
        </p:spPr>
        <p:txBody>
          <a:bodyPr wrap="square" rtlCol="0" anchor="ctr"/>
          <a:lstStyle/>
          <a:p>
            <a:pPr marL="0" indent="0">
              <a:buNone/>
            </a:pPr>
            <a:r>
              <a:rPr lang="en-US" sz="2800" b="1" dirty="0">
                <a:solidFill>
                  <a:srgbClr val="082744"/>
                </a:solidFill>
                <a:latin typeface="Cambria" pitchFamily="34" charset="0"/>
                <a:ea typeface="Cambria" pitchFamily="34" charset="-122"/>
                <a:cs typeface="Cambria" pitchFamily="34" charset="-120"/>
              </a:rPr>
              <a:t>AI is here to stay</a:t>
            </a:r>
            <a:endParaRPr lang="en-US" sz="2800" dirty="0"/>
          </a:p>
        </p:txBody>
      </p:sp>
      <p:sp>
        <p:nvSpPr>
          <p:cNvPr id="4" name="Text 2"/>
          <p:cNvSpPr/>
          <p:nvPr/>
        </p:nvSpPr>
        <p:spPr>
          <a:xfrm>
            <a:off x="502920" y="1417320"/>
            <a:ext cx="10607040" cy="1005840"/>
          </a:xfrm>
          <a:prstGeom prst="rect">
            <a:avLst/>
          </a:prstGeom>
          <a:noFill/>
          <a:ln/>
        </p:spPr>
        <p:txBody>
          <a:bodyPr wrap="square" rtlCol="0" anchor="ctr"/>
          <a:lstStyle/>
          <a:p>
            <a:pPr marL="0" indent="0">
              <a:buNone/>
            </a:pPr>
            <a:r>
              <a:rPr lang="en-US" sz="1600" dirty="0">
                <a:solidFill>
                  <a:srgbClr val="333333"/>
                </a:solidFill>
                <a:latin typeface="Calibri" pitchFamily="34" charset="0"/>
                <a:ea typeface="Calibri" pitchFamily="34" charset="-122"/>
                <a:cs typeface="Calibri" pitchFamily="34" charset="-120"/>
              </a:rPr>
              <a:t>As AI becomes a permanent feature of modern software, managed adoption is a necessity, not an option. We are implementing a phased architecture designed to mitigate operational and compliance risks, ensuring complete data privacy, audit-readiness, and immediate process improvements.</a:t>
            </a:r>
            <a:endParaRPr lang="en-US" sz="1600" dirty="0"/>
          </a:p>
        </p:txBody>
      </p:sp>
      <p:sp>
        <p:nvSpPr>
          <p:cNvPr id="5" name="Shape 3"/>
          <p:cNvSpPr/>
          <p:nvPr/>
        </p:nvSpPr>
        <p:spPr>
          <a:xfrm>
            <a:off x="632308" y="3054286"/>
            <a:ext cx="3429000" cy="2926080"/>
          </a:xfrm>
          <a:prstGeom prst="roundRect">
            <a:avLst>
              <a:gd name="adj" fmla="val 2500"/>
            </a:avLst>
          </a:prstGeom>
          <a:solidFill>
            <a:srgbClr val="FFFFFF"/>
          </a:solidFill>
          <a:ln w="12700">
            <a:solidFill>
              <a:srgbClr val="E1E4EF"/>
            </a:solidFill>
            <a:prstDash val="solid"/>
          </a:ln>
          <a:effectLst>
            <a:outerShdw blurRad="76200" dist="25400" dir="5400000" algn="bl" rotWithShape="0">
              <a:srgbClr val="1A1A1A">
                <a:alpha val="12000"/>
              </a:srgbClr>
            </a:outerShdw>
          </a:effectLst>
        </p:spPr>
        <p:txBody>
          <a:bodyPr/>
          <a:lstStyle/>
          <a:p>
            <a:endParaRPr lang="en-US"/>
          </a:p>
        </p:txBody>
      </p:sp>
      <p:sp>
        <p:nvSpPr>
          <p:cNvPr id="6" name="Shape 4"/>
          <p:cNvSpPr/>
          <p:nvPr/>
        </p:nvSpPr>
        <p:spPr>
          <a:xfrm>
            <a:off x="2026768" y="3328606"/>
            <a:ext cx="640080" cy="640080"/>
          </a:xfrm>
          <a:prstGeom prst="ellipse">
            <a:avLst/>
          </a:prstGeom>
          <a:solidFill>
            <a:srgbClr val="0D3B66"/>
          </a:solidFill>
          <a:ln/>
        </p:spPr>
        <p:txBody>
          <a:bodyPr/>
          <a:lstStyle/>
          <a:p>
            <a:endParaRPr lang="en-US"/>
          </a:p>
        </p:txBody>
      </p:sp>
      <p:sp>
        <p:nvSpPr>
          <p:cNvPr id="7" name="Text 5"/>
          <p:cNvSpPr/>
          <p:nvPr/>
        </p:nvSpPr>
        <p:spPr>
          <a:xfrm>
            <a:off x="2026768" y="3328606"/>
            <a:ext cx="640080" cy="640080"/>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8" name="Text 6"/>
          <p:cNvSpPr/>
          <p:nvPr/>
        </p:nvSpPr>
        <p:spPr>
          <a:xfrm>
            <a:off x="860908" y="4151566"/>
            <a:ext cx="2971800" cy="548640"/>
          </a:xfrm>
          <a:prstGeom prst="rect">
            <a:avLst/>
          </a:prstGeom>
          <a:noFill/>
          <a:ln/>
        </p:spPr>
        <p:txBody>
          <a:bodyPr wrap="square" rtlCol="0" anchor="ctr"/>
          <a:lstStyle/>
          <a:p>
            <a:pPr marL="0" indent="0" algn="ctr">
              <a:buNone/>
            </a:pPr>
            <a:r>
              <a:rPr lang="en-US" sz="1550" b="1" dirty="0">
                <a:solidFill>
                  <a:srgbClr val="082744"/>
                </a:solidFill>
                <a:latin typeface="Cambria" pitchFamily="34" charset="0"/>
                <a:ea typeface="Cambria" pitchFamily="34" charset="-122"/>
                <a:cs typeface="Cambria" pitchFamily="34" charset="-120"/>
              </a:rPr>
              <a:t>Complete Data Privacy</a:t>
            </a:r>
            <a:endParaRPr lang="en-US" sz="1550" dirty="0"/>
          </a:p>
        </p:txBody>
      </p:sp>
      <p:sp>
        <p:nvSpPr>
          <p:cNvPr id="9" name="Text 7"/>
          <p:cNvSpPr/>
          <p:nvPr/>
        </p:nvSpPr>
        <p:spPr>
          <a:xfrm>
            <a:off x="906628" y="4745926"/>
            <a:ext cx="2880360" cy="1097280"/>
          </a:xfrm>
          <a:prstGeom prst="rect">
            <a:avLst/>
          </a:prstGeom>
          <a:noFill/>
          <a:ln/>
        </p:spPr>
        <p:txBody>
          <a:bodyPr wrap="square" rtlCol="0" anchor="ctr"/>
          <a:lstStyle/>
          <a:p>
            <a:pPr marL="0" indent="0" algn="ctr">
              <a:buNone/>
            </a:pPr>
            <a:r>
              <a:rPr lang="en-US" sz="1250" dirty="0">
                <a:solidFill>
                  <a:srgbClr val="555555"/>
                </a:solidFill>
                <a:latin typeface="Calibri" pitchFamily="34" charset="0"/>
                <a:ea typeface="Calibri" pitchFamily="34" charset="-122"/>
                <a:cs typeface="Calibri" pitchFamily="34" charset="-120"/>
              </a:rPr>
              <a:t>Customer and IP data governed by design, not by policy alone.</a:t>
            </a:r>
            <a:endParaRPr lang="en-US" sz="1250" dirty="0"/>
          </a:p>
        </p:txBody>
      </p:sp>
      <p:sp>
        <p:nvSpPr>
          <p:cNvPr id="10" name="Shape 8"/>
          <p:cNvSpPr/>
          <p:nvPr/>
        </p:nvSpPr>
        <p:spPr>
          <a:xfrm>
            <a:off x="4381348" y="3054286"/>
            <a:ext cx="3429000" cy="2926080"/>
          </a:xfrm>
          <a:prstGeom prst="roundRect">
            <a:avLst>
              <a:gd name="adj" fmla="val 2500"/>
            </a:avLst>
          </a:prstGeom>
          <a:solidFill>
            <a:srgbClr val="FFFFFF"/>
          </a:solidFill>
          <a:ln w="12700">
            <a:solidFill>
              <a:srgbClr val="E1E4EF"/>
            </a:solidFill>
            <a:prstDash val="solid"/>
          </a:ln>
          <a:effectLst>
            <a:outerShdw blurRad="76200" dist="25400" dir="5400000" algn="bl" rotWithShape="0">
              <a:srgbClr val="1A1A1A">
                <a:alpha val="12000"/>
              </a:srgbClr>
            </a:outerShdw>
          </a:effectLst>
        </p:spPr>
        <p:txBody>
          <a:bodyPr/>
          <a:lstStyle/>
          <a:p>
            <a:endParaRPr lang="en-US"/>
          </a:p>
        </p:txBody>
      </p:sp>
      <p:sp>
        <p:nvSpPr>
          <p:cNvPr id="11" name="Shape 9"/>
          <p:cNvSpPr/>
          <p:nvPr/>
        </p:nvSpPr>
        <p:spPr>
          <a:xfrm>
            <a:off x="5775808" y="3328606"/>
            <a:ext cx="640080" cy="640080"/>
          </a:xfrm>
          <a:prstGeom prst="ellipse">
            <a:avLst/>
          </a:prstGeom>
          <a:solidFill>
            <a:srgbClr val="0D3B66"/>
          </a:solidFill>
          <a:ln/>
        </p:spPr>
        <p:txBody>
          <a:bodyPr/>
          <a:lstStyle/>
          <a:p>
            <a:endParaRPr lang="en-US"/>
          </a:p>
        </p:txBody>
      </p:sp>
      <p:sp>
        <p:nvSpPr>
          <p:cNvPr id="12" name="Text 10"/>
          <p:cNvSpPr/>
          <p:nvPr/>
        </p:nvSpPr>
        <p:spPr>
          <a:xfrm>
            <a:off x="5775808" y="3328606"/>
            <a:ext cx="640080" cy="640080"/>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3" name="Text 11"/>
          <p:cNvSpPr/>
          <p:nvPr/>
        </p:nvSpPr>
        <p:spPr>
          <a:xfrm>
            <a:off x="4609948" y="4151566"/>
            <a:ext cx="2971800" cy="548640"/>
          </a:xfrm>
          <a:prstGeom prst="rect">
            <a:avLst/>
          </a:prstGeom>
          <a:noFill/>
          <a:ln/>
        </p:spPr>
        <p:txBody>
          <a:bodyPr wrap="square" rtlCol="0" anchor="ctr"/>
          <a:lstStyle/>
          <a:p>
            <a:pPr marL="0" indent="0" algn="ctr">
              <a:buNone/>
            </a:pPr>
            <a:r>
              <a:rPr lang="en-US" sz="1550" b="1" dirty="0">
                <a:solidFill>
                  <a:srgbClr val="082744"/>
                </a:solidFill>
                <a:latin typeface="Cambria" pitchFamily="34" charset="0"/>
                <a:ea typeface="Cambria" pitchFamily="34" charset="-122"/>
                <a:cs typeface="Cambria" pitchFamily="34" charset="-120"/>
              </a:rPr>
              <a:t>Risk Management &amp;</a:t>
            </a:r>
          </a:p>
          <a:p>
            <a:pPr marL="0" indent="0" algn="ctr">
              <a:buNone/>
            </a:pPr>
            <a:r>
              <a:rPr lang="en-US" sz="1550" b="1" dirty="0">
                <a:solidFill>
                  <a:srgbClr val="082744"/>
                </a:solidFill>
                <a:latin typeface="Cambria" pitchFamily="34" charset="0"/>
                <a:ea typeface="Cambria" pitchFamily="34" charset="-122"/>
                <a:cs typeface="Cambria" pitchFamily="34" charset="-120"/>
              </a:rPr>
              <a:t>Audit-Readiness</a:t>
            </a:r>
            <a:endParaRPr lang="en-US" sz="1550" dirty="0"/>
          </a:p>
        </p:txBody>
      </p:sp>
      <p:sp>
        <p:nvSpPr>
          <p:cNvPr id="14" name="Text 12"/>
          <p:cNvSpPr/>
          <p:nvPr/>
        </p:nvSpPr>
        <p:spPr>
          <a:xfrm>
            <a:off x="4655668" y="4745926"/>
            <a:ext cx="2880360" cy="1097280"/>
          </a:xfrm>
          <a:prstGeom prst="rect">
            <a:avLst/>
          </a:prstGeom>
          <a:noFill/>
          <a:ln/>
        </p:spPr>
        <p:txBody>
          <a:bodyPr wrap="square" rtlCol="0" anchor="ctr"/>
          <a:lstStyle/>
          <a:p>
            <a:pPr marL="0" indent="0" algn="ctr">
              <a:buNone/>
            </a:pPr>
            <a:r>
              <a:rPr lang="en-US" sz="1250" dirty="0">
                <a:solidFill>
                  <a:srgbClr val="555555"/>
                </a:solidFill>
                <a:latin typeface="Calibri" pitchFamily="34" charset="0"/>
                <a:ea typeface="Calibri" pitchFamily="34" charset="-122"/>
                <a:cs typeface="Calibri" pitchFamily="34" charset="-120"/>
              </a:rPr>
              <a:t>Every session, context delivery, and tool call leaves an evidentiary trail.</a:t>
            </a:r>
            <a:endParaRPr lang="en-US" sz="1250" dirty="0"/>
          </a:p>
        </p:txBody>
      </p:sp>
      <p:sp>
        <p:nvSpPr>
          <p:cNvPr id="15" name="Shape 13"/>
          <p:cNvSpPr/>
          <p:nvPr/>
        </p:nvSpPr>
        <p:spPr>
          <a:xfrm>
            <a:off x="8130388" y="3054286"/>
            <a:ext cx="3429000" cy="2926080"/>
          </a:xfrm>
          <a:prstGeom prst="roundRect">
            <a:avLst>
              <a:gd name="adj" fmla="val 2500"/>
            </a:avLst>
          </a:prstGeom>
          <a:solidFill>
            <a:srgbClr val="FFFFFF"/>
          </a:solidFill>
          <a:ln w="12700">
            <a:solidFill>
              <a:srgbClr val="E1E4EF"/>
            </a:solidFill>
            <a:prstDash val="solid"/>
          </a:ln>
          <a:effectLst>
            <a:outerShdw blurRad="76200" dist="25400" dir="5400000" algn="bl" rotWithShape="0">
              <a:srgbClr val="1A1A1A">
                <a:alpha val="12000"/>
              </a:srgbClr>
            </a:outerShdw>
          </a:effectLst>
        </p:spPr>
        <p:txBody>
          <a:bodyPr/>
          <a:lstStyle/>
          <a:p>
            <a:endParaRPr lang="en-US"/>
          </a:p>
        </p:txBody>
      </p:sp>
      <p:sp>
        <p:nvSpPr>
          <p:cNvPr id="16" name="Shape 14"/>
          <p:cNvSpPr/>
          <p:nvPr/>
        </p:nvSpPr>
        <p:spPr>
          <a:xfrm>
            <a:off x="9524848" y="3328606"/>
            <a:ext cx="640080" cy="640080"/>
          </a:xfrm>
          <a:prstGeom prst="ellipse">
            <a:avLst/>
          </a:prstGeom>
          <a:solidFill>
            <a:srgbClr val="0D3B66"/>
          </a:solidFill>
          <a:ln/>
        </p:spPr>
        <p:txBody>
          <a:bodyPr/>
          <a:lstStyle/>
          <a:p>
            <a:endParaRPr lang="en-US"/>
          </a:p>
        </p:txBody>
      </p:sp>
      <p:sp>
        <p:nvSpPr>
          <p:cNvPr id="17" name="Text 15"/>
          <p:cNvSpPr/>
          <p:nvPr/>
        </p:nvSpPr>
        <p:spPr>
          <a:xfrm>
            <a:off x="9524848" y="3328606"/>
            <a:ext cx="640080" cy="640080"/>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8" name="Text 16"/>
          <p:cNvSpPr/>
          <p:nvPr/>
        </p:nvSpPr>
        <p:spPr>
          <a:xfrm>
            <a:off x="8358988" y="4151566"/>
            <a:ext cx="2971800" cy="548640"/>
          </a:xfrm>
          <a:prstGeom prst="rect">
            <a:avLst/>
          </a:prstGeom>
          <a:noFill/>
          <a:ln/>
        </p:spPr>
        <p:txBody>
          <a:bodyPr wrap="square" rtlCol="0" anchor="ctr"/>
          <a:lstStyle/>
          <a:p>
            <a:pPr marL="0" indent="0" algn="ctr">
              <a:buNone/>
            </a:pPr>
            <a:r>
              <a:rPr lang="en-US" sz="1550" b="1" dirty="0">
                <a:solidFill>
                  <a:srgbClr val="082744"/>
                </a:solidFill>
                <a:latin typeface="Cambria" pitchFamily="34" charset="0"/>
                <a:ea typeface="Cambria" pitchFamily="34" charset="-122"/>
                <a:cs typeface="Cambria" pitchFamily="34" charset="-120"/>
              </a:rPr>
              <a:t>Immediate Process Improvement</a:t>
            </a:r>
            <a:endParaRPr lang="en-US" sz="1550" dirty="0"/>
          </a:p>
        </p:txBody>
      </p:sp>
      <p:sp>
        <p:nvSpPr>
          <p:cNvPr id="19" name="Text 17"/>
          <p:cNvSpPr/>
          <p:nvPr/>
        </p:nvSpPr>
        <p:spPr>
          <a:xfrm>
            <a:off x="8404708" y="4745926"/>
            <a:ext cx="2880360" cy="1097280"/>
          </a:xfrm>
          <a:prstGeom prst="rect">
            <a:avLst/>
          </a:prstGeom>
          <a:noFill/>
          <a:ln/>
        </p:spPr>
        <p:txBody>
          <a:bodyPr wrap="square" rtlCol="0" anchor="ctr"/>
          <a:lstStyle/>
          <a:p>
            <a:pPr marL="0" indent="0" algn="ctr">
              <a:buNone/>
            </a:pPr>
            <a:r>
              <a:rPr lang="en-US" sz="1250" dirty="0">
                <a:solidFill>
                  <a:srgbClr val="555555"/>
                </a:solidFill>
                <a:latin typeface="Calibri" pitchFamily="34" charset="0"/>
                <a:ea typeface="Calibri" pitchFamily="34" charset="-122"/>
                <a:cs typeface="Calibri" pitchFamily="34" charset="-120"/>
              </a:rPr>
              <a:t>Real productivity gains across engineering, QMS, and proposals.</a:t>
            </a:r>
            <a:endParaRPr lang="en-US" sz="1250" dirty="0"/>
          </a:p>
        </p:txBody>
      </p:sp>
      <p:sp>
        <p:nvSpPr>
          <p:cNvPr id="21" name="Text 19"/>
          <p:cNvSpPr/>
          <p:nvPr/>
        </p:nvSpPr>
        <p:spPr>
          <a:xfrm>
            <a:off x="11368735" y="6528816"/>
            <a:ext cx="365760" cy="256032"/>
          </a:xfrm>
          <a:prstGeom prst="rect">
            <a:avLst/>
          </a:prstGeom>
          <a:noFill/>
          <a:ln/>
        </p:spPr>
        <p:txBody>
          <a:bodyPr wrap="square" rtlCol="0" anchor="ctr"/>
          <a:lstStyle/>
          <a:p>
            <a:pPr marL="0" indent="0" algn="r">
              <a:buNone/>
            </a:pPr>
            <a:r>
              <a:rPr lang="en-US" sz="900" dirty="0">
                <a:solidFill>
                  <a:srgbClr val="5F6368"/>
                </a:solidFill>
                <a:latin typeface="Calibri" pitchFamily="34" charset="0"/>
                <a:ea typeface="Calibri" pitchFamily="34" charset="-122"/>
                <a:cs typeface="Calibri" pitchFamily="34" charset="-120"/>
              </a:rPr>
              <a:t>3</a:t>
            </a:r>
            <a:endParaRPr lang="en-US" sz="900" dirty="0"/>
          </a:p>
        </p:txBody>
      </p:sp>
      <p:sp>
        <p:nvSpPr>
          <p:cNvPr id="22" name="Text 14">
            <a:extLst>
              <a:ext uri="{FF2B5EF4-FFF2-40B4-BE49-F238E27FC236}">
                <a16:creationId xmlns:a16="http://schemas.microsoft.com/office/drawing/2014/main" id="{CCADF9C9-4088-0CCB-C803-7CDAB8FBCCA2}"/>
              </a:ext>
            </a:extLst>
          </p:cNvPr>
          <p:cNvSpPr/>
          <p:nvPr/>
        </p:nvSpPr>
        <p:spPr>
          <a:xfrm>
            <a:off x="502920" y="2551366"/>
            <a:ext cx="11064240" cy="320040"/>
          </a:xfrm>
          <a:prstGeom prst="rect">
            <a:avLst/>
          </a:prstGeom>
          <a:noFill/>
          <a:ln/>
        </p:spPr>
        <p:txBody>
          <a:bodyPr wrap="square" rtlCol="0" anchor="ctr"/>
          <a:lstStyle/>
          <a:p>
            <a:pPr marL="0" indent="0">
              <a:buNone/>
            </a:pPr>
            <a:r>
              <a:rPr lang="en-US" sz="1600" i="1" dirty="0">
                <a:solidFill>
                  <a:srgbClr val="444444"/>
                </a:solidFill>
                <a:latin typeface="Calibri" pitchFamily="34" charset="0"/>
                <a:ea typeface="Calibri" pitchFamily="34" charset="-122"/>
                <a:cs typeface="Calibri" pitchFamily="34" charset="-120"/>
              </a:rPr>
              <a:t>NexTern Imperatives: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1"/>
          <p:cNvSpPr/>
          <p:nvPr/>
        </p:nvSpPr>
        <p:spPr>
          <a:xfrm>
            <a:off x="502920" y="500916"/>
            <a:ext cx="10515600" cy="640080"/>
          </a:xfrm>
          <a:prstGeom prst="rect">
            <a:avLst/>
          </a:prstGeom>
          <a:noFill/>
          <a:ln/>
        </p:spPr>
        <p:txBody>
          <a:bodyPr wrap="square" rtlCol="0" anchor="ctr"/>
          <a:lstStyle/>
          <a:p>
            <a:pPr marL="0" indent="0">
              <a:buNone/>
            </a:pPr>
            <a:r>
              <a:rPr lang="en-US" sz="2800" b="1" dirty="0">
                <a:solidFill>
                  <a:srgbClr val="082744"/>
                </a:solidFill>
                <a:latin typeface="Cambria" pitchFamily="34" charset="0"/>
                <a:ea typeface="Cambria" pitchFamily="34" charset="-122"/>
                <a:cs typeface="Cambria" pitchFamily="34" charset="-120"/>
              </a:rPr>
              <a:t>What the POC taught us</a:t>
            </a:r>
            <a:endParaRPr lang="en-US" sz="2800" dirty="0"/>
          </a:p>
        </p:txBody>
      </p:sp>
      <p:sp>
        <p:nvSpPr>
          <p:cNvPr id="4" name="Text 2"/>
          <p:cNvSpPr/>
          <p:nvPr/>
        </p:nvSpPr>
        <p:spPr>
          <a:xfrm>
            <a:off x="502920" y="2105688"/>
            <a:ext cx="11155680" cy="457200"/>
          </a:xfrm>
          <a:prstGeom prst="rect">
            <a:avLst/>
          </a:prstGeom>
          <a:noFill/>
          <a:ln/>
        </p:spPr>
        <p:txBody>
          <a:bodyPr wrap="square" rtlCol="0" anchor="ctr"/>
          <a:lstStyle/>
          <a:p>
            <a:pPr marL="0" indent="0">
              <a:buNone/>
            </a:pPr>
            <a:r>
              <a:rPr lang="en-US" sz="1350" dirty="0">
                <a:solidFill>
                  <a:srgbClr val="333333"/>
                </a:solidFill>
                <a:latin typeface="Calibri" pitchFamily="34" charset="0"/>
                <a:ea typeface="Calibri" pitchFamily="34" charset="-122"/>
                <a:cs typeface="Calibri" pitchFamily="34" charset="-120"/>
              </a:rPr>
              <a:t>We evaluated six enterprise level AI platforms during the POC. Each has real strengths, but on one point, whether data can be guaranteed as a technical fact (not a contract clause) to never leave the vendor's infrastructure, none clear that bar today.</a:t>
            </a:r>
            <a:endParaRPr lang="en-US" sz="1350" dirty="0"/>
          </a:p>
        </p:txBody>
      </p:sp>
      <p:graphicFrame>
        <p:nvGraphicFramePr>
          <p:cNvPr id="5" name="Table 0"/>
          <p:cNvGraphicFramePr>
            <a:graphicFrameLocks noGrp="1"/>
          </p:cNvGraphicFramePr>
          <p:nvPr>
            <p:extLst>
              <p:ext uri="{D42A27DB-BD31-4B8C-83A1-F6EECF244321}">
                <p14:modId xmlns:p14="http://schemas.microsoft.com/office/powerpoint/2010/main" val="2887045065"/>
              </p:ext>
            </p:extLst>
          </p:nvPr>
        </p:nvGraphicFramePr>
        <p:xfrm>
          <a:off x="518160" y="2791488"/>
          <a:ext cx="11155680" cy="2987040"/>
        </p:xfrm>
        <a:graphic>
          <a:graphicData uri="http://schemas.openxmlformats.org/drawingml/2006/table">
            <a:tbl>
              <a:tblPr/>
              <a:tblGrid>
                <a:gridCol w="2011680">
                  <a:extLst>
                    <a:ext uri="{9D8B030D-6E8A-4147-A177-3AD203B41FA5}">
                      <a16:colId xmlns:a16="http://schemas.microsoft.com/office/drawing/2014/main" val="20000"/>
                    </a:ext>
                  </a:extLst>
                </a:gridCol>
                <a:gridCol w="3295925">
                  <a:extLst>
                    <a:ext uri="{9D8B030D-6E8A-4147-A177-3AD203B41FA5}">
                      <a16:colId xmlns:a16="http://schemas.microsoft.com/office/drawing/2014/main" val="20001"/>
                    </a:ext>
                  </a:extLst>
                </a:gridCol>
                <a:gridCol w="5848075">
                  <a:extLst>
                    <a:ext uri="{9D8B030D-6E8A-4147-A177-3AD203B41FA5}">
                      <a16:colId xmlns:a16="http://schemas.microsoft.com/office/drawing/2014/main" val="20002"/>
                    </a:ext>
                  </a:extLst>
                </a:gridCol>
              </a:tblGrid>
              <a:tr h="210758">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Platform</a:t>
                      </a:r>
                      <a:endParaRPr lang="en-US" sz="1100" dirty="0">
                        <a:latin typeface="Calibri" charset="0"/>
                        <a:ea typeface="Calibri" charset="0"/>
                        <a:cs typeface="Calibri" charset="0"/>
                      </a:endParaRPr>
                    </a:p>
                  </a:txBody>
                  <a:tcPr>
                    <a:lnL w="9525" cap="flat" cmpd="sng" algn="ctr">
                      <a:solidFill>
                        <a:srgbClr val="E1E4EF"/>
                      </a:solidFill>
                      <a:prstDash val="solid"/>
                      <a:round/>
                      <a:headEnd type="none" w="med" len="med"/>
                      <a:tailEnd type="none" w="med" len="med"/>
                    </a:lnL>
                    <a:lnR w="9525" cap="flat" cmpd="sng" algn="ctr">
                      <a:solidFill>
                        <a:srgbClr val="E1E4EF"/>
                      </a:solidFill>
                      <a:prstDash val="solid"/>
                      <a:round/>
                      <a:headEnd type="none" w="med" len="med"/>
                      <a:tailEnd type="none" w="med" len="med"/>
                    </a:lnR>
                    <a:lnT w="9525" cap="flat" cmpd="sng" algn="ctr">
                      <a:solidFill>
                        <a:srgbClr val="E1E4EF"/>
                      </a:solidFill>
                      <a:prstDash val="solid"/>
                      <a:round/>
                      <a:headEnd type="none" w="med" len="med"/>
                      <a:tailEnd type="none" w="med" len="med"/>
                    </a:lnT>
                    <a:lnB w="9525" cap="flat" cmpd="sng" algn="ctr">
                      <a:solidFill>
                        <a:srgbClr val="E1E4EF"/>
                      </a:solidFill>
                      <a:prstDash val="solid"/>
                      <a:round/>
                      <a:headEnd type="none" w="med" len="med"/>
                      <a:tailEnd type="none" w="med" len="med"/>
                    </a:lnB>
                    <a:solidFill>
                      <a:srgbClr val="0D3B66"/>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Data Residency</a:t>
                      </a:r>
                      <a:endParaRPr lang="en-US" sz="1100" dirty="0">
                        <a:latin typeface="Calibri" charset="0"/>
                        <a:ea typeface="Calibri" charset="0"/>
                        <a:cs typeface="Calibri" charset="0"/>
                      </a:endParaRPr>
                    </a:p>
                  </a:txBody>
                  <a:tcPr>
                    <a:lnL w="9525" cap="flat" cmpd="sng" algn="ctr">
                      <a:solidFill>
                        <a:srgbClr val="E1E4EF"/>
                      </a:solidFill>
                      <a:prstDash val="solid"/>
                      <a:round/>
                      <a:headEnd type="none" w="med" len="med"/>
                      <a:tailEnd type="none" w="med" len="med"/>
                    </a:lnL>
                    <a:lnR w="9525" cap="flat" cmpd="sng" algn="ctr">
                      <a:solidFill>
                        <a:srgbClr val="E1E4EF"/>
                      </a:solidFill>
                      <a:prstDash val="solid"/>
                      <a:round/>
                      <a:headEnd type="none" w="med" len="med"/>
                      <a:tailEnd type="none" w="med" len="med"/>
                    </a:lnR>
                    <a:lnT w="9525" cap="flat" cmpd="sng" algn="ctr">
                      <a:solidFill>
                        <a:srgbClr val="E1E4EF"/>
                      </a:solidFill>
                      <a:prstDash val="solid"/>
                      <a:round/>
                      <a:headEnd type="none" w="med" len="med"/>
                      <a:tailEnd type="none" w="med" len="med"/>
                    </a:lnT>
                    <a:lnB w="9525" cap="flat" cmpd="sng" algn="ctr">
                      <a:solidFill>
                        <a:srgbClr val="E1E4EF"/>
                      </a:solidFill>
                      <a:prstDash val="solid"/>
                      <a:round/>
                      <a:headEnd type="none" w="med" len="med"/>
                      <a:tailEnd type="none" w="med" len="med"/>
                    </a:lnB>
                    <a:solidFill>
                      <a:srgbClr val="0D3B66"/>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Notes: Governance / Compliance Gap / Operational Readiness</a:t>
                      </a:r>
                      <a:endParaRPr lang="en-US" sz="1100" dirty="0">
                        <a:latin typeface="Calibri" charset="0"/>
                        <a:ea typeface="Calibri" charset="0"/>
                        <a:cs typeface="Calibri" charset="0"/>
                      </a:endParaRPr>
                    </a:p>
                  </a:txBody>
                  <a:tcPr>
                    <a:lnL w="9525" cap="flat" cmpd="sng" algn="ctr">
                      <a:solidFill>
                        <a:srgbClr val="E1E4EF"/>
                      </a:solidFill>
                      <a:prstDash val="solid"/>
                      <a:round/>
                      <a:headEnd type="none" w="med" len="med"/>
                      <a:tailEnd type="none" w="med" len="med"/>
                    </a:lnL>
                    <a:lnR w="9525" cap="flat" cmpd="sng" algn="ctr">
                      <a:solidFill>
                        <a:srgbClr val="E1E4EF"/>
                      </a:solidFill>
                      <a:prstDash val="solid"/>
                      <a:round/>
                      <a:headEnd type="none" w="med" len="med"/>
                      <a:tailEnd type="none" w="med" len="med"/>
                    </a:lnR>
                    <a:lnT w="9525" cap="flat" cmpd="sng" algn="ctr">
                      <a:solidFill>
                        <a:srgbClr val="E1E4EF"/>
                      </a:solidFill>
                      <a:prstDash val="solid"/>
                      <a:round/>
                      <a:headEnd type="none" w="med" len="med"/>
                      <a:tailEnd type="none" w="med" len="med"/>
                    </a:lnT>
                    <a:lnB w="9525" cap="flat" cmpd="sng" algn="ctr">
                      <a:solidFill>
                        <a:srgbClr val="E1E4EF"/>
                      </a:solidFill>
                      <a:prstDash val="solid"/>
                      <a:round/>
                      <a:headEnd type="none" w="med" len="med"/>
                      <a:tailEnd type="none" w="med" len="med"/>
                    </a:lnB>
                    <a:solidFill>
                      <a:srgbClr val="0D3B66"/>
                    </a:solidFill>
                  </a:tcPr>
                </a:tc>
                <a:extLst>
                  <a:ext uri="{0D108BD9-81ED-4DB2-BD59-A6C34878D82A}">
                    <a16:rowId xmlns:a16="http://schemas.microsoft.com/office/drawing/2014/main" val="10000"/>
                  </a:ext>
                </a:extLst>
              </a:tr>
              <a:tr h="403539">
                <a:tc>
                  <a:txBody>
                    <a:bodyPr/>
                    <a:lstStyle/>
                    <a:p>
                      <a:pPr marL="0" indent="0">
                        <a:buNone/>
                      </a:pPr>
                      <a:r>
                        <a:rPr lang="en-US" sz="1100" dirty="0">
                          <a:solidFill>
                            <a:srgbClr val="222222"/>
                          </a:solidFill>
                          <a:latin typeface="Calibri" pitchFamily="34" charset="0"/>
                          <a:ea typeface="Calibri" pitchFamily="34" charset="-122"/>
                          <a:cs typeface="Calibri" pitchFamily="34" charset="-120"/>
                        </a:rPr>
                        <a:t>Claude Enterprise</a:t>
                      </a:r>
                      <a:endParaRPr lang="en-US" sz="1100" dirty="0">
                        <a:latin typeface="Calibri" charset="0"/>
                        <a:ea typeface="Calibri" charset="0"/>
                        <a:cs typeface="Calibri" charset="0"/>
                      </a:endParaRPr>
                    </a:p>
                  </a:txBody>
                  <a:tcPr>
                    <a:lnL w="9525" cap="flat" cmpd="sng" algn="ctr">
                      <a:solidFill>
                        <a:srgbClr val="E1E4EF"/>
                      </a:solidFill>
                      <a:prstDash val="solid"/>
                      <a:round/>
                      <a:headEnd type="none" w="med" len="med"/>
                      <a:tailEnd type="none" w="med" len="med"/>
                    </a:lnL>
                    <a:lnR w="9525" cap="flat" cmpd="sng" algn="ctr">
                      <a:solidFill>
                        <a:srgbClr val="E1E4EF"/>
                      </a:solidFill>
                      <a:prstDash val="solid"/>
                      <a:round/>
                      <a:headEnd type="none" w="med" len="med"/>
                      <a:tailEnd type="none" w="med" len="med"/>
                    </a:lnR>
                    <a:lnT w="9525" cap="flat" cmpd="sng" algn="ctr">
                      <a:solidFill>
                        <a:srgbClr val="E1E4EF"/>
                      </a:solidFill>
                      <a:prstDash val="solid"/>
                      <a:round/>
                      <a:headEnd type="none" w="med" len="med"/>
                      <a:tailEnd type="none" w="med" len="med"/>
                    </a:lnT>
                    <a:lnB w="9525" cap="flat" cmpd="sng" algn="ctr">
                      <a:solidFill>
                        <a:srgbClr val="E1E4EF"/>
                      </a:solidFill>
                      <a:prstDash val="solid"/>
                      <a:round/>
                      <a:headEnd type="none" w="med" len="med"/>
                      <a:tailEnd type="none" w="med" len="med"/>
                    </a:lnB>
                  </a:tcPr>
                </a:tc>
                <a:tc>
                  <a:txBody>
                    <a:bodyPr/>
                    <a:lstStyle/>
                    <a:p>
                      <a:pPr marL="0" indent="0">
                        <a:buNone/>
                      </a:pPr>
                      <a:r>
                        <a:rPr lang="en-US" sz="1100" dirty="0">
                          <a:solidFill>
                            <a:srgbClr val="222222"/>
                          </a:solidFill>
                          <a:latin typeface="Calibri" pitchFamily="34" charset="0"/>
                          <a:ea typeface="Calibri" pitchFamily="34" charset="-122"/>
                          <a:cs typeface="Calibri" pitchFamily="34" charset="-120"/>
                        </a:rPr>
                        <a:t>Cloud SaaS; U.S.-only inference option; no on-prem deployment; zero Cowork audit metrics</a:t>
                      </a:r>
                      <a:endParaRPr lang="en-US" sz="1100" dirty="0">
                        <a:latin typeface="Calibri" charset="0"/>
                        <a:ea typeface="Calibri" charset="0"/>
                        <a:cs typeface="Calibri" charset="0"/>
                      </a:endParaRPr>
                    </a:p>
                  </a:txBody>
                  <a:tcPr>
                    <a:lnL w="9525" cap="flat" cmpd="sng" algn="ctr">
                      <a:solidFill>
                        <a:srgbClr val="E1E4EF"/>
                      </a:solidFill>
                      <a:prstDash val="solid"/>
                      <a:round/>
                      <a:headEnd type="none" w="med" len="med"/>
                      <a:tailEnd type="none" w="med" len="med"/>
                    </a:lnL>
                    <a:lnR w="9525" cap="flat" cmpd="sng" algn="ctr">
                      <a:solidFill>
                        <a:srgbClr val="E1E4EF"/>
                      </a:solidFill>
                      <a:prstDash val="solid"/>
                      <a:round/>
                      <a:headEnd type="none" w="med" len="med"/>
                      <a:tailEnd type="none" w="med" len="med"/>
                    </a:lnR>
                    <a:lnT w="9525" cap="flat" cmpd="sng" algn="ctr">
                      <a:solidFill>
                        <a:srgbClr val="E1E4EF"/>
                      </a:solidFill>
                      <a:prstDash val="solid"/>
                      <a:round/>
                      <a:headEnd type="none" w="med" len="med"/>
                      <a:tailEnd type="none" w="med" len="med"/>
                    </a:lnT>
                    <a:lnB w="9525" cap="flat" cmpd="sng" algn="ctr">
                      <a:solidFill>
                        <a:srgbClr val="E1E4EF"/>
                      </a:solidFill>
                      <a:prstDash val="solid"/>
                      <a:round/>
                      <a:headEnd type="none" w="med" len="med"/>
                      <a:tailEnd type="none" w="med" len="med"/>
                    </a:lnB>
                  </a:tcPr>
                </a:tc>
                <a:tc>
                  <a:txBody>
                    <a:bodyPr/>
                    <a:lstStyle/>
                    <a:p>
                      <a:pPr marL="0" indent="0">
                        <a:buNone/>
                      </a:pPr>
                      <a:r>
                        <a:rPr lang="en-US" sz="1100" dirty="0">
                          <a:solidFill>
                            <a:srgbClr val="222222"/>
                          </a:solidFill>
                          <a:latin typeface="Calibri" pitchFamily="34" charset="0"/>
                          <a:ea typeface="Calibri" pitchFamily="34" charset="-122"/>
                          <a:cs typeface="Calibri" pitchFamily="34" charset="-120"/>
                        </a:rPr>
                        <a:t>No support for on-prem. Strongest platform overall and the basis for our POC, however Cowork sits outside the compliance/activity API on every plan tier — a disclosed, known gap.</a:t>
                      </a:r>
                      <a:endParaRPr lang="en-US" sz="1100" dirty="0">
                        <a:latin typeface="Calibri" charset="0"/>
                        <a:ea typeface="Calibri" charset="0"/>
                        <a:cs typeface="Calibri" charset="0"/>
                      </a:endParaRPr>
                    </a:p>
                  </a:txBody>
                  <a:tcPr>
                    <a:lnL w="9525" cap="flat" cmpd="sng" algn="ctr">
                      <a:solidFill>
                        <a:srgbClr val="E1E4EF"/>
                      </a:solidFill>
                      <a:prstDash val="solid"/>
                      <a:round/>
                      <a:headEnd type="none" w="med" len="med"/>
                      <a:tailEnd type="none" w="med" len="med"/>
                    </a:lnL>
                    <a:lnR w="9525" cap="flat" cmpd="sng" algn="ctr">
                      <a:solidFill>
                        <a:srgbClr val="E1E4EF"/>
                      </a:solidFill>
                      <a:prstDash val="solid"/>
                      <a:round/>
                      <a:headEnd type="none" w="med" len="med"/>
                      <a:tailEnd type="none" w="med" len="med"/>
                    </a:lnR>
                    <a:lnT w="9525" cap="flat" cmpd="sng" algn="ctr">
                      <a:solidFill>
                        <a:srgbClr val="E1E4EF"/>
                      </a:solidFill>
                      <a:prstDash val="solid"/>
                      <a:round/>
                      <a:headEnd type="none" w="med" len="med"/>
                      <a:tailEnd type="none" w="med" len="med"/>
                    </a:lnT>
                    <a:lnB w="9525" cap="flat" cmpd="sng" algn="ctr">
                      <a:solidFill>
                        <a:srgbClr val="E1E4EF"/>
                      </a:solidFill>
                      <a:prstDash val="solid"/>
                      <a:round/>
                      <a:headEnd type="none" w="med" len="med"/>
                      <a:tailEnd type="none" w="med" len="med"/>
                    </a:lnB>
                  </a:tcPr>
                </a:tc>
                <a:extLst>
                  <a:ext uri="{0D108BD9-81ED-4DB2-BD59-A6C34878D82A}">
                    <a16:rowId xmlns:a16="http://schemas.microsoft.com/office/drawing/2014/main" val="10001"/>
                  </a:ext>
                </a:extLst>
              </a:tr>
              <a:tr h="347130">
                <a:tc>
                  <a:txBody>
                    <a:bodyPr/>
                    <a:lstStyle/>
                    <a:p>
                      <a:pPr marL="0" indent="0">
                        <a:buNone/>
                      </a:pPr>
                      <a:r>
                        <a:rPr lang="en-US" sz="1100" dirty="0">
                          <a:solidFill>
                            <a:srgbClr val="222222"/>
                          </a:solidFill>
                          <a:latin typeface="Calibri" pitchFamily="34" charset="0"/>
                          <a:ea typeface="Calibri" pitchFamily="34" charset="-122"/>
                          <a:cs typeface="Calibri" pitchFamily="34" charset="-120"/>
                        </a:rPr>
                        <a:t>Gemini Enterprise</a:t>
                      </a:r>
                      <a:endParaRPr lang="en-US" sz="1100" dirty="0">
                        <a:latin typeface="Calibri" charset="0"/>
                        <a:ea typeface="Calibri" charset="0"/>
                        <a:cs typeface="Calibri" charset="0"/>
                      </a:endParaRPr>
                    </a:p>
                  </a:txBody>
                  <a:tcPr>
                    <a:lnL w="9525" cap="flat" cmpd="sng" algn="ctr">
                      <a:solidFill>
                        <a:srgbClr val="E1E4EF"/>
                      </a:solidFill>
                      <a:prstDash val="solid"/>
                      <a:round/>
                      <a:headEnd type="none" w="med" len="med"/>
                      <a:tailEnd type="none" w="med" len="med"/>
                    </a:lnL>
                    <a:lnR w="9525" cap="flat" cmpd="sng" algn="ctr">
                      <a:solidFill>
                        <a:srgbClr val="E1E4EF"/>
                      </a:solidFill>
                      <a:prstDash val="solid"/>
                      <a:round/>
                      <a:headEnd type="none" w="med" len="med"/>
                      <a:tailEnd type="none" w="med" len="med"/>
                    </a:lnR>
                    <a:lnT w="9525" cap="flat" cmpd="sng" algn="ctr">
                      <a:solidFill>
                        <a:srgbClr val="E1E4EF"/>
                      </a:solidFill>
                      <a:prstDash val="solid"/>
                      <a:round/>
                      <a:headEnd type="none" w="med" len="med"/>
                      <a:tailEnd type="none" w="med" len="med"/>
                    </a:lnT>
                    <a:lnB w="9525" cap="flat" cmpd="sng" algn="ctr">
                      <a:solidFill>
                        <a:srgbClr val="E1E4EF"/>
                      </a:solidFill>
                      <a:prstDash val="solid"/>
                      <a:round/>
                      <a:headEnd type="none" w="med" len="med"/>
                      <a:tailEnd type="none" w="med" len="med"/>
                    </a:lnB>
                  </a:tcPr>
                </a:tc>
                <a:tc>
                  <a:txBody>
                    <a:bodyPr/>
                    <a:lstStyle/>
                    <a:p>
                      <a:pPr marL="0" indent="0">
                        <a:buNone/>
                      </a:pPr>
                      <a:r>
                        <a:rPr lang="en-US" sz="1100" dirty="0">
                          <a:solidFill>
                            <a:srgbClr val="222222"/>
                          </a:solidFill>
                          <a:latin typeface="Calibri" pitchFamily="34" charset="0"/>
                          <a:ea typeface="Calibri" pitchFamily="34" charset="-122"/>
                          <a:cs typeface="Calibri" pitchFamily="34" charset="-120"/>
                        </a:rPr>
                        <a:t>Cloud SaaS</a:t>
                      </a:r>
                      <a:endParaRPr lang="en-US" sz="1100" dirty="0">
                        <a:latin typeface="Calibri" charset="0"/>
                        <a:ea typeface="Calibri" charset="0"/>
                        <a:cs typeface="Calibri" charset="0"/>
                      </a:endParaRPr>
                    </a:p>
                  </a:txBody>
                  <a:tcPr>
                    <a:lnL w="9525" cap="flat" cmpd="sng" algn="ctr">
                      <a:solidFill>
                        <a:srgbClr val="E1E4EF"/>
                      </a:solidFill>
                      <a:prstDash val="solid"/>
                      <a:round/>
                      <a:headEnd type="none" w="med" len="med"/>
                      <a:tailEnd type="none" w="med" len="med"/>
                    </a:lnL>
                    <a:lnR w="9525" cap="flat" cmpd="sng" algn="ctr">
                      <a:solidFill>
                        <a:srgbClr val="E1E4EF"/>
                      </a:solidFill>
                      <a:prstDash val="solid"/>
                      <a:round/>
                      <a:headEnd type="none" w="med" len="med"/>
                      <a:tailEnd type="none" w="med" len="med"/>
                    </a:lnR>
                    <a:lnT w="9525" cap="flat" cmpd="sng" algn="ctr">
                      <a:solidFill>
                        <a:srgbClr val="E1E4EF"/>
                      </a:solidFill>
                      <a:prstDash val="solid"/>
                      <a:round/>
                      <a:headEnd type="none" w="med" len="med"/>
                      <a:tailEnd type="none" w="med" len="med"/>
                    </a:lnT>
                    <a:lnB w="9525" cap="flat" cmpd="sng" algn="ctr">
                      <a:solidFill>
                        <a:srgbClr val="E1E4EF"/>
                      </a:solidFill>
                      <a:prstDash val="solid"/>
                      <a:round/>
                      <a:headEnd type="none" w="med" len="med"/>
                      <a:tailEnd type="none" w="med" len="med"/>
                    </a:lnB>
                  </a:tcPr>
                </a:tc>
                <a:tc>
                  <a:txBody>
                    <a:bodyPr/>
                    <a:lstStyle/>
                    <a:p>
                      <a:pPr marL="0" indent="0">
                        <a:buNone/>
                      </a:pPr>
                      <a:r>
                        <a:rPr lang="en-US" sz="1100" dirty="0">
                          <a:solidFill>
                            <a:srgbClr val="222222"/>
                          </a:solidFill>
                          <a:latin typeface="Calibri" pitchFamily="34" charset="0"/>
                          <a:ea typeface="Calibri" pitchFamily="34" charset="-122"/>
                          <a:cs typeface="Calibri" pitchFamily="34" charset="-120"/>
                        </a:rPr>
                        <a:t>No support for on-prem. Capable agent platform, however agentic-activity compliance API coverage is unresolved and admin-context precedence is undocumented — an open question, not a confirmed gap.</a:t>
                      </a:r>
                      <a:endParaRPr lang="en-US" sz="1100" dirty="0">
                        <a:latin typeface="Calibri" charset="0"/>
                        <a:ea typeface="Calibri" charset="0"/>
                        <a:cs typeface="Calibri" charset="0"/>
                      </a:endParaRPr>
                    </a:p>
                  </a:txBody>
                  <a:tcPr>
                    <a:lnL w="9525" cap="flat" cmpd="sng" algn="ctr">
                      <a:solidFill>
                        <a:srgbClr val="E1E4EF"/>
                      </a:solidFill>
                      <a:prstDash val="solid"/>
                      <a:round/>
                      <a:headEnd type="none" w="med" len="med"/>
                      <a:tailEnd type="none" w="med" len="med"/>
                    </a:lnL>
                    <a:lnR w="9525" cap="flat" cmpd="sng" algn="ctr">
                      <a:solidFill>
                        <a:srgbClr val="E1E4EF"/>
                      </a:solidFill>
                      <a:prstDash val="solid"/>
                      <a:round/>
                      <a:headEnd type="none" w="med" len="med"/>
                      <a:tailEnd type="none" w="med" len="med"/>
                    </a:lnR>
                    <a:lnT w="9525" cap="flat" cmpd="sng" algn="ctr">
                      <a:solidFill>
                        <a:srgbClr val="E1E4EF"/>
                      </a:solidFill>
                      <a:prstDash val="solid"/>
                      <a:round/>
                      <a:headEnd type="none" w="med" len="med"/>
                      <a:tailEnd type="none" w="med" len="med"/>
                    </a:lnT>
                    <a:lnB w="9525" cap="flat" cmpd="sng" algn="ctr">
                      <a:solidFill>
                        <a:srgbClr val="E1E4EF"/>
                      </a:solidFill>
                      <a:prstDash val="solid"/>
                      <a:round/>
                      <a:headEnd type="none" w="med" len="med"/>
                      <a:tailEnd type="none" w="med" len="med"/>
                    </a:lnB>
                  </a:tcPr>
                </a:tc>
                <a:extLst>
                  <a:ext uri="{0D108BD9-81ED-4DB2-BD59-A6C34878D82A}">
                    <a16:rowId xmlns:a16="http://schemas.microsoft.com/office/drawing/2014/main" val="10002"/>
                  </a:ext>
                </a:extLst>
              </a:tr>
              <a:tr h="347130">
                <a:tc>
                  <a:txBody>
                    <a:bodyPr/>
                    <a:lstStyle/>
                    <a:p>
                      <a:pPr marL="0" indent="0">
                        <a:buNone/>
                      </a:pPr>
                      <a:r>
                        <a:rPr lang="en-US" sz="1100" dirty="0">
                          <a:solidFill>
                            <a:srgbClr val="222222"/>
                          </a:solidFill>
                          <a:latin typeface="Calibri" pitchFamily="34" charset="0"/>
                          <a:ea typeface="Calibri" pitchFamily="34" charset="-122"/>
                          <a:cs typeface="Calibri" pitchFamily="34" charset="-120"/>
                        </a:rPr>
                        <a:t>ChatGPT Enterprise</a:t>
                      </a:r>
                      <a:endParaRPr lang="en-US" sz="1100" dirty="0">
                        <a:latin typeface="Calibri" charset="0"/>
                        <a:ea typeface="Calibri" charset="0"/>
                        <a:cs typeface="Calibri" charset="0"/>
                      </a:endParaRPr>
                    </a:p>
                  </a:txBody>
                  <a:tcPr>
                    <a:lnL w="9525" cap="flat" cmpd="sng" algn="ctr">
                      <a:solidFill>
                        <a:srgbClr val="E1E4EF"/>
                      </a:solidFill>
                      <a:prstDash val="solid"/>
                      <a:round/>
                      <a:headEnd type="none" w="med" len="med"/>
                      <a:tailEnd type="none" w="med" len="med"/>
                    </a:lnL>
                    <a:lnR w="9525" cap="flat" cmpd="sng" algn="ctr">
                      <a:solidFill>
                        <a:srgbClr val="E1E4EF"/>
                      </a:solidFill>
                      <a:prstDash val="solid"/>
                      <a:round/>
                      <a:headEnd type="none" w="med" len="med"/>
                      <a:tailEnd type="none" w="med" len="med"/>
                    </a:lnR>
                    <a:lnT w="9525" cap="flat" cmpd="sng" algn="ctr">
                      <a:solidFill>
                        <a:srgbClr val="E1E4EF"/>
                      </a:solidFill>
                      <a:prstDash val="solid"/>
                      <a:round/>
                      <a:headEnd type="none" w="med" len="med"/>
                      <a:tailEnd type="none" w="med" len="med"/>
                    </a:lnT>
                    <a:lnB w="9525" cap="flat" cmpd="sng" algn="ctr">
                      <a:solidFill>
                        <a:srgbClr val="E1E4EF"/>
                      </a:solidFill>
                      <a:prstDash val="solid"/>
                      <a:round/>
                      <a:headEnd type="none" w="med" len="med"/>
                      <a:tailEnd type="none" w="med" len="med"/>
                    </a:lnB>
                  </a:tcPr>
                </a:tc>
                <a:tc>
                  <a:txBody>
                    <a:bodyPr/>
                    <a:lstStyle/>
                    <a:p>
                      <a:pPr marL="0" indent="0">
                        <a:buNone/>
                      </a:pPr>
                      <a:r>
                        <a:rPr lang="en-US" sz="1100" dirty="0">
                          <a:solidFill>
                            <a:srgbClr val="222222"/>
                          </a:solidFill>
                          <a:latin typeface="Calibri" pitchFamily="34" charset="0"/>
                          <a:ea typeface="Calibri" pitchFamily="34" charset="-122"/>
                          <a:cs typeface="Calibri" pitchFamily="34" charset="-120"/>
                        </a:rPr>
                        <a:t>Cloud SaaS</a:t>
                      </a:r>
                      <a:endParaRPr lang="en-US" sz="1100" dirty="0">
                        <a:latin typeface="Calibri" charset="0"/>
                        <a:ea typeface="Calibri" charset="0"/>
                        <a:cs typeface="Calibri" charset="0"/>
                      </a:endParaRPr>
                    </a:p>
                  </a:txBody>
                  <a:tcPr>
                    <a:lnL w="9525" cap="flat" cmpd="sng" algn="ctr">
                      <a:solidFill>
                        <a:srgbClr val="E1E4EF"/>
                      </a:solidFill>
                      <a:prstDash val="solid"/>
                      <a:round/>
                      <a:headEnd type="none" w="med" len="med"/>
                      <a:tailEnd type="none" w="med" len="med"/>
                    </a:lnL>
                    <a:lnR w="9525" cap="flat" cmpd="sng" algn="ctr">
                      <a:solidFill>
                        <a:srgbClr val="E1E4EF"/>
                      </a:solidFill>
                      <a:prstDash val="solid"/>
                      <a:round/>
                      <a:headEnd type="none" w="med" len="med"/>
                      <a:tailEnd type="none" w="med" len="med"/>
                    </a:lnR>
                    <a:lnT w="9525" cap="flat" cmpd="sng" algn="ctr">
                      <a:solidFill>
                        <a:srgbClr val="E1E4EF"/>
                      </a:solidFill>
                      <a:prstDash val="solid"/>
                      <a:round/>
                      <a:headEnd type="none" w="med" len="med"/>
                      <a:tailEnd type="none" w="med" len="med"/>
                    </a:lnT>
                    <a:lnB w="9525" cap="flat" cmpd="sng" algn="ctr">
                      <a:solidFill>
                        <a:srgbClr val="E1E4EF"/>
                      </a:solidFill>
                      <a:prstDash val="solid"/>
                      <a:round/>
                      <a:headEnd type="none" w="med" len="med"/>
                      <a:tailEnd type="none" w="med" len="med"/>
                    </a:lnB>
                  </a:tcPr>
                </a:tc>
                <a:tc>
                  <a:txBody>
                    <a:bodyPr/>
                    <a:lstStyle/>
                    <a:p>
                      <a:pPr marL="0" indent="0">
                        <a:buNone/>
                      </a:pPr>
                      <a:r>
                        <a:rPr lang="en-US" sz="1100" dirty="0">
                          <a:solidFill>
                            <a:srgbClr val="222222"/>
                          </a:solidFill>
                          <a:latin typeface="Calibri" pitchFamily="34" charset="0"/>
                          <a:ea typeface="Calibri" pitchFamily="34" charset="-122"/>
                          <a:cs typeface="Calibri" pitchFamily="34" charset="-120"/>
                        </a:rPr>
                        <a:t>No support for on-prem. Governance claims look strong, however they come from third-party reporting rather than OpenAI’s own documentation — unverified.</a:t>
                      </a:r>
                      <a:endParaRPr lang="en-US" sz="1100" dirty="0">
                        <a:latin typeface="Calibri" charset="0"/>
                        <a:ea typeface="Calibri" charset="0"/>
                        <a:cs typeface="Calibri" charset="0"/>
                      </a:endParaRPr>
                    </a:p>
                  </a:txBody>
                  <a:tcPr>
                    <a:lnL w="9525" cap="flat" cmpd="sng" algn="ctr">
                      <a:solidFill>
                        <a:srgbClr val="E1E4EF"/>
                      </a:solidFill>
                      <a:prstDash val="solid"/>
                      <a:round/>
                      <a:headEnd type="none" w="med" len="med"/>
                      <a:tailEnd type="none" w="med" len="med"/>
                    </a:lnL>
                    <a:lnR w="9525" cap="flat" cmpd="sng" algn="ctr">
                      <a:solidFill>
                        <a:srgbClr val="E1E4EF"/>
                      </a:solidFill>
                      <a:prstDash val="solid"/>
                      <a:round/>
                      <a:headEnd type="none" w="med" len="med"/>
                      <a:tailEnd type="none" w="med" len="med"/>
                    </a:lnR>
                    <a:lnT w="9525" cap="flat" cmpd="sng" algn="ctr">
                      <a:solidFill>
                        <a:srgbClr val="E1E4EF"/>
                      </a:solidFill>
                      <a:prstDash val="solid"/>
                      <a:round/>
                      <a:headEnd type="none" w="med" len="med"/>
                      <a:tailEnd type="none" w="med" len="med"/>
                    </a:lnT>
                    <a:lnB w="9525" cap="flat" cmpd="sng" algn="ctr">
                      <a:solidFill>
                        <a:srgbClr val="E1E4EF"/>
                      </a:solidFill>
                      <a:prstDash val="solid"/>
                      <a:round/>
                      <a:headEnd type="none" w="med" len="med"/>
                      <a:tailEnd type="none" w="med" len="med"/>
                    </a:lnB>
                  </a:tcPr>
                </a:tc>
                <a:extLst>
                  <a:ext uri="{0D108BD9-81ED-4DB2-BD59-A6C34878D82A}">
                    <a16:rowId xmlns:a16="http://schemas.microsoft.com/office/drawing/2014/main" val="10003"/>
                  </a:ext>
                </a:extLst>
              </a:tr>
              <a:tr h="403539">
                <a:tc>
                  <a:txBody>
                    <a:bodyPr/>
                    <a:lstStyle/>
                    <a:p>
                      <a:pPr marL="0" indent="0">
                        <a:buNone/>
                      </a:pPr>
                      <a:r>
                        <a:rPr lang="en-US" sz="1100" dirty="0">
                          <a:solidFill>
                            <a:srgbClr val="222222"/>
                          </a:solidFill>
                          <a:latin typeface="Calibri" pitchFamily="34" charset="0"/>
                          <a:ea typeface="Calibri" pitchFamily="34" charset="-122"/>
                          <a:cs typeface="Calibri" pitchFamily="34" charset="-120"/>
                        </a:rPr>
                        <a:t>IBM Bob</a:t>
                      </a:r>
                      <a:endParaRPr lang="en-US" sz="1100" dirty="0">
                        <a:latin typeface="Calibri" charset="0"/>
                        <a:ea typeface="Calibri" charset="0"/>
                        <a:cs typeface="Calibri" charset="0"/>
                      </a:endParaRPr>
                    </a:p>
                  </a:txBody>
                  <a:tcPr>
                    <a:lnL w="9525" cap="flat" cmpd="sng" algn="ctr">
                      <a:solidFill>
                        <a:srgbClr val="E1E4EF"/>
                      </a:solidFill>
                      <a:prstDash val="solid"/>
                      <a:round/>
                      <a:headEnd type="none" w="med" len="med"/>
                      <a:tailEnd type="none" w="med" len="med"/>
                    </a:lnL>
                    <a:lnR w="9525" cap="flat" cmpd="sng" algn="ctr">
                      <a:solidFill>
                        <a:srgbClr val="E1E4EF"/>
                      </a:solidFill>
                      <a:prstDash val="solid"/>
                      <a:round/>
                      <a:headEnd type="none" w="med" len="med"/>
                      <a:tailEnd type="none" w="med" len="med"/>
                    </a:lnR>
                    <a:lnT w="9525" cap="flat" cmpd="sng" algn="ctr">
                      <a:solidFill>
                        <a:srgbClr val="E1E4EF"/>
                      </a:solidFill>
                      <a:prstDash val="solid"/>
                      <a:round/>
                      <a:headEnd type="none" w="med" len="med"/>
                      <a:tailEnd type="none" w="med" len="med"/>
                    </a:lnT>
                    <a:lnB w="9525" cap="flat" cmpd="sng" algn="ctr">
                      <a:solidFill>
                        <a:srgbClr val="E1E4EF"/>
                      </a:solidFill>
                      <a:prstDash val="solid"/>
                      <a:round/>
                      <a:headEnd type="none" w="med" len="med"/>
                      <a:tailEnd type="none" w="med" len="med"/>
                    </a:lnB>
                  </a:tcPr>
                </a:tc>
                <a:tc>
                  <a:txBody>
                    <a:bodyPr/>
                    <a:lstStyle/>
                    <a:p>
                      <a:pPr marL="0" indent="0">
                        <a:buNone/>
                      </a:pPr>
                      <a:r>
                        <a:rPr lang="en-US" sz="1100" dirty="0">
                          <a:solidFill>
                            <a:srgbClr val="222222"/>
                          </a:solidFill>
                          <a:latin typeface="Calibri" pitchFamily="34" charset="0"/>
                          <a:ea typeface="Calibri" pitchFamily="34" charset="-122"/>
                          <a:cs typeface="Calibri" pitchFamily="34" charset="-120"/>
                        </a:rPr>
                        <a:t>SaaS-only as evaluated; on-prem claimed for 3Q26 (unverified); scoped to SDLC/coding agents</a:t>
                      </a:r>
                      <a:endParaRPr lang="en-US" sz="1100" dirty="0">
                        <a:latin typeface="Calibri" charset="0"/>
                        <a:ea typeface="Calibri" charset="0"/>
                        <a:cs typeface="Calibri" charset="0"/>
                      </a:endParaRPr>
                    </a:p>
                  </a:txBody>
                  <a:tcPr>
                    <a:lnL w="9525" cap="flat" cmpd="sng" algn="ctr">
                      <a:solidFill>
                        <a:srgbClr val="E1E4EF"/>
                      </a:solidFill>
                      <a:prstDash val="solid"/>
                      <a:round/>
                      <a:headEnd type="none" w="med" len="med"/>
                      <a:tailEnd type="none" w="med" len="med"/>
                    </a:lnL>
                    <a:lnR w="9525" cap="flat" cmpd="sng" algn="ctr">
                      <a:solidFill>
                        <a:srgbClr val="E1E4EF"/>
                      </a:solidFill>
                      <a:prstDash val="solid"/>
                      <a:round/>
                      <a:headEnd type="none" w="med" len="med"/>
                      <a:tailEnd type="none" w="med" len="med"/>
                    </a:lnR>
                    <a:lnT w="9525" cap="flat" cmpd="sng" algn="ctr">
                      <a:solidFill>
                        <a:srgbClr val="E1E4EF"/>
                      </a:solidFill>
                      <a:prstDash val="solid"/>
                      <a:round/>
                      <a:headEnd type="none" w="med" len="med"/>
                      <a:tailEnd type="none" w="med" len="med"/>
                    </a:lnT>
                    <a:lnB w="9525" cap="flat" cmpd="sng" algn="ctr">
                      <a:solidFill>
                        <a:srgbClr val="E1E4EF"/>
                      </a:solidFill>
                      <a:prstDash val="solid"/>
                      <a:round/>
                      <a:headEnd type="none" w="med" len="med"/>
                      <a:tailEnd type="none" w="med" len="med"/>
                    </a:lnB>
                  </a:tcPr>
                </a:tc>
                <a:tc>
                  <a:txBody>
                    <a:bodyPr/>
                    <a:lstStyle/>
                    <a:p>
                      <a:pPr marL="0" indent="0">
                        <a:buNone/>
                      </a:pPr>
                      <a:r>
                        <a:rPr lang="en-US" sz="1100" dirty="0">
                          <a:solidFill>
                            <a:srgbClr val="222222"/>
                          </a:solidFill>
                          <a:latin typeface="Calibri" pitchFamily="34" charset="0"/>
                          <a:ea typeface="Calibri" pitchFamily="34" charset="-122"/>
                          <a:cs typeface="Calibri" pitchFamily="34" charset="-120"/>
                        </a:rPr>
                        <a:t>Future support for on-prem. Strongest governance design by intent, but designed as an SDLC tool that doesn’t align well to CDMO. IBM recommended </a:t>
                      </a:r>
                      <a:r>
                        <a:rPr lang="en-US" sz="1100" dirty="0" err="1">
                          <a:solidFill>
                            <a:srgbClr val="222222"/>
                          </a:solidFill>
                          <a:latin typeface="Calibri" pitchFamily="34" charset="0"/>
                          <a:ea typeface="Calibri" pitchFamily="34" charset="-122"/>
                          <a:cs typeface="Calibri" pitchFamily="34" charset="-120"/>
                        </a:rPr>
                        <a:t>WatsonX</a:t>
                      </a:r>
                      <a:r>
                        <a:rPr lang="en-US" sz="1100" dirty="0">
                          <a:solidFill>
                            <a:srgbClr val="222222"/>
                          </a:solidFill>
                          <a:latin typeface="Calibri" pitchFamily="34" charset="0"/>
                          <a:ea typeface="Calibri" pitchFamily="34" charset="-122"/>
                          <a:cs typeface="Calibri" pitchFamily="34" charset="-120"/>
                        </a:rPr>
                        <a:t> Orchestrate.</a:t>
                      </a:r>
                      <a:endParaRPr lang="en-US" sz="1100" dirty="0">
                        <a:latin typeface="Calibri" charset="0"/>
                        <a:ea typeface="Calibri" charset="0"/>
                        <a:cs typeface="Calibri" charset="0"/>
                      </a:endParaRPr>
                    </a:p>
                  </a:txBody>
                  <a:tcPr>
                    <a:lnL w="9525" cap="flat" cmpd="sng" algn="ctr">
                      <a:solidFill>
                        <a:srgbClr val="E1E4EF"/>
                      </a:solidFill>
                      <a:prstDash val="solid"/>
                      <a:round/>
                      <a:headEnd type="none" w="med" len="med"/>
                      <a:tailEnd type="none" w="med" len="med"/>
                    </a:lnL>
                    <a:lnR w="9525" cap="flat" cmpd="sng" algn="ctr">
                      <a:solidFill>
                        <a:srgbClr val="E1E4EF"/>
                      </a:solidFill>
                      <a:prstDash val="solid"/>
                      <a:round/>
                      <a:headEnd type="none" w="med" len="med"/>
                      <a:tailEnd type="none" w="med" len="med"/>
                    </a:lnR>
                    <a:lnT w="9525" cap="flat" cmpd="sng" algn="ctr">
                      <a:solidFill>
                        <a:srgbClr val="E1E4EF"/>
                      </a:solidFill>
                      <a:prstDash val="solid"/>
                      <a:round/>
                      <a:headEnd type="none" w="med" len="med"/>
                      <a:tailEnd type="none" w="med" len="med"/>
                    </a:lnT>
                    <a:lnB w="9525" cap="flat" cmpd="sng" algn="ctr">
                      <a:solidFill>
                        <a:srgbClr val="E1E4EF"/>
                      </a:solidFill>
                      <a:prstDash val="solid"/>
                      <a:round/>
                      <a:headEnd type="none" w="med" len="med"/>
                      <a:tailEnd type="none" w="med" len="med"/>
                    </a:lnB>
                  </a:tcPr>
                </a:tc>
                <a:extLst>
                  <a:ext uri="{0D108BD9-81ED-4DB2-BD59-A6C34878D82A}">
                    <a16:rowId xmlns:a16="http://schemas.microsoft.com/office/drawing/2014/main" val="10004"/>
                  </a:ext>
                </a:extLst>
              </a:tr>
              <a:tr h="403539">
                <a:tc>
                  <a:txBody>
                    <a:bodyPr/>
                    <a:lstStyle/>
                    <a:p>
                      <a:pPr marL="0" indent="0">
                        <a:buNone/>
                      </a:pPr>
                      <a:r>
                        <a:rPr lang="en-US" sz="1100" dirty="0">
                          <a:latin typeface="Calibri" charset="0"/>
                          <a:ea typeface="Calibri" charset="0"/>
                          <a:cs typeface="Calibri" charset="0"/>
                        </a:rPr>
                        <a:t>Geordie</a:t>
                      </a:r>
                    </a:p>
                  </a:txBody>
                  <a:tcPr>
                    <a:lnL w="9525" cap="flat" cmpd="sng" algn="ctr">
                      <a:solidFill>
                        <a:srgbClr val="E1E4EF"/>
                      </a:solidFill>
                      <a:prstDash val="solid"/>
                      <a:round/>
                      <a:headEnd type="none" w="med" len="med"/>
                      <a:tailEnd type="none" w="med" len="med"/>
                    </a:lnL>
                    <a:lnR w="9525" cap="flat" cmpd="sng" algn="ctr">
                      <a:solidFill>
                        <a:srgbClr val="E1E4EF"/>
                      </a:solidFill>
                      <a:prstDash val="solid"/>
                      <a:round/>
                      <a:headEnd type="none" w="med" len="med"/>
                      <a:tailEnd type="none" w="med" len="med"/>
                    </a:lnR>
                    <a:lnT w="9525" cap="flat" cmpd="sng" algn="ctr">
                      <a:solidFill>
                        <a:srgbClr val="E1E4EF"/>
                      </a:solidFill>
                      <a:prstDash val="solid"/>
                      <a:round/>
                      <a:headEnd type="none" w="med" len="med"/>
                      <a:tailEnd type="none" w="med" len="med"/>
                    </a:lnT>
                    <a:lnB w="9525" cap="flat" cmpd="sng" algn="ctr">
                      <a:solidFill>
                        <a:srgbClr val="E1E4EF"/>
                      </a:solidFill>
                      <a:prstDash val="solid"/>
                      <a:round/>
                      <a:headEnd type="none" w="med" len="med"/>
                      <a:tailEnd type="none" w="med" len="med"/>
                    </a:lnB>
                  </a:tcPr>
                </a:tc>
                <a:tc>
                  <a:txBody>
                    <a:bodyPr/>
                    <a:lstStyle/>
                    <a:p>
                      <a:pPr marL="0" indent="0">
                        <a:buNone/>
                      </a:pPr>
                      <a:r>
                        <a:rPr lang="en-US" sz="1100" dirty="0">
                          <a:latin typeface="Calibri" charset="0"/>
                          <a:ea typeface="Calibri" charset="0"/>
                          <a:cs typeface="Calibri" charset="0"/>
                        </a:rPr>
                        <a:t>Allows for private LLM but all data still flows through Geordie SaaS cloud. </a:t>
                      </a:r>
                    </a:p>
                  </a:txBody>
                  <a:tcPr>
                    <a:lnL w="9525" cap="flat" cmpd="sng" algn="ctr">
                      <a:solidFill>
                        <a:srgbClr val="E1E4EF"/>
                      </a:solidFill>
                      <a:prstDash val="solid"/>
                      <a:round/>
                      <a:headEnd type="none" w="med" len="med"/>
                      <a:tailEnd type="none" w="med" len="med"/>
                    </a:lnL>
                    <a:lnR w="9525" cap="flat" cmpd="sng" algn="ctr">
                      <a:solidFill>
                        <a:srgbClr val="E1E4EF"/>
                      </a:solidFill>
                      <a:prstDash val="solid"/>
                      <a:round/>
                      <a:headEnd type="none" w="med" len="med"/>
                      <a:tailEnd type="none" w="med" len="med"/>
                    </a:lnR>
                    <a:lnT w="9525" cap="flat" cmpd="sng" algn="ctr">
                      <a:solidFill>
                        <a:srgbClr val="E1E4EF"/>
                      </a:solidFill>
                      <a:prstDash val="solid"/>
                      <a:round/>
                      <a:headEnd type="none" w="med" len="med"/>
                      <a:tailEnd type="none" w="med" len="med"/>
                    </a:lnT>
                    <a:lnB w="9525" cap="flat" cmpd="sng" algn="ctr">
                      <a:solidFill>
                        <a:srgbClr val="E1E4EF"/>
                      </a:solidFill>
                      <a:prstDash val="solid"/>
                      <a:round/>
                      <a:headEnd type="none" w="med" len="med"/>
                      <a:tailEnd type="none" w="med" len="med"/>
                    </a:lnB>
                  </a:tcPr>
                </a:tc>
                <a:tc>
                  <a:txBody>
                    <a:bodyPr/>
                    <a:lstStyle/>
                    <a:p>
                      <a:pPr marL="0" indent="0">
                        <a:buNone/>
                      </a:pPr>
                      <a:r>
                        <a:rPr lang="en-US" sz="1100" dirty="0">
                          <a:latin typeface="Calibri" charset="0"/>
                          <a:ea typeface="Calibri" charset="0"/>
                          <a:cs typeface="Calibri" charset="0"/>
                        </a:rPr>
                        <a:t>No support for on-prem. Solid solution with AI discovery tools and governance management.</a:t>
                      </a:r>
                    </a:p>
                  </a:txBody>
                  <a:tcPr>
                    <a:lnL w="9525" cap="flat" cmpd="sng" algn="ctr">
                      <a:solidFill>
                        <a:srgbClr val="E1E4EF"/>
                      </a:solidFill>
                      <a:prstDash val="solid"/>
                      <a:round/>
                      <a:headEnd type="none" w="med" len="med"/>
                      <a:tailEnd type="none" w="med" len="med"/>
                    </a:lnL>
                    <a:lnR w="9525" cap="flat" cmpd="sng" algn="ctr">
                      <a:solidFill>
                        <a:srgbClr val="E1E4EF"/>
                      </a:solidFill>
                      <a:prstDash val="solid"/>
                      <a:round/>
                      <a:headEnd type="none" w="med" len="med"/>
                      <a:tailEnd type="none" w="med" len="med"/>
                    </a:lnR>
                    <a:lnT w="9525" cap="flat" cmpd="sng" algn="ctr">
                      <a:solidFill>
                        <a:srgbClr val="E1E4EF"/>
                      </a:solidFill>
                      <a:prstDash val="solid"/>
                      <a:round/>
                      <a:headEnd type="none" w="med" len="med"/>
                      <a:tailEnd type="none" w="med" len="med"/>
                    </a:lnT>
                    <a:lnB w="9525" cap="flat" cmpd="sng" algn="ctr">
                      <a:solidFill>
                        <a:srgbClr val="E1E4EF"/>
                      </a:solidFill>
                      <a:prstDash val="solid"/>
                      <a:round/>
                      <a:headEnd type="none" w="med" len="med"/>
                      <a:tailEnd type="none" w="med" len="med"/>
                    </a:lnB>
                  </a:tcPr>
                </a:tc>
                <a:extLst>
                  <a:ext uri="{0D108BD9-81ED-4DB2-BD59-A6C34878D82A}">
                    <a16:rowId xmlns:a16="http://schemas.microsoft.com/office/drawing/2014/main" val="1391188960"/>
                  </a:ext>
                </a:extLst>
              </a:tr>
              <a:tr h="403539">
                <a:tc>
                  <a:txBody>
                    <a:bodyPr/>
                    <a:lstStyle/>
                    <a:p>
                      <a:pPr marL="0" indent="0">
                        <a:buNone/>
                      </a:pPr>
                      <a:r>
                        <a:rPr lang="en-US" sz="1100" dirty="0">
                          <a:latin typeface="Calibri" charset="0"/>
                          <a:ea typeface="Calibri" charset="0"/>
                          <a:cs typeface="Calibri" charset="0"/>
                        </a:rPr>
                        <a:t>IBM </a:t>
                      </a:r>
                      <a:r>
                        <a:rPr lang="en-US" sz="1100" dirty="0" err="1">
                          <a:latin typeface="Calibri" charset="0"/>
                          <a:ea typeface="Calibri" charset="0"/>
                          <a:cs typeface="Calibri" charset="0"/>
                        </a:rPr>
                        <a:t>WatsonX</a:t>
                      </a:r>
                      <a:r>
                        <a:rPr lang="en-US" sz="1100" dirty="0">
                          <a:latin typeface="Calibri" charset="0"/>
                          <a:ea typeface="Calibri" charset="0"/>
                          <a:cs typeface="Calibri" charset="0"/>
                        </a:rPr>
                        <a:t> Orchestrate</a:t>
                      </a:r>
                    </a:p>
                  </a:txBody>
                  <a:tcPr>
                    <a:lnL w="9525" cap="flat" cmpd="sng" algn="ctr">
                      <a:solidFill>
                        <a:srgbClr val="E1E4EF"/>
                      </a:solidFill>
                      <a:prstDash val="solid"/>
                      <a:round/>
                      <a:headEnd type="none" w="med" len="med"/>
                      <a:tailEnd type="none" w="med" len="med"/>
                    </a:lnL>
                    <a:lnR w="9525" cap="flat" cmpd="sng" algn="ctr">
                      <a:solidFill>
                        <a:srgbClr val="E1E4EF"/>
                      </a:solidFill>
                      <a:prstDash val="solid"/>
                      <a:round/>
                      <a:headEnd type="none" w="med" len="med"/>
                      <a:tailEnd type="none" w="med" len="med"/>
                    </a:lnR>
                    <a:lnT w="9525" cap="flat" cmpd="sng" algn="ctr">
                      <a:solidFill>
                        <a:srgbClr val="E1E4EF"/>
                      </a:solidFill>
                      <a:prstDash val="solid"/>
                      <a:round/>
                      <a:headEnd type="none" w="med" len="med"/>
                      <a:tailEnd type="none" w="med" len="med"/>
                    </a:lnT>
                    <a:lnB w="9525" cap="flat" cmpd="sng" algn="ctr">
                      <a:solidFill>
                        <a:srgbClr val="E1E4EF"/>
                      </a:solidFill>
                      <a:prstDash val="solid"/>
                      <a:round/>
                      <a:headEnd type="none" w="med" len="med"/>
                      <a:tailEnd type="none" w="med" len="med"/>
                    </a:lnB>
                  </a:tcPr>
                </a:tc>
                <a:tc>
                  <a:txBody>
                    <a:bodyPr/>
                    <a:lstStyle/>
                    <a:p>
                      <a:pPr marL="0" indent="0">
                        <a:buNone/>
                      </a:pPr>
                      <a:r>
                        <a:rPr lang="en-US" sz="1100" dirty="0">
                          <a:latin typeface="Calibri" charset="0"/>
                          <a:ea typeface="Calibri" charset="0"/>
                          <a:cs typeface="Calibri" charset="0"/>
                        </a:rPr>
                        <a:t>Private deploy capable. All data stays inside NexTern security boundaries</a:t>
                      </a:r>
                    </a:p>
                  </a:txBody>
                  <a:tcPr>
                    <a:lnL w="9525" cap="flat" cmpd="sng" algn="ctr">
                      <a:solidFill>
                        <a:srgbClr val="E1E4EF"/>
                      </a:solidFill>
                      <a:prstDash val="solid"/>
                      <a:round/>
                      <a:headEnd type="none" w="med" len="med"/>
                      <a:tailEnd type="none" w="med" len="med"/>
                    </a:lnL>
                    <a:lnR w="9525" cap="flat" cmpd="sng" algn="ctr">
                      <a:solidFill>
                        <a:srgbClr val="E1E4EF"/>
                      </a:solidFill>
                      <a:prstDash val="solid"/>
                      <a:round/>
                      <a:headEnd type="none" w="med" len="med"/>
                      <a:tailEnd type="none" w="med" len="med"/>
                    </a:lnR>
                    <a:lnT w="9525" cap="flat" cmpd="sng" algn="ctr">
                      <a:solidFill>
                        <a:srgbClr val="E1E4EF"/>
                      </a:solidFill>
                      <a:prstDash val="solid"/>
                      <a:round/>
                      <a:headEnd type="none" w="med" len="med"/>
                      <a:tailEnd type="none" w="med" len="med"/>
                    </a:lnT>
                    <a:lnB w="9525" cap="flat" cmpd="sng" algn="ctr">
                      <a:solidFill>
                        <a:srgbClr val="E1E4EF"/>
                      </a:solidFill>
                      <a:prstDash val="solid"/>
                      <a:round/>
                      <a:headEnd type="none" w="med" len="med"/>
                      <a:tailEnd type="none" w="med" len="med"/>
                    </a:lnB>
                  </a:tcPr>
                </a:tc>
                <a:tc>
                  <a:txBody>
                    <a:bodyPr/>
                    <a:lstStyle/>
                    <a:p>
                      <a:pPr marL="0" indent="0">
                        <a:buNone/>
                      </a:pPr>
                      <a:r>
                        <a:rPr lang="en-US" sz="1100" dirty="0">
                          <a:latin typeface="Calibri" charset="0"/>
                          <a:ea typeface="Calibri" charset="0"/>
                          <a:cs typeface="Calibri" charset="0"/>
                        </a:rPr>
                        <a:t>Supports full deployment on-prem, however solution incomplete and not designed to support CDMO.</a:t>
                      </a:r>
                    </a:p>
                  </a:txBody>
                  <a:tcPr>
                    <a:lnL w="9525" cap="flat" cmpd="sng" algn="ctr">
                      <a:solidFill>
                        <a:srgbClr val="E1E4EF"/>
                      </a:solidFill>
                      <a:prstDash val="solid"/>
                      <a:round/>
                      <a:headEnd type="none" w="med" len="med"/>
                      <a:tailEnd type="none" w="med" len="med"/>
                    </a:lnL>
                    <a:lnR w="9525" cap="flat" cmpd="sng" algn="ctr">
                      <a:solidFill>
                        <a:srgbClr val="E1E4EF"/>
                      </a:solidFill>
                      <a:prstDash val="solid"/>
                      <a:round/>
                      <a:headEnd type="none" w="med" len="med"/>
                      <a:tailEnd type="none" w="med" len="med"/>
                    </a:lnR>
                    <a:lnT w="9525" cap="flat" cmpd="sng" algn="ctr">
                      <a:solidFill>
                        <a:srgbClr val="E1E4EF"/>
                      </a:solidFill>
                      <a:prstDash val="solid"/>
                      <a:round/>
                      <a:headEnd type="none" w="med" len="med"/>
                      <a:tailEnd type="none" w="med" len="med"/>
                    </a:lnT>
                    <a:lnB w="9525" cap="flat" cmpd="sng" algn="ctr">
                      <a:solidFill>
                        <a:srgbClr val="E1E4EF"/>
                      </a:solidFill>
                      <a:prstDash val="solid"/>
                      <a:round/>
                      <a:headEnd type="none" w="med" len="med"/>
                      <a:tailEnd type="none" w="med" len="med"/>
                    </a:lnB>
                  </a:tcPr>
                </a:tc>
                <a:extLst>
                  <a:ext uri="{0D108BD9-81ED-4DB2-BD59-A6C34878D82A}">
                    <a16:rowId xmlns:a16="http://schemas.microsoft.com/office/drawing/2014/main" val="4207952344"/>
                  </a:ext>
                </a:extLst>
              </a:tr>
            </a:tbl>
          </a:graphicData>
        </a:graphic>
      </p:graphicFrame>
      <p:sp>
        <p:nvSpPr>
          <p:cNvPr id="6" name="Text 3"/>
          <p:cNvSpPr/>
          <p:nvPr/>
        </p:nvSpPr>
        <p:spPr>
          <a:xfrm>
            <a:off x="502920" y="5914164"/>
            <a:ext cx="11155680" cy="457200"/>
          </a:xfrm>
          <a:prstGeom prst="rect">
            <a:avLst/>
          </a:prstGeom>
          <a:noFill/>
          <a:ln/>
        </p:spPr>
        <p:txBody>
          <a:bodyPr wrap="square" rtlCol="0" anchor="ctr"/>
          <a:lstStyle/>
          <a:p>
            <a:pPr marL="0" indent="0">
              <a:buNone/>
            </a:pPr>
            <a:r>
              <a:rPr lang="en-US" sz="1150" i="1" dirty="0">
                <a:solidFill>
                  <a:srgbClr val="5F6368"/>
                </a:solidFill>
                <a:latin typeface="Calibri" pitchFamily="34" charset="0"/>
                <a:ea typeface="Calibri" pitchFamily="34" charset="-122"/>
                <a:cs typeface="Calibri" pitchFamily="34" charset="-120"/>
              </a:rPr>
              <a:t>That's not a knock on any of these vendors. This is a reasonably new requirement for the industry, and our honest read is that it may take a long time to resolve. We'll continue to re-test as the vendor landscape evolves.</a:t>
            </a:r>
            <a:endParaRPr lang="en-US" sz="1150" dirty="0"/>
          </a:p>
        </p:txBody>
      </p:sp>
      <p:sp>
        <p:nvSpPr>
          <p:cNvPr id="8" name="Text 5"/>
          <p:cNvSpPr/>
          <p:nvPr/>
        </p:nvSpPr>
        <p:spPr>
          <a:xfrm>
            <a:off x="11368735" y="6503764"/>
            <a:ext cx="365760" cy="256032"/>
          </a:xfrm>
          <a:prstGeom prst="rect">
            <a:avLst/>
          </a:prstGeom>
          <a:noFill/>
          <a:ln/>
        </p:spPr>
        <p:txBody>
          <a:bodyPr wrap="square" rtlCol="0" anchor="ctr"/>
          <a:lstStyle/>
          <a:p>
            <a:pPr marL="0" indent="0" algn="r">
              <a:buNone/>
            </a:pPr>
            <a:r>
              <a:rPr lang="en-US" sz="900" dirty="0">
                <a:solidFill>
                  <a:srgbClr val="5F6368"/>
                </a:solidFill>
                <a:latin typeface="Calibri" pitchFamily="34" charset="0"/>
                <a:ea typeface="Calibri" pitchFamily="34" charset="-122"/>
                <a:cs typeface="Calibri" pitchFamily="34" charset="-120"/>
              </a:rPr>
              <a:t>4</a:t>
            </a:r>
            <a:endParaRPr lang="en-US" sz="900" dirty="0"/>
          </a:p>
        </p:txBody>
      </p:sp>
      <p:sp>
        <p:nvSpPr>
          <p:cNvPr id="9" name="Text 2">
            <a:extLst>
              <a:ext uri="{FF2B5EF4-FFF2-40B4-BE49-F238E27FC236}">
                <a16:creationId xmlns:a16="http://schemas.microsoft.com/office/drawing/2014/main" id="{DFFACF2A-BAB4-C9B4-5A27-A99DC2EBF3EC}"/>
              </a:ext>
            </a:extLst>
          </p:cNvPr>
          <p:cNvSpPr/>
          <p:nvPr/>
        </p:nvSpPr>
        <p:spPr>
          <a:xfrm>
            <a:off x="518160" y="1223292"/>
            <a:ext cx="11155680" cy="800100"/>
          </a:xfrm>
          <a:prstGeom prst="rect">
            <a:avLst/>
          </a:prstGeom>
          <a:noFill/>
          <a:ln/>
        </p:spPr>
        <p:txBody>
          <a:bodyPr wrap="square" rtlCol="0" anchor="ctr"/>
          <a:lstStyle/>
          <a:p>
            <a:pPr marL="0" indent="0">
              <a:buNone/>
            </a:pPr>
            <a:r>
              <a:rPr lang="en-US" sz="1350" b="1" dirty="0">
                <a:solidFill>
                  <a:srgbClr val="0070C0"/>
                </a:solidFill>
                <a:latin typeface="Calibri" pitchFamily="34" charset="0"/>
                <a:ea typeface="Calibri" pitchFamily="34" charset="-122"/>
                <a:cs typeface="Calibri" pitchFamily="34" charset="-120"/>
              </a:rPr>
              <a:t>Business Directive: </a:t>
            </a:r>
            <a:r>
              <a:rPr lang="en-US" sz="1350" dirty="0">
                <a:solidFill>
                  <a:srgbClr val="333333"/>
                </a:solidFill>
                <a:latin typeface="Calibri" pitchFamily="34" charset="0"/>
                <a:ea typeface="Calibri" pitchFamily="34" charset="-122"/>
                <a:cs typeface="Calibri" pitchFamily="34" charset="-120"/>
              </a:rPr>
              <a:t>AI adds new risk. </a:t>
            </a:r>
            <a:r>
              <a:rPr lang="en-US" sz="1350" b="1" dirty="0">
                <a:solidFill>
                  <a:srgbClr val="0070C0"/>
                </a:solidFill>
                <a:latin typeface="Calibri" pitchFamily="34" charset="0"/>
                <a:ea typeface="Calibri" pitchFamily="34" charset="-122"/>
                <a:cs typeface="Calibri" pitchFamily="34" charset="-120"/>
              </a:rPr>
              <a:t>Make it safe for NexTern, or don’t use it.</a:t>
            </a:r>
          </a:p>
          <a:p>
            <a:pPr marL="0" indent="0">
              <a:buNone/>
            </a:pPr>
            <a:endParaRPr lang="en-US" sz="1350" dirty="0">
              <a:solidFill>
                <a:srgbClr val="333333"/>
              </a:solidFill>
              <a:latin typeface="Calibri" pitchFamily="34" charset="0"/>
              <a:cs typeface="Calibri" pitchFamily="34" charset="-120"/>
            </a:endParaRPr>
          </a:p>
          <a:p>
            <a:pPr marL="0" indent="0">
              <a:buNone/>
            </a:pPr>
            <a:r>
              <a:rPr lang="en-US" sz="1350" b="1" dirty="0"/>
              <a:t>POC Goal: </a:t>
            </a:r>
            <a:r>
              <a:rPr lang="en-US" sz="1350" dirty="0"/>
              <a:t>Test market offerings and define a solution that is safe for NexTern and its clients - if it exists.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a:extLst>
              <a:ext uri="{FF2B5EF4-FFF2-40B4-BE49-F238E27FC236}">
                <a16:creationId xmlns:a16="http://schemas.microsoft.com/office/drawing/2014/main" id="{0AED8054-51FE-EBA5-EA90-98D294FA646D}"/>
              </a:ext>
            </a:extLst>
          </p:cNvPr>
          <p:cNvSpPr/>
          <p:nvPr/>
        </p:nvSpPr>
        <p:spPr>
          <a:xfrm>
            <a:off x="502920" y="576072"/>
            <a:ext cx="10515600" cy="640080"/>
          </a:xfrm>
          <a:prstGeom prst="rect">
            <a:avLst/>
          </a:prstGeom>
          <a:noFill/>
          <a:ln/>
        </p:spPr>
        <p:txBody>
          <a:bodyPr wrap="square" rtlCol="0" anchor="ctr"/>
          <a:lstStyle/>
          <a:p>
            <a:pPr marL="0" indent="0">
              <a:buNone/>
            </a:pPr>
            <a:r>
              <a:rPr lang="en-US" sz="2800" b="1" dirty="0">
                <a:solidFill>
                  <a:srgbClr val="082744"/>
                </a:solidFill>
                <a:latin typeface="Cambria" pitchFamily="34" charset="0"/>
                <a:ea typeface="Cambria" pitchFamily="34" charset="-122"/>
                <a:cs typeface="Cambria" pitchFamily="34" charset="-120"/>
              </a:rPr>
              <a:t>The case for Private AI</a:t>
            </a:r>
            <a:endParaRPr lang="en-US" sz="2800" dirty="0"/>
          </a:p>
        </p:txBody>
      </p:sp>
      <p:sp>
        <p:nvSpPr>
          <p:cNvPr id="4" name="Text 2">
            <a:extLst>
              <a:ext uri="{FF2B5EF4-FFF2-40B4-BE49-F238E27FC236}">
                <a16:creationId xmlns:a16="http://schemas.microsoft.com/office/drawing/2014/main" id="{AD040920-7699-E9DF-E48B-9899B47901B2}"/>
              </a:ext>
            </a:extLst>
          </p:cNvPr>
          <p:cNvSpPr/>
          <p:nvPr/>
        </p:nvSpPr>
        <p:spPr>
          <a:xfrm>
            <a:off x="502920" y="1371600"/>
            <a:ext cx="11155680" cy="640080"/>
          </a:xfrm>
          <a:prstGeom prst="rect">
            <a:avLst/>
          </a:prstGeom>
          <a:noFill/>
          <a:ln/>
        </p:spPr>
        <p:txBody>
          <a:bodyPr wrap="square" rtlCol="0" anchor="ctr"/>
          <a:lstStyle/>
          <a:p>
            <a:pPr marL="0" indent="0">
              <a:buNone/>
            </a:pPr>
            <a:r>
              <a:rPr lang="en-US" sz="1500" i="1" dirty="0">
                <a:solidFill>
                  <a:srgbClr val="333333"/>
                </a:solidFill>
                <a:latin typeface="Calibri" pitchFamily="34" charset="0"/>
                <a:ea typeface="Calibri" pitchFamily="34" charset="-122"/>
                <a:cs typeface="Calibri" pitchFamily="34" charset="-120"/>
              </a:rPr>
              <a:t>Driven by surging security concerns, strict data sovereignty regulations, and the rapid rise of autonomous AI agents, organizations in regulated sectors are moving beyond basic cloud APIs to deploy fully self-hosted, offline AI stacks</a:t>
            </a:r>
            <a:endParaRPr lang="en-US" sz="1500" dirty="0"/>
          </a:p>
        </p:txBody>
      </p:sp>
      <p:sp>
        <p:nvSpPr>
          <p:cNvPr id="5" name="Text 2">
            <a:extLst>
              <a:ext uri="{FF2B5EF4-FFF2-40B4-BE49-F238E27FC236}">
                <a16:creationId xmlns:a16="http://schemas.microsoft.com/office/drawing/2014/main" id="{131D78C0-C3DE-9B22-E9F4-4BC9E920C582}"/>
              </a:ext>
            </a:extLst>
          </p:cNvPr>
          <p:cNvSpPr/>
          <p:nvPr/>
        </p:nvSpPr>
        <p:spPr>
          <a:xfrm>
            <a:off x="502920" y="2312924"/>
            <a:ext cx="5593079" cy="3022092"/>
          </a:xfrm>
          <a:prstGeom prst="rect">
            <a:avLst/>
          </a:prstGeom>
          <a:noFill/>
          <a:ln/>
        </p:spPr>
        <p:txBody>
          <a:bodyPr wrap="square" rtlCol="0" anchor="t"/>
          <a:lstStyle/>
          <a:p>
            <a:pPr marL="0" indent="0">
              <a:buNone/>
            </a:pPr>
            <a:r>
              <a:rPr lang="en-US" sz="1400" b="1" dirty="0">
                <a:solidFill>
                  <a:srgbClr val="082744"/>
                </a:solidFill>
                <a:latin typeface="Calibri" pitchFamily="34" charset="0"/>
                <a:cs typeface="Calibri" pitchFamily="34" charset="-120"/>
              </a:rPr>
              <a:t>Key Drivers:</a:t>
            </a:r>
          </a:p>
          <a:p>
            <a:pPr marL="0" indent="0">
              <a:buNone/>
            </a:pPr>
            <a:endParaRPr lang="en-US" sz="1400" b="1" dirty="0">
              <a:solidFill>
                <a:srgbClr val="082744"/>
              </a:solidFill>
              <a:latin typeface="Calibri" pitchFamily="34" charset="0"/>
              <a:cs typeface="Calibri" pitchFamily="34" charset="-120"/>
            </a:endParaRPr>
          </a:p>
          <a:p>
            <a:pPr marL="285750" indent="-285750">
              <a:buFont typeface="Arial" panose="020B0604020202020204" pitchFamily="34" charset="0"/>
              <a:buChar char="•"/>
            </a:pPr>
            <a:r>
              <a:rPr lang="en-US" sz="1400" b="1" dirty="0">
                <a:solidFill>
                  <a:srgbClr val="082744"/>
                </a:solidFill>
                <a:latin typeface="Calibri" pitchFamily="34" charset="0"/>
                <a:cs typeface="Calibri" pitchFamily="34" charset="-120"/>
              </a:rPr>
              <a:t>Customer Data Safety</a:t>
            </a:r>
          </a:p>
          <a:p>
            <a:pPr marL="742950" lvl="1" indent="-285750">
              <a:buFont typeface="Arial" panose="020B0604020202020204" pitchFamily="34" charset="0"/>
              <a:buChar char="•"/>
            </a:pPr>
            <a:r>
              <a:rPr lang="en-US" sz="1400" dirty="0">
                <a:solidFill>
                  <a:srgbClr val="082744"/>
                </a:solidFill>
                <a:latin typeface="Calibri" pitchFamily="34" charset="0"/>
                <a:cs typeface="Calibri" pitchFamily="34" charset="-120"/>
              </a:rPr>
              <a:t>Issue: Customers are demanding that their data and IP not be used with public models.</a:t>
            </a:r>
          </a:p>
          <a:p>
            <a:pPr marL="742950" lvl="1" indent="-285750">
              <a:buFont typeface="Arial" panose="020B0604020202020204" pitchFamily="34" charset="0"/>
              <a:buChar char="•"/>
            </a:pPr>
            <a:r>
              <a:rPr lang="en-US" sz="1400" dirty="0">
                <a:solidFill>
                  <a:srgbClr val="082744"/>
                </a:solidFill>
                <a:latin typeface="Calibri" pitchFamily="34" charset="0"/>
                <a:cs typeface="Calibri" pitchFamily="34" charset="-120"/>
              </a:rPr>
              <a:t>Resolution: With Private LLM all data stays within NexTern security boundaries.</a:t>
            </a:r>
          </a:p>
          <a:p>
            <a:pPr marL="285750" indent="-285750">
              <a:buFont typeface="Arial" panose="020B0604020202020204" pitchFamily="34" charset="0"/>
              <a:buChar char="•"/>
            </a:pPr>
            <a:r>
              <a:rPr lang="en-US" sz="1400" b="1" dirty="0">
                <a:solidFill>
                  <a:srgbClr val="082744"/>
                </a:solidFill>
                <a:latin typeface="Calibri" pitchFamily="34" charset="0"/>
                <a:cs typeface="Calibri" pitchFamily="34" charset="-120"/>
              </a:rPr>
              <a:t>AI Market Insulation</a:t>
            </a:r>
          </a:p>
          <a:p>
            <a:pPr marL="742950" lvl="1" indent="-285750">
              <a:buFont typeface="Arial" panose="020B0604020202020204" pitchFamily="34" charset="0"/>
              <a:buChar char="•"/>
            </a:pPr>
            <a:r>
              <a:rPr lang="en-US" sz="1400" dirty="0">
                <a:solidFill>
                  <a:srgbClr val="082744"/>
                </a:solidFill>
                <a:latin typeface="Calibri" pitchFamily="34" charset="0"/>
                <a:cs typeface="Calibri" pitchFamily="34" charset="-120"/>
              </a:rPr>
              <a:t> Issues: </a:t>
            </a:r>
          </a:p>
          <a:p>
            <a:pPr marL="1200150" lvl="2" indent="-285750">
              <a:buFont typeface="Arial" panose="020B0604020202020204" pitchFamily="34" charset="0"/>
              <a:buChar char="•"/>
            </a:pPr>
            <a:r>
              <a:rPr lang="en-US" sz="1400" dirty="0">
                <a:solidFill>
                  <a:srgbClr val="082744"/>
                </a:solidFill>
                <a:latin typeface="Calibri" pitchFamily="34" charset="0"/>
                <a:cs typeface="Calibri" pitchFamily="34" charset="-120"/>
              </a:rPr>
              <a:t>Costs, availability, terms are subject to 3</a:t>
            </a:r>
            <a:r>
              <a:rPr lang="en-US" sz="1400" baseline="30000" dirty="0">
                <a:solidFill>
                  <a:srgbClr val="082744"/>
                </a:solidFill>
                <a:latin typeface="Calibri" pitchFamily="34" charset="0"/>
                <a:cs typeface="Calibri" pitchFamily="34" charset="-120"/>
              </a:rPr>
              <a:t>rd</a:t>
            </a:r>
            <a:r>
              <a:rPr lang="en-US" sz="1400" dirty="0">
                <a:solidFill>
                  <a:srgbClr val="082744"/>
                </a:solidFill>
                <a:latin typeface="Calibri" pitchFamily="34" charset="0"/>
                <a:cs typeface="Calibri" pitchFamily="34" charset="-120"/>
              </a:rPr>
              <a:t> party decisions</a:t>
            </a:r>
          </a:p>
          <a:p>
            <a:pPr marL="1200150" lvl="2" indent="-285750">
              <a:buFont typeface="Arial" panose="020B0604020202020204" pitchFamily="34" charset="0"/>
              <a:buChar char="•"/>
            </a:pPr>
            <a:r>
              <a:rPr lang="en-US" sz="1400" dirty="0">
                <a:solidFill>
                  <a:srgbClr val="082744"/>
                </a:solidFill>
                <a:latin typeface="Calibri" pitchFamily="34" charset="0"/>
                <a:cs typeface="Calibri" pitchFamily="34" charset="-120"/>
              </a:rPr>
              <a:t>AI vendors will become a control point in your business. </a:t>
            </a:r>
          </a:p>
          <a:p>
            <a:pPr marL="742950" lvl="1" indent="-285750">
              <a:buFont typeface="Arial" panose="020B0604020202020204" pitchFamily="34" charset="0"/>
              <a:buChar char="•"/>
            </a:pPr>
            <a:r>
              <a:rPr lang="en-US" sz="1400" dirty="0">
                <a:solidFill>
                  <a:srgbClr val="082744"/>
                </a:solidFill>
                <a:latin typeface="Calibri" pitchFamily="34" charset="0"/>
                <a:cs typeface="Calibri" pitchFamily="34" charset="-120"/>
              </a:rPr>
              <a:t>Resolution: NexTern maintains their control, costs and quality of service are predictable and manageable.</a:t>
            </a:r>
          </a:p>
        </p:txBody>
      </p:sp>
      <p:pic>
        <p:nvPicPr>
          <p:cNvPr id="7" name="Image 0" descr="img/private-llm-illustration.png">
            <a:extLst>
              <a:ext uri="{FF2B5EF4-FFF2-40B4-BE49-F238E27FC236}">
                <a16:creationId xmlns:a16="http://schemas.microsoft.com/office/drawing/2014/main" id="{7C81C967-CA34-5997-8438-D62C496FB597}"/>
              </a:ext>
            </a:extLst>
          </p:cNvPr>
          <p:cNvPicPr>
            <a:picLocks noChangeAspect="1"/>
          </p:cNvPicPr>
          <p:nvPr/>
        </p:nvPicPr>
        <p:blipFill>
          <a:blip r:embed="rId2"/>
          <a:srcRect l="12413" r="15017"/>
          <a:stretch>
            <a:fillRect/>
          </a:stretch>
        </p:blipFill>
        <p:spPr>
          <a:xfrm>
            <a:off x="6344239" y="2103120"/>
            <a:ext cx="4135160" cy="3383280"/>
          </a:xfrm>
          <a:prstGeom prst="rect">
            <a:avLst/>
          </a:prstGeom>
        </p:spPr>
      </p:pic>
      <p:sp>
        <p:nvSpPr>
          <p:cNvPr id="8" name="Shape 12">
            <a:extLst>
              <a:ext uri="{FF2B5EF4-FFF2-40B4-BE49-F238E27FC236}">
                <a16:creationId xmlns:a16="http://schemas.microsoft.com/office/drawing/2014/main" id="{077A9A5F-310F-2959-2D82-EC21CFA6C26E}"/>
              </a:ext>
            </a:extLst>
          </p:cNvPr>
          <p:cNvSpPr/>
          <p:nvPr/>
        </p:nvSpPr>
        <p:spPr>
          <a:xfrm>
            <a:off x="502920" y="5636260"/>
            <a:ext cx="11155680" cy="777240"/>
          </a:xfrm>
          <a:prstGeom prst="roundRect">
            <a:avLst>
              <a:gd name="adj" fmla="val 7059"/>
            </a:avLst>
          </a:prstGeom>
          <a:solidFill>
            <a:srgbClr val="EEF4FF"/>
          </a:solidFill>
          <a:ln w="9525">
            <a:solidFill>
              <a:srgbClr val="0D3B66"/>
            </a:solidFill>
            <a:prstDash val="solid"/>
          </a:ln>
        </p:spPr>
        <p:txBody>
          <a:bodyPr/>
          <a:lstStyle/>
          <a:p>
            <a:endParaRPr lang="en-US"/>
          </a:p>
        </p:txBody>
      </p:sp>
      <p:sp>
        <p:nvSpPr>
          <p:cNvPr id="9" name="Text 13">
            <a:extLst>
              <a:ext uri="{FF2B5EF4-FFF2-40B4-BE49-F238E27FC236}">
                <a16:creationId xmlns:a16="http://schemas.microsoft.com/office/drawing/2014/main" id="{4AAE9B79-2C61-4ADC-FB5E-980F12CD79BD}"/>
              </a:ext>
            </a:extLst>
          </p:cNvPr>
          <p:cNvSpPr/>
          <p:nvPr/>
        </p:nvSpPr>
        <p:spPr>
          <a:xfrm>
            <a:off x="731520" y="5709412"/>
            <a:ext cx="10698480" cy="640080"/>
          </a:xfrm>
          <a:prstGeom prst="rect">
            <a:avLst/>
          </a:prstGeom>
          <a:noFill/>
          <a:ln/>
        </p:spPr>
        <p:txBody>
          <a:bodyPr wrap="square" rtlCol="0" anchor="ctr"/>
          <a:lstStyle/>
          <a:p>
            <a:pPr marL="0" indent="0">
              <a:buNone/>
            </a:pPr>
            <a:r>
              <a:rPr lang="en-US" sz="1150" dirty="0">
                <a:solidFill>
                  <a:srgbClr val="143A63"/>
                </a:solidFill>
                <a:latin typeface="Calibri" pitchFamily="34" charset="0"/>
                <a:ea typeface="Calibri" pitchFamily="34" charset="-122"/>
                <a:cs typeface="Calibri" pitchFamily="34" charset="-120"/>
              </a:rPr>
              <a:t>Customer data and IP stay inside NexTern's boundary by default, no exceptions. The gateway still provides a path to frontier models, but only for work touching no customer data and no IP, and only when CTO, </a:t>
            </a:r>
            <a:r>
              <a:rPr lang="en-US" sz="1150">
                <a:solidFill>
                  <a:srgbClr val="143A63"/>
                </a:solidFill>
                <a:latin typeface="Calibri" pitchFamily="34" charset="0"/>
                <a:ea typeface="Calibri" pitchFamily="34" charset="-122"/>
                <a:cs typeface="Calibri" pitchFamily="34" charset="-120"/>
              </a:rPr>
              <a:t>CTO Delegate or IT Manager </a:t>
            </a:r>
            <a:r>
              <a:rPr lang="en-US" sz="1150" dirty="0">
                <a:solidFill>
                  <a:srgbClr val="143A63"/>
                </a:solidFill>
                <a:latin typeface="Calibri" pitchFamily="34" charset="0"/>
                <a:ea typeface="Calibri" pitchFamily="34" charset="-122"/>
                <a:cs typeface="Calibri" pitchFamily="34" charset="-120"/>
              </a:rPr>
              <a:t>specifically approves it.</a:t>
            </a:r>
            <a:endParaRPr lang="en-US" sz="1150" dirty="0"/>
          </a:p>
        </p:txBody>
      </p:sp>
    </p:spTree>
    <p:extLst>
      <p:ext uri="{BB962C8B-B14F-4D97-AF65-F5344CB8AC3E}">
        <p14:creationId xmlns:p14="http://schemas.microsoft.com/office/powerpoint/2010/main" val="13400633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5A690F-2FED-DA35-28B8-59CC598F6DD9}"/>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62FAFBC0-C997-2958-BCB8-CCE748629FA8}"/>
              </a:ext>
            </a:extLst>
          </p:cNvPr>
          <p:cNvSpPr/>
          <p:nvPr/>
        </p:nvSpPr>
        <p:spPr>
          <a:xfrm>
            <a:off x="502920" y="576072"/>
            <a:ext cx="10515600" cy="640080"/>
          </a:xfrm>
          <a:prstGeom prst="rect">
            <a:avLst/>
          </a:prstGeom>
          <a:noFill/>
          <a:ln/>
        </p:spPr>
        <p:txBody>
          <a:bodyPr wrap="square" rtlCol="0" anchor="ctr"/>
          <a:lstStyle/>
          <a:p>
            <a:pPr marL="0" indent="0">
              <a:buNone/>
            </a:pPr>
            <a:r>
              <a:rPr lang="en-US" sz="2800" b="1" dirty="0">
                <a:solidFill>
                  <a:srgbClr val="082744"/>
                </a:solidFill>
                <a:latin typeface="Cambria" pitchFamily="34" charset="0"/>
                <a:ea typeface="Cambria" pitchFamily="34" charset="-122"/>
                <a:cs typeface="Cambria" pitchFamily="34" charset="-120"/>
              </a:rPr>
              <a:t>Benefits for NexTern</a:t>
            </a:r>
            <a:endParaRPr lang="en-US" sz="2800" dirty="0"/>
          </a:p>
        </p:txBody>
      </p:sp>
      <p:sp>
        <p:nvSpPr>
          <p:cNvPr id="4" name="Text 2">
            <a:extLst>
              <a:ext uri="{FF2B5EF4-FFF2-40B4-BE49-F238E27FC236}">
                <a16:creationId xmlns:a16="http://schemas.microsoft.com/office/drawing/2014/main" id="{FB277C91-0C7F-4FE0-3D0D-740FDDFF76B5}"/>
              </a:ext>
            </a:extLst>
          </p:cNvPr>
          <p:cNvSpPr/>
          <p:nvPr/>
        </p:nvSpPr>
        <p:spPr>
          <a:xfrm>
            <a:off x="502920" y="1371600"/>
            <a:ext cx="11155680" cy="640080"/>
          </a:xfrm>
          <a:prstGeom prst="rect">
            <a:avLst/>
          </a:prstGeom>
          <a:noFill/>
          <a:ln/>
        </p:spPr>
        <p:txBody>
          <a:bodyPr wrap="square" rtlCol="0" anchor="ctr"/>
          <a:lstStyle/>
          <a:p>
            <a:pPr marL="0" indent="0">
              <a:buNone/>
            </a:pPr>
            <a:r>
              <a:rPr lang="en-US" sz="1500" i="1" dirty="0">
                <a:solidFill>
                  <a:srgbClr val="333333"/>
                </a:solidFill>
                <a:latin typeface="Calibri" pitchFamily="34" charset="0"/>
                <a:ea typeface="Calibri" pitchFamily="34" charset="-122"/>
                <a:cs typeface="Calibri" pitchFamily="34" charset="-120"/>
              </a:rPr>
              <a:t>Private, self-hosted AI gives NexTern direct operational control over its AI platform, keeping customer data in-house and avoiding disruption from vendor pricing changes, outages, or policy shifts.</a:t>
            </a:r>
            <a:endParaRPr lang="en-US" sz="1500" dirty="0"/>
          </a:p>
        </p:txBody>
      </p:sp>
      <p:sp>
        <p:nvSpPr>
          <p:cNvPr id="5" name="Text 2">
            <a:extLst>
              <a:ext uri="{FF2B5EF4-FFF2-40B4-BE49-F238E27FC236}">
                <a16:creationId xmlns:a16="http://schemas.microsoft.com/office/drawing/2014/main" id="{92B07A60-FFD8-7DE5-BFED-47421D26D486}"/>
              </a:ext>
            </a:extLst>
          </p:cNvPr>
          <p:cNvSpPr/>
          <p:nvPr/>
        </p:nvSpPr>
        <p:spPr>
          <a:xfrm>
            <a:off x="502920" y="2312924"/>
            <a:ext cx="5593079" cy="3022092"/>
          </a:xfrm>
          <a:prstGeom prst="rect">
            <a:avLst/>
          </a:prstGeom>
          <a:noFill/>
          <a:ln/>
        </p:spPr>
        <p:txBody>
          <a:bodyPr wrap="square" rtlCol="0" anchor="t"/>
          <a:lstStyle/>
          <a:p>
            <a:pPr marL="285750" indent="-285750">
              <a:buFont typeface="Arial" panose="020B0604020202020204" pitchFamily="34" charset="0"/>
              <a:buChar char="•"/>
            </a:pPr>
            <a:r>
              <a:rPr lang="en-US" sz="1400" dirty="0">
                <a:solidFill>
                  <a:srgbClr val="082744"/>
                </a:solidFill>
                <a:latin typeface="Calibri" pitchFamily="34" charset="0"/>
                <a:cs typeface="Calibri" pitchFamily="34" charset="-120"/>
              </a:rPr>
              <a:t>Private, cost-controlled, audit ready AI</a:t>
            </a:r>
          </a:p>
          <a:p>
            <a:pPr marL="285750" indent="-285750">
              <a:buFont typeface="Arial" panose="020B0604020202020204" pitchFamily="34" charset="0"/>
              <a:buChar char="•"/>
            </a:pPr>
            <a:r>
              <a:rPr lang="en-US" sz="1400" dirty="0">
                <a:solidFill>
                  <a:srgbClr val="082744"/>
                </a:solidFill>
                <a:latin typeface="Calibri" pitchFamily="34" charset="0"/>
                <a:cs typeface="Calibri" pitchFamily="34" charset="-120"/>
              </a:rPr>
              <a:t>You own your AI control point</a:t>
            </a:r>
          </a:p>
          <a:p>
            <a:pPr marL="285750" indent="-285750">
              <a:buFont typeface="Arial" panose="020B0604020202020204" pitchFamily="34" charset="0"/>
              <a:buChar char="•"/>
            </a:pPr>
            <a:endParaRPr lang="en-US" sz="1400" dirty="0">
              <a:solidFill>
                <a:srgbClr val="082744"/>
              </a:solidFill>
              <a:latin typeface="Calibri" pitchFamily="34" charset="0"/>
              <a:cs typeface="Calibri" pitchFamily="34" charset="-120"/>
            </a:endParaRPr>
          </a:p>
          <a:p>
            <a:pPr marL="285750" indent="-285750">
              <a:buFont typeface="Arial" panose="020B0604020202020204" pitchFamily="34" charset="0"/>
              <a:buChar char="•"/>
            </a:pPr>
            <a:r>
              <a:rPr lang="en-US" sz="1400" dirty="0">
                <a:solidFill>
                  <a:srgbClr val="082744"/>
                </a:solidFill>
                <a:latin typeface="Calibri" pitchFamily="34" charset="0"/>
                <a:cs typeface="Calibri" pitchFamily="34" charset="-120"/>
              </a:rPr>
              <a:t>Issues Private AI will address:</a:t>
            </a:r>
          </a:p>
          <a:p>
            <a:pPr marL="742950" lvl="1" indent="-285750">
              <a:buFont typeface="Arial" panose="020B0604020202020204" pitchFamily="34" charset="0"/>
              <a:buChar char="•"/>
            </a:pPr>
            <a:r>
              <a:rPr lang="en-US" sz="1400" dirty="0">
                <a:solidFill>
                  <a:srgbClr val="082744"/>
                </a:solidFill>
                <a:latin typeface="Calibri" pitchFamily="34" charset="0"/>
                <a:cs typeface="Calibri" pitchFamily="34" charset="-120"/>
              </a:rPr>
              <a:t>Provides access to NexTern data via AI, with full role-based access control (RBAC).</a:t>
            </a:r>
          </a:p>
          <a:p>
            <a:pPr marL="742950" lvl="1" indent="-285750">
              <a:buFont typeface="Arial" panose="020B0604020202020204" pitchFamily="34" charset="0"/>
              <a:buChar char="•"/>
            </a:pPr>
            <a:r>
              <a:rPr lang="en-US" sz="1400" dirty="0">
                <a:solidFill>
                  <a:srgbClr val="082744"/>
                </a:solidFill>
                <a:latin typeface="Calibri" pitchFamily="34" charset="0"/>
                <a:cs typeface="Calibri" pitchFamily="34" charset="-120"/>
              </a:rPr>
              <a:t>Enables vastly improved data curation capability.</a:t>
            </a:r>
          </a:p>
          <a:p>
            <a:pPr marL="742950" lvl="1" indent="-285750">
              <a:buFont typeface="Arial" panose="020B0604020202020204" pitchFamily="34" charset="0"/>
              <a:buChar char="•"/>
            </a:pPr>
            <a:r>
              <a:rPr lang="en-US" sz="1400" dirty="0">
                <a:solidFill>
                  <a:srgbClr val="082744"/>
                </a:solidFill>
                <a:latin typeface="Calibri" pitchFamily="34" charset="0"/>
                <a:cs typeface="Calibri" pitchFamily="34" charset="-120"/>
              </a:rPr>
              <a:t>Supports advanced development of NexTern-specific AI workflows and applications.</a:t>
            </a:r>
          </a:p>
          <a:p>
            <a:pPr marL="742950" lvl="1" indent="-285750">
              <a:buFont typeface="Arial" panose="020B0604020202020204" pitchFamily="34" charset="0"/>
              <a:buChar char="•"/>
            </a:pPr>
            <a:r>
              <a:rPr lang="en-US" sz="1400" dirty="0">
                <a:solidFill>
                  <a:srgbClr val="082744"/>
                </a:solidFill>
                <a:latin typeface="Calibri" pitchFamily="34" charset="0"/>
                <a:cs typeface="Calibri" pitchFamily="34" charset="-120"/>
              </a:rPr>
              <a:t>Control Plane enables centralized management and governance of AI use across NexTern.</a:t>
            </a:r>
          </a:p>
          <a:p>
            <a:pPr marL="742950" lvl="1" indent="-285750">
              <a:buFont typeface="Arial" panose="020B0604020202020204" pitchFamily="34" charset="0"/>
              <a:buChar char="•"/>
            </a:pPr>
            <a:r>
              <a:rPr lang="en-US" sz="1400" dirty="0">
                <a:solidFill>
                  <a:srgbClr val="082744"/>
                </a:solidFill>
                <a:latin typeface="Calibri" pitchFamily="34" charset="0"/>
                <a:cs typeface="Calibri" pitchFamily="34" charset="-120"/>
              </a:rPr>
              <a:t>Enables transparency across all business processes.</a:t>
            </a:r>
          </a:p>
          <a:p>
            <a:pPr marL="742950" lvl="1" indent="-285750">
              <a:buFont typeface="Arial" panose="020B0604020202020204" pitchFamily="34" charset="0"/>
              <a:buChar char="•"/>
            </a:pPr>
            <a:endParaRPr lang="en-US" sz="1400" dirty="0">
              <a:solidFill>
                <a:srgbClr val="082744"/>
              </a:solidFill>
              <a:latin typeface="Calibri" pitchFamily="34" charset="0"/>
              <a:cs typeface="Calibri" pitchFamily="34" charset="-120"/>
            </a:endParaRPr>
          </a:p>
          <a:p>
            <a:pPr marL="1200150" lvl="2" indent="-285750">
              <a:buFont typeface="Arial" panose="020B0604020202020204" pitchFamily="34" charset="0"/>
              <a:buChar char="•"/>
            </a:pPr>
            <a:endParaRPr lang="en-US" sz="1400" dirty="0">
              <a:solidFill>
                <a:srgbClr val="082744"/>
              </a:solidFill>
              <a:latin typeface="Calibri" pitchFamily="34" charset="0"/>
              <a:cs typeface="Calibri" pitchFamily="34" charset="-120"/>
            </a:endParaRPr>
          </a:p>
        </p:txBody>
      </p:sp>
      <p:sp>
        <p:nvSpPr>
          <p:cNvPr id="8" name="Shape 12">
            <a:extLst>
              <a:ext uri="{FF2B5EF4-FFF2-40B4-BE49-F238E27FC236}">
                <a16:creationId xmlns:a16="http://schemas.microsoft.com/office/drawing/2014/main" id="{2941D330-C817-02CB-0650-37768CECA2F9}"/>
              </a:ext>
            </a:extLst>
          </p:cNvPr>
          <p:cNvSpPr/>
          <p:nvPr/>
        </p:nvSpPr>
        <p:spPr>
          <a:xfrm>
            <a:off x="502920" y="5640832"/>
            <a:ext cx="11155680" cy="777240"/>
          </a:xfrm>
          <a:prstGeom prst="roundRect">
            <a:avLst>
              <a:gd name="adj" fmla="val 7059"/>
            </a:avLst>
          </a:prstGeom>
          <a:solidFill>
            <a:srgbClr val="EEF4FF"/>
          </a:solidFill>
          <a:ln w="9525">
            <a:solidFill>
              <a:srgbClr val="0D3B66"/>
            </a:solidFill>
            <a:prstDash val="solid"/>
          </a:ln>
        </p:spPr>
        <p:txBody>
          <a:bodyPr/>
          <a:lstStyle/>
          <a:p>
            <a:endParaRPr lang="en-US"/>
          </a:p>
        </p:txBody>
      </p:sp>
      <p:sp>
        <p:nvSpPr>
          <p:cNvPr id="9" name="Text 13">
            <a:extLst>
              <a:ext uri="{FF2B5EF4-FFF2-40B4-BE49-F238E27FC236}">
                <a16:creationId xmlns:a16="http://schemas.microsoft.com/office/drawing/2014/main" id="{5742595D-60D7-379E-7568-6CE259BF70AF}"/>
              </a:ext>
            </a:extLst>
          </p:cNvPr>
          <p:cNvSpPr/>
          <p:nvPr/>
        </p:nvSpPr>
        <p:spPr>
          <a:xfrm>
            <a:off x="731520" y="5709412"/>
            <a:ext cx="10698480" cy="640080"/>
          </a:xfrm>
          <a:prstGeom prst="rect">
            <a:avLst/>
          </a:prstGeom>
          <a:noFill/>
          <a:ln/>
        </p:spPr>
        <p:txBody>
          <a:bodyPr wrap="square" rtlCol="0" anchor="ctr"/>
          <a:lstStyle/>
          <a:p>
            <a:pPr marL="0" indent="0">
              <a:buNone/>
            </a:pPr>
            <a:r>
              <a:rPr lang="en-US" sz="1150" dirty="0">
                <a:solidFill>
                  <a:srgbClr val="143A63"/>
                </a:solidFill>
                <a:latin typeface="Calibri" pitchFamily="34" charset="0"/>
                <a:ea typeface="Calibri" pitchFamily="34" charset="-122"/>
                <a:cs typeface="Calibri" pitchFamily="34" charset="-120"/>
              </a:rPr>
              <a:t>Customer data and IP stay inside NexTern's boundary by default, no exceptions. The gateway still provides a path to frontier models, but only for work touching no customer data and no IP, and only when CTO, </a:t>
            </a:r>
            <a:r>
              <a:rPr lang="en-US" sz="1150">
                <a:solidFill>
                  <a:srgbClr val="143A63"/>
                </a:solidFill>
                <a:latin typeface="Calibri" pitchFamily="34" charset="0"/>
                <a:ea typeface="Calibri" pitchFamily="34" charset="-122"/>
                <a:cs typeface="Calibri" pitchFamily="34" charset="-120"/>
              </a:rPr>
              <a:t>CTO Delegate or IT Manager </a:t>
            </a:r>
            <a:r>
              <a:rPr lang="en-US" sz="1150" dirty="0">
                <a:solidFill>
                  <a:srgbClr val="143A63"/>
                </a:solidFill>
                <a:latin typeface="Calibri" pitchFamily="34" charset="0"/>
                <a:ea typeface="Calibri" pitchFamily="34" charset="-122"/>
                <a:cs typeface="Calibri" pitchFamily="34" charset="-120"/>
              </a:rPr>
              <a:t>specifically approves it.</a:t>
            </a:r>
            <a:endParaRPr lang="en-US" sz="1150" dirty="0"/>
          </a:p>
        </p:txBody>
      </p:sp>
      <p:pic>
        <p:nvPicPr>
          <p:cNvPr id="2" name="Picture 1" descr="NVIDIA HPE Private Cloud AI PCAI Family.">
            <a:extLst>
              <a:ext uri="{FF2B5EF4-FFF2-40B4-BE49-F238E27FC236}">
                <a16:creationId xmlns:a16="http://schemas.microsoft.com/office/drawing/2014/main" id="{10083741-A829-19CB-4CFB-A0787B407FC4}"/>
              </a:ext>
            </a:extLst>
          </p:cNvPr>
          <p:cNvPicPr>
            <a:picLocks noChangeAspect="1"/>
          </p:cNvPicPr>
          <p:nvPr/>
        </p:nvPicPr>
        <p:blipFill>
          <a:blip r:embed="rId3"/>
          <a:stretch>
            <a:fillRect/>
          </a:stretch>
        </p:blipFill>
        <p:spPr>
          <a:xfrm>
            <a:off x="6179206" y="2312924"/>
            <a:ext cx="4191637" cy="2357930"/>
          </a:xfrm>
          <a:prstGeom prst="rect">
            <a:avLst/>
          </a:prstGeom>
        </p:spPr>
      </p:pic>
      <p:pic>
        <p:nvPicPr>
          <p:cNvPr id="6" name="Picture 5">
            <a:extLst>
              <a:ext uri="{FF2B5EF4-FFF2-40B4-BE49-F238E27FC236}">
                <a16:creationId xmlns:a16="http://schemas.microsoft.com/office/drawing/2014/main" id="{DE7834CC-1E48-8653-0362-4108F403EF2B}"/>
              </a:ext>
            </a:extLst>
          </p:cNvPr>
          <p:cNvPicPr>
            <a:picLocks noChangeAspect="1"/>
          </p:cNvPicPr>
          <p:nvPr/>
        </p:nvPicPr>
        <p:blipFill>
          <a:blip r:embed="rId4"/>
          <a:stretch>
            <a:fillRect/>
          </a:stretch>
        </p:blipFill>
        <p:spPr>
          <a:xfrm>
            <a:off x="10043313" y="2084832"/>
            <a:ext cx="1386687" cy="2240033"/>
          </a:xfrm>
          <a:prstGeom prst="rect">
            <a:avLst/>
          </a:prstGeom>
        </p:spPr>
      </p:pic>
    </p:spTree>
    <p:extLst>
      <p:ext uri="{BB962C8B-B14F-4D97-AF65-F5344CB8AC3E}">
        <p14:creationId xmlns:p14="http://schemas.microsoft.com/office/powerpoint/2010/main" val="25168480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3A3330-0146-9F79-96FB-AEA9CB807170}"/>
            </a:ext>
          </a:extLst>
        </p:cNvPr>
        <p:cNvGrpSpPr/>
        <p:nvPr/>
      </p:nvGrpSpPr>
      <p:grpSpPr>
        <a:xfrm>
          <a:off x="0" y="0"/>
          <a:ext cx="0" cy="0"/>
          <a:chOff x="0" y="0"/>
          <a:chExt cx="0" cy="0"/>
        </a:xfrm>
      </p:grpSpPr>
      <p:sp>
        <p:nvSpPr>
          <p:cNvPr id="2" name="Text 1">
            <a:extLst>
              <a:ext uri="{FF2B5EF4-FFF2-40B4-BE49-F238E27FC236}">
                <a16:creationId xmlns:a16="http://schemas.microsoft.com/office/drawing/2014/main" id="{CA3C74CF-4CB3-F992-A5FB-70183BE7DD5F}"/>
              </a:ext>
            </a:extLst>
          </p:cNvPr>
          <p:cNvSpPr/>
          <p:nvPr/>
        </p:nvSpPr>
        <p:spPr>
          <a:xfrm>
            <a:off x="502920" y="404628"/>
            <a:ext cx="10515600" cy="640080"/>
          </a:xfrm>
          <a:prstGeom prst="rect">
            <a:avLst/>
          </a:prstGeom>
          <a:noFill/>
          <a:ln/>
        </p:spPr>
        <p:txBody>
          <a:bodyPr wrap="square" rtlCol="0" anchor="ctr"/>
          <a:lstStyle/>
          <a:p>
            <a:pPr marL="0" indent="0">
              <a:buNone/>
            </a:pPr>
            <a:r>
              <a:rPr lang="en-US" sz="2800" b="1" dirty="0">
                <a:solidFill>
                  <a:srgbClr val="082744"/>
                </a:solidFill>
                <a:latin typeface="Cambria" pitchFamily="34" charset="0"/>
              </a:rPr>
              <a:t>Cost Comparison: Claude Enterprise vs Private AI</a:t>
            </a:r>
          </a:p>
        </p:txBody>
      </p:sp>
      <p:sp>
        <p:nvSpPr>
          <p:cNvPr id="3" name="Text 2">
            <a:extLst>
              <a:ext uri="{FF2B5EF4-FFF2-40B4-BE49-F238E27FC236}">
                <a16:creationId xmlns:a16="http://schemas.microsoft.com/office/drawing/2014/main" id="{2478460E-E40C-96BF-59A5-07F14B47418D}"/>
              </a:ext>
            </a:extLst>
          </p:cNvPr>
          <p:cNvSpPr/>
          <p:nvPr/>
        </p:nvSpPr>
        <p:spPr>
          <a:xfrm>
            <a:off x="1042306" y="1095417"/>
            <a:ext cx="9560016" cy="713232"/>
          </a:xfrm>
          <a:prstGeom prst="rect">
            <a:avLst/>
          </a:prstGeom>
          <a:noFill/>
          <a:ln/>
        </p:spPr>
        <p:txBody>
          <a:bodyPr wrap="square" rtlCol="0" anchor="ctr"/>
          <a:lstStyle/>
          <a:p>
            <a:pPr marL="0" indent="0">
              <a:buNone/>
            </a:pPr>
            <a:r>
              <a:rPr lang="en-US" sz="1200" dirty="0">
                <a:solidFill>
                  <a:srgbClr val="333333"/>
                </a:solidFill>
                <a:latin typeface="Calibri" pitchFamily="34" charset="0"/>
                <a:cs typeface="Calibri" pitchFamily="34" charset="-120"/>
              </a:rPr>
              <a:t>If we used Claude Enterprise, what would it cost?</a:t>
            </a:r>
          </a:p>
          <a:p>
            <a:pPr marL="0" indent="0">
              <a:buNone/>
            </a:pPr>
            <a:endParaRPr lang="en-US" sz="1200" dirty="0">
              <a:solidFill>
                <a:srgbClr val="333333"/>
              </a:solidFill>
              <a:latin typeface="Calibri" pitchFamily="34" charset="0"/>
              <a:cs typeface="Calibri" pitchFamily="34" charset="-120"/>
            </a:endParaRPr>
          </a:p>
          <a:p>
            <a:pPr marL="0" indent="0">
              <a:buNone/>
            </a:pPr>
            <a:r>
              <a:rPr lang="en-US" sz="1200" dirty="0">
                <a:solidFill>
                  <a:srgbClr val="333333"/>
                </a:solidFill>
                <a:latin typeface="Calibri" pitchFamily="34" charset="0"/>
                <a:cs typeface="Calibri" pitchFamily="34" charset="-120"/>
              </a:rPr>
              <a:t>NOTE: Claude doesn’t solve our problem, this is just a cost comparison</a:t>
            </a:r>
          </a:p>
        </p:txBody>
      </p:sp>
      <p:graphicFrame>
        <p:nvGraphicFramePr>
          <p:cNvPr id="12" name="Table 11">
            <a:extLst>
              <a:ext uri="{FF2B5EF4-FFF2-40B4-BE49-F238E27FC236}">
                <a16:creationId xmlns:a16="http://schemas.microsoft.com/office/drawing/2014/main" id="{7E6E4585-D2B1-CDF8-C86A-F29F98FF767B}"/>
              </a:ext>
            </a:extLst>
          </p:cNvPr>
          <p:cNvGraphicFramePr>
            <a:graphicFrameLocks noGrp="1"/>
          </p:cNvGraphicFramePr>
          <p:nvPr>
            <p:extLst>
              <p:ext uri="{D42A27DB-BD31-4B8C-83A1-F6EECF244321}">
                <p14:modId xmlns:p14="http://schemas.microsoft.com/office/powerpoint/2010/main" val="1952055363"/>
              </p:ext>
            </p:extLst>
          </p:nvPr>
        </p:nvGraphicFramePr>
        <p:xfrm>
          <a:off x="1042306" y="2293700"/>
          <a:ext cx="9560016" cy="1230124"/>
        </p:xfrm>
        <a:graphic>
          <a:graphicData uri="http://schemas.openxmlformats.org/drawingml/2006/table">
            <a:tbl>
              <a:tblPr firstRow="1" bandRow="1">
                <a:tableStyleId>{5FD0F851-EC5A-4D38-B0AD-8093EC10F338}</a:tableStyleId>
              </a:tblPr>
              <a:tblGrid>
                <a:gridCol w="882359">
                  <a:extLst>
                    <a:ext uri="{9D8B030D-6E8A-4147-A177-3AD203B41FA5}">
                      <a16:colId xmlns:a16="http://schemas.microsoft.com/office/drawing/2014/main" val="3728739316"/>
                    </a:ext>
                  </a:extLst>
                </a:gridCol>
                <a:gridCol w="1777180">
                  <a:extLst>
                    <a:ext uri="{9D8B030D-6E8A-4147-A177-3AD203B41FA5}">
                      <a16:colId xmlns:a16="http://schemas.microsoft.com/office/drawing/2014/main" val="4200395965"/>
                    </a:ext>
                  </a:extLst>
                </a:gridCol>
                <a:gridCol w="1747684">
                  <a:extLst>
                    <a:ext uri="{9D8B030D-6E8A-4147-A177-3AD203B41FA5}">
                      <a16:colId xmlns:a16="http://schemas.microsoft.com/office/drawing/2014/main" val="2851846282"/>
                    </a:ext>
                  </a:extLst>
                </a:gridCol>
                <a:gridCol w="1799303">
                  <a:extLst>
                    <a:ext uri="{9D8B030D-6E8A-4147-A177-3AD203B41FA5}">
                      <a16:colId xmlns:a16="http://schemas.microsoft.com/office/drawing/2014/main" val="4007876680"/>
                    </a:ext>
                  </a:extLst>
                </a:gridCol>
                <a:gridCol w="1760154">
                  <a:extLst>
                    <a:ext uri="{9D8B030D-6E8A-4147-A177-3AD203B41FA5}">
                      <a16:colId xmlns:a16="http://schemas.microsoft.com/office/drawing/2014/main" val="4183340166"/>
                    </a:ext>
                  </a:extLst>
                </a:gridCol>
                <a:gridCol w="1593336">
                  <a:extLst>
                    <a:ext uri="{9D8B030D-6E8A-4147-A177-3AD203B41FA5}">
                      <a16:colId xmlns:a16="http://schemas.microsoft.com/office/drawing/2014/main" val="2642789093"/>
                    </a:ext>
                  </a:extLst>
                </a:gridCol>
              </a:tblGrid>
              <a:tr h="307531">
                <a:tc>
                  <a:txBody>
                    <a:bodyPr/>
                    <a:lstStyle/>
                    <a:p>
                      <a:r>
                        <a:rPr lang="en-US" sz="1400" dirty="0"/>
                        <a:t># Users</a:t>
                      </a:r>
                    </a:p>
                  </a:txBody>
                  <a:tcPr/>
                </a:tc>
                <a:tc>
                  <a:txBody>
                    <a:bodyPr/>
                    <a:lstStyle/>
                    <a:p>
                      <a:r>
                        <a:rPr lang="en-US" sz="1400" dirty="0"/>
                        <a:t>Total Seat Costs/</a:t>
                      </a:r>
                      <a:r>
                        <a:rPr lang="en-US" sz="1400" dirty="0" err="1"/>
                        <a:t>mo</a:t>
                      </a:r>
                      <a:endParaRPr lang="en-US" sz="1400" dirty="0"/>
                    </a:p>
                  </a:txBody>
                  <a:tcPr/>
                </a:tc>
                <a:tc>
                  <a:txBody>
                    <a:bodyPr/>
                    <a:lstStyle/>
                    <a:p>
                      <a:r>
                        <a:rPr lang="en-US" sz="1400" dirty="0"/>
                        <a:t>API Costs/user/</a:t>
                      </a:r>
                      <a:r>
                        <a:rPr lang="en-US" sz="1400" dirty="0" err="1"/>
                        <a:t>mo</a:t>
                      </a:r>
                      <a:endParaRPr lang="en-US" sz="1400" dirty="0"/>
                    </a:p>
                  </a:txBody>
                  <a:tcPr/>
                </a:tc>
                <a:tc>
                  <a:txBody>
                    <a:bodyPr/>
                    <a:lstStyle/>
                    <a:p>
                      <a:r>
                        <a:rPr lang="en-US" sz="1400" dirty="0"/>
                        <a:t>Total API Costs/</a:t>
                      </a:r>
                      <a:r>
                        <a:rPr lang="en-US" sz="1400" dirty="0" err="1"/>
                        <a:t>mo</a:t>
                      </a:r>
                      <a:endParaRPr lang="en-US" sz="1400" dirty="0"/>
                    </a:p>
                  </a:txBody>
                  <a:tcPr/>
                </a:tc>
                <a:tc>
                  <a:txBody>
                    <a:bodyPr/>
                    <a:lstStyle/>
                    <a:p>
                      <a:r>
                        <a:rPr lang="en-US" sz="1400" dirty="0">
                          <a:solidFill>
                            <a:srgbClr val="0070C0"/>
                          </a:solidFill>
                        </a:rPr>
                        <a:t>Total Annual Costs</a:t>
                      </a:r>
                    </a:p>
                  </a:txBody>
                  <a:tcPr/>
                </a:tc>
                <a:tc>
                  <a:txBody>
                    <a:bodyPr/>
                    <a:lstStyle/>
                    <a:p>
                      <a:r>
                        <a:rPr lang="en-US" sz="1400" dirty="0">
                          <a:solidFill>
                            <a:srgbClr val="0070C0"/>
                          </a:solidFill>
                        </a:rPr>
                        <a:t>5 Year Total</a:t>
                      </a:r>
                    </a:p>
                  </a:txBody>
                  <a:tcPr/>
                </a:tc>
                <a:extLst>
                  <a:ext uri="{0D108BD9-81ED-4DB2-BD59-A6C34878D82A}">
                    <a16:rowId xmlns:a16="http://schemas.microsoft.com/office/drawing/2014/main" val="1678756704"/>
                  </a:ext>
                </a:extLst>
              </a:tr>
              <a:tr h="307531">
                <a:tc>
                  <a:txBody>
                    <a:bodyPr/>
                    <a:lstStyle/>
                    <a:p>
                      <a:r>
                        <a:rPr lang="en-US" sz="1400" dirty="0"/>
                        <a:t>200</a:t>
                      </a:r>
                    </a:p>
                  </a:txBody>
                  <a:tcPr/>
                </a:tc>
                <a:tc>
                  <a:txBody>
                    <a:bodyPr/>
                    <a:lstStyle/>
                    <a:p>
                      <a:r>
                        <a:rPr lang="en-US" sz="1400" dirty="0"/>
                        <a:t>$4000</a:t>
                      </a:r>
                    </a:p>
                  </a:txBody>
                  <a:tcPr/>
                </a:tc>
                <a:tc>
                  <a:txBody>
                    <a:bodyPr/>
                    <a:lstStyle/>
                    <a:p>
                      <a:r>
                        <a:rPr lang="en-US" sz="1400" dirty="0"/>
                        <a:t>$200</a:t>
                      </a:r>
                    </a:p>
                  </a:txBody>
                  <a:tcPr/>
                </a:tc>
                <a:tc>
                  <a:txBody>
                    <a:bodyPr/>
                    <a:lstStyle/>
                    <a:p>
                      <a:r>
                        <a:rPr lang="en-US" sz="1400" dirty="0"/>
                        <a:t>$44,000</a:t>
                      </a:r>
                    </a:p>
                  </a:txBody>
                  <a:tcPr/>
                </a:tc>
                <a:tc>
                  <a:txBody>
                    <a:bodyPr/>
                    <a:lstStyle/>
                    <a:p>
                      <a:r>
                        <a:rPr lang="en-US" sz="1400" dirty="0">
                          <a:solidFill>
                            <a:srgbClr val="0070C0"/>
                          </a:solidFill>
                        </a:rPr>
                        <a:t>$528K</a:t>
                      </a:r>
                    </a:p>
                  </a:txBody>
                  <a:tcPr/>
                </a:tc>
                <a:tc>
                  <a:txBody>
                    <a:bodyPr/>
                    <a:lstStyle/>
                    <a:p>
                      <a:r>
                        <a:rPr lang="en-US" sz="1400" dirty="0">
                          <a:solidFill>
                            <a:srgbClr val="0070C0"/>
                          </a:solidFill>
                        </a:rPr>
                        <a:t>$2.6M</a:t>
                      </a:r>
                    </a:p>
                  </a:txBody>
                  <a:tcPr/>
                </a:tc>
                <a:extLst>
                  <a:ext uri="{0D108BD9-81ED-4DB2-BD59-A6C34878D82A}">
                    <a16:rowId xmlns:a16="http://schemas.microsoft.com/office/drawing/2014/main" val="2531770853"/>
                  </a:ext>
                </a:extLst>
              </a:tr>
              <a:tr h="307531">
                <a:tc>
                  <a:txBody>
                    <a:bodyPr/>
                    <a:lstStyle/>
                    <a:p>
                      <a:r>
                        <a:rPr lang="en-US" sz="1400" dirty="0"/>
                        <a:t>200</a:t>
                      </a:r>
                    </a:p>
                  </a:txBody>
                  <a:tcPr/>
                </a:tc>
                <a:tc>
                  <a:txBody>
                    <a:bodyPr/>
                    <a:lstStyle/>
                    <a:p>
                      <a:r>
                        <a:rPr lang="en-US" sz="1400" dirty="0"/>
                        <a:t>$4000</a:t>
                      </a:r>
                    </a:p>
                  </a:txBody>
                  <a:tcPr/>
                </a:tc>
                <a:tc>
                  <a:txBody>
                    <a:bodyPr/>
                    <a:lstStyle/>
                    <a:p>
                      <a:r>
                        <a:rPr lang="en-US" sz="1400" dirty="0"/>
                        <a:t>$400</a:t>
                      </a:r>
                    </a:p>
                  </a:txBody>
                  <a:tcPr/>
                </a:tc>
                <a:tc>
                  <a:txBody>
                    <a:bodyPr/>
                    <a:lstStyle/>
                    <a:p>
                      <a:r>
                        <a:rPr lang="en-US" sz="1400" dirty="0"/>
                        <a:t>$88,000</a:t>
                      </a:r>
                    </a:p>
                  </a:txBody>
                  <a:tcPr/>
                </a:tc>
                <a:tc>
                  <a:txBody>
                    <a:bodyPr/>
                    <a:lstStyle/>
                    <a:p>
                      <a:r>
                        <a:rPr lang="en-US" sz="1400" dirty="0">
                          <a:solidFill>
                            <a:srgbClr val="0070C0"/>
                          </a:solidFill>
                        </a:rPr>
                        <a:t>$1.05M</a:t>
                      </a:r>
                    </a:p>
                  </a:txBody>
                  <a:tcPr/>
                </a:tc>
                <a:tc>
                  <a:txBody>
                    <a:bodyPr/>
                    <a:lstStyle/>
                    <a:p>
                      <a:r>
                        <a:rPr lang="en-US" sz="1400" dirty="0">
                          <a:solidFill>
                            <a:srgbClr val="0070C0"/>
                          </a:solidFill>
                        </a:rPr>
                        <a:t>$5.25M</a:t>
                      </a:r>
                    </a:p>
                  </a:txBody>
                  <a:tcPr/>
                </a:tc>
                <a:extLst>
                  <a:ext uri="{0D108BD9-81ED-4DB2-BD59-A6C34878D82A}">
                    <a16:rowId xmlns:a16="http://schemas.microsoft.com/office/drawing/2014/main" val="1257203180"/>
                  </a:ext>
                </a:extLst>
              </a:tr>
              <a:tr h="307531">
                <a:tc>
                  <a:txBody>
                    <a:bodyPr/>
                    <a:lstStyle/>
                    <a:p>
                      <a:r>
                        <a:rPr lang="en-US" sz="1400" dirty="0"/>
                        <a:t>200</a:t>
                      </a:r>
                    </a:p>
                  </a:txBody>
                  <a:tcPr/>
                </a:tc>
                <a:tc>
                  <a:txBody>
                    <a:bodyPr/>
                    <a:lstStyle/>
                    <a:p>
                      <a:r>
                        <a:rPr lang="en-US" sz="1400" dirty="0"/>
                        <a:t>$4000</a:t>
                      </a:r>
                    </a:p>
                  </a:txBody>
                  <a:tcPr/>
                </a:tc>
                <a:tc>
                  <a:txBody>
                    <a:bodyPr/>
                    <a:lstStyle/>
                    <a:p>
                      <a:r>
                        <a:rPr lang="en-US" sz="1400" dirty="0"/>
                        <a:t>$600</a:t>
                      </a:r>
                    </a:p>
                  </a:txBody>
                  <a:tcPr/>
                </a:tc>
                <a:tc>
                  <a:txBody>
                    <a:bodyPr/>
                    <a:lstStyle/>
                    <a:p>
                      <a:r>
                        <a:rPr lang="en-US" sz="1400" dirty="0"/>
                        <a:t>$176,000</a:t>
                      </a:r>
                    </a:p>
                  </a:txBody>
                  <a:tcPr/>
                </a:tc>
                <a:tc>
                  <a:txBody>
                    <a:bodyPr/>
                    <a:lstStyle/>
                    <a:p>
                      <a:r>
                        <a:rPr lang="en-US" sz="1400" dirty="0">
                          <a:solidFill>
                            <a:srgbClr val="0070C0"/>
                          </a:solidFill>
                        </a:rPr>
                        <a:t>$2.1M</a:t>
                      </a:r>
                    </a:p>
                  </a:txBody>
                  <a:tcPr/>
                </a:tc>
                <a:tc>
                  <a:txBody>
                    <a:bodyPr/>
                    <a:lstStyle/>
                    <a:p>
                      <a:r>
                        <a:rPr lang="en-US" sz="1400" dirty="0">
                          <a:solidFill>
                            <a:srgbClr val="0070C0"/>
                          </a:solidFill>
                        </a:rPr>
                        <a:t>$10.5M</a:t>
                      </a:r>
                    </a:p>
                  </a:txBody>
                  <a:tcPr/>
                </a:tc>
                <a:extLst>
                  <a:ext uri="{0D108BD9-81ED-4DB2-BD59-A6C34878D82A}">
                    <a16:rowId xmlns:a16="http://schemas.microsoft.com/office/drawing/2014/main" val="1846901357"/>
                  </a:ext>
                </a:extLst>
              </a:tr>
            </a:tbl>
          </a:graphicData>
        </a:graphic>
      </p:graphicFrame>
      <p:graphicFrame>
        <p:nvGraphicFramePr>
          <p:cNvPr id="13" name="Table 12">
            <a:extLst>
              <a:ext uri="{FF2B5EF4-FFF2-40B4-BE49-F238E27FC236}">
                <a16:creationId xmlns:a16="http://schemas.microsoft.com/office/drawing/2014/main" id="{59BE009D-A609-1FC6-4A66-567198BCE150}"/>
              </a:ext>
            </a:extLst>
          </p:cNvPr>
          <p:cNvGraphicFramePr>
            <a:graphicFrameLocks noGrp="1"/>
          </p:cNvGraphicFramePr>
          <p:nvPr>
            <p:extLst>
              <p:ext uri="{D42A27DB-BD31-4B8C-83A1-F6EECF244321}">
                <p14:modId xmlns:p14="http://schemas.microsoft.com/office/powerpoint/2010/main" val="534667704"/>
              </p:ext>
            </p:extLst>
          </p:nvPr>
        </p:nvGraphicFramePr>
        <p:xfrm>
          <a:off x="1042306" y="4008875"/>
          <a:ext cx="9560016" cy="935394"/>
        </p:xfrm>
        <a:graphic>
          <a:graphicData uri="http://schemas.openxmlformats.org/drawingml/2006/table">
            <a:tbl>
              <a:tblPr firstRow="1" bandRow="1">
                <a:tableStyleId>{5FD0F851-EC5A-4D38-B0AD-8093EC10F338}</a:tableStyleId>
              </a:tblPr>
              <a:tblGrid>
                <a:gridCol w="2390004">
                  <a:extLst>
                    <a:ext uri="{9D8B030D-6E8A-4147-A177-3AD203B41FA5}">
                      <a16:colId xmlns:a16="http://schemas.microsoft.com/office/drawing/2014/main" val="1919917440"/>
                    </a:ext>
                  </a:extLst>
                </a:gridCol>
                <a:gridCol w="2390004">
                  <a:extLst>
                    <a:ext uri="{9D8B030D-6E8A-4147-A177-3AD203B41FA5}">
                      <a16:colId xmlns:a16="http://schemas.microsoft.com/office/drawing/2014/main" val="2716983282"/>
                    </a:ext>
                  </a:extLst>
                </a:gridCol>
                <a:gridCol w="2390004">
                  <a:extLst>
                    <a:ext uri="{9D8B030D-6E8A-4147-A177-3AD203B41FA5}">
                      <a16:colId xmlns:a16="http://schemas.microsoft.com/office/drawing/2014/main" val="961888662"/>
                    </a:ext>
                  </a:extLst>
                </a:gridCol>
                <a:gridCol w="2390004">
                  <a:extLst>
                    <a:ext uri="{9D8B030D-6E8A-4147-A177-3AD203B41FA5}">
                      <a16:colId xmlns:a16="http://schemas.microsoft.com/office/drawing/2014/main" val="1925300205"/>
                    </a:ext>
                  </a:extLst>
                </a:gridCol>
              </a:tblGrid>
              <a:tr h="311798">
                <a:tc>
                  <a:txBody>
                    <a:bodyPr/>
                    <a:lstStyle/>
                    <a:p>
                      <a:r>
                        <a:rPr lang="en-US" sz="1200" dirty="0"/>
                        <a:t>Private Cloud AI Appliance</a:t>
                      </a:r>
                    </a:p>
                  </a:txBody>
                  <a:tcPr/>
                </a:tc>
                <a:tc>
                  <a:txBody>
                    <a:bodyPr/>
                    <a:lstStyle/>
                    <a:p>
                      <a:r>
                        <a:rPr lang="en-US" sz="1200" dirty="0"/>
                        <a:t>Initial Build (MSRP)</a:t>
                      </a:r>
                    </a:p>
                  </a:txBody>
                  <a:tcPr/>
                </a:tc>
                <a:tc>
                  <a:txBody>
                    <a:bodyPr/>
                    <a:lstStyle/>
                    <a:p>
                      <a:r>
                        <a:rPr lang="en-US" sz="1200" dirty="0">
                          <a:solidFill>
                            <a:srgbClr val="0070C0"/>
                          </a:solidFill>
                        </a:rPr>
                        <a:t>Annual Maintenance (~20%)</a:t>
                      </a:r>
                    </a:p>
                  </a:txBody>
                  <a:tcPr/>
                </a:tc>
                <a:tc>
                  <a:txBody>
                    <a:bodyPr/>
                    <a:lstStyle/>
                    <a:p>
                      <a:r>
                        <a:rPr lang="en-US" sz="1200" dirty="0">
                          <a:solidFill>
                            <a:srgbClr val="0070C0"/>
                          </a:solidFill>
                        </a:rPr>
                        <a:t>5 Year Total</a:t>
                      </a:r>
                    </a:p>
                  </a:txBody>
                  <a:tcPr/>
                </a:tc>
                <a:extLst>
                  <a:ext uri="{0D108BD9-81ED-4DB2-BD59-A6C34878D82A}">
                    <a16:rowId xmlns:a16="http://schemas.microsoft.com/office/drawing/2014/main" val="2543853771"/>
                  </a:ext>
                </a:extLst>
              </a:tr>
              <a:tr h="311798">
                <a:tc>
                  <a:txBody>
                    <a:bodyPr/>
                    <a:lstStyle/>
                    <a:p>
                      <a:r>
                        <a:rPr lang="en-US" sz="1200" b="0" dirty="0">
                          <a:solidFill>
                            <a:schemeClr val="tx1"/>
                          </a:solidFill>
                        </a:rPr>
                        <a:t>Production Platform (small)</a:t>
                      </a:r>
                    </a:p>
                  </a:txBody>
                  <a:tcPr/>
                </a:tc>
                <a:tc>
                  <a:txBody>
                    <a:bodyPr/>
                    <a:lstStyle/>
                    <a:p>
                      <a:r>
                        <a:rPr lang="en-US" sz="1200" dirty="0"/>
                        <a:t>$2.1M</a:t>
                      </a:r>
                    </a:p>
                  </a:txBody>
                  <a:tcPr/>
                </a:tc>
                <a:tc>
                  <a:txBody>
                    <a:bodyPr/>
                    <a:lstStyle/>
                    <a:p>
                      <a:r>
                        <a:rPr lang="en-US" sz="1200" dirty="0">
                          <a:solidFill>
                            <a:srgbClr val="0070C0"/>
                          </a:solidFill>
                        </a:rPr>
                        <a:t>$400K</a:t>
                      </a:r>
                    </a:p>
                  </a:txBody>
                  <a:tcPr/>
                </a:tc>
                <a:tc>
                  <a:txBody>
                    <a:bodyPr/>
                    <a:lstStyle/>
                    <a:p>
                      <a:r>
                        <a:rPr lang="en-US" sz="1200" dirty="0">
                          <a:solidFill>
                            <a:srgbClr val="0070C0"/>
                          </a:solidFill>
                        </a:rPr>
                        <a:t>3.3M</a:t>
                      </a:r>
                    </a:p>
                  </a:txBody>
                  <a:tcPr/>
                </a:tc>
                <a:extLst>
                  <a:ext uri="{0D108BD9-81ED-4DB2-BD59-A6C34878D82A}">
                    <a16:rowId xmlns:a16="http://schemas.microsoft.com/office/drawing/2014/main" val="1968120490"/>
                  </a:ext>
                </a:extLst>
              </a:tr>
              <a:tr h="311798">
                <a:tc>
                  <a:txBody>
                    <a:bodyPr/>
                    <a:lstStyle/>
                    <a:p>
                      <a:r>
                        <a:rPr lang="en-US" sz="1200" dirty="0"/>
                        <a:t>Production Platform (medium)</a:t>
                      </a:r>
                    </a:p>
                  </a:txBody>
                  <a:tcPr/>
                </a:tc>
                <a:tc>
                  <a:txBody>
                    <a:bodyPr/>
                    <a:lstStyle/>
                    <a:p>
                      <a:r>
                        <a:rPr lang="en-US" sz="1200" dirty="0"/>
                        <a:t>$3.2M</a:t>
                      </a:r>
                    </a:p>
                  </a:txBody>
                  <a:tcPr/>
                </a:tc>
                <a:tc>
                  <a:txBody>
                    <a:bodyPr/>
                    <a:lstStyle/>
                    <a:p>
                      <a:r>
                        <a:rPr lang="en-US" sz="1200" dirty="0">
                          <a:solidFill>
                            <a:srgbClr val="0070C0"/>
                          </a:solidFill>
                        </a:rPr>
                        <a:t>$600K</a:t>
                      </a:r>
                    </a:p>
                  </a:txBody>
                  <a:tcPr/>
                </a:tc>
                <a:tc>
                  <a:txBody>
                    <a:bodyPr/>
                    <a:lstStyle/>
                    <a:p>
                      <a:r>
                        <a:rPr lang="en-US" sz="1200" dirty="0">
                          <a:solidFill>
                            <a:srgbClr val="0070C0"/>
                          </a:solidFill>
                        </a:rPr>
                        <a:t>5.6M</a:t>
                      </a:r>
                    </a:p>
                  </a:txBody>
                  <a:tcPr/>
                </a:tc>
                <a:extLst>
                  <a:ext uri="{0D108BD9-81ED-4DB2-BD59-A6C34878D82A}">
                    <a16:rowId xmlns:a16="http://schemas.microsoft.com/office/drawing/2014/main" val="1883801490"/>
                  </a:ext>
                </a:extLst>
              </a:tr>
            </a:tbl>
          </a:graphicData>
        </a:graphic>
      </p:graphicFrame>
      <p:sp>
        <p:nvSpPr>
          <p:cNvPr id="14" name="TextBox 13">
            <a:extLst>
              <a:ext uri="{FF2B5EF4-FFF2-40B4-BE49-F238E27FC236}">
                <a16:creationId xmlns:a16="http://schemas.microsoft.com/office/drawing/2014/main" id="{8276FB36-8AED-0201-497D-22A607ABD5F6}"/>
              </a:ext>
            </a:extLst>
          </p:cNvPr>
          <p:cNvSpPr txBox="1"/>
          <p:nvPr/>
        </p:nvSpPr>
        <p:spPr>
          <a:xfrm>
            <a:off x="983313" y="1946099"/>
            <a:ext cx="1845570" cy="369332"/>
          </a:xfrm>
          <a:prstGeom prst="rect">
            <a:avLst/>
          </a:prstGeom>
          <a:noFill/>
        </p:spPr>
        <p:txBody>
          <a:bodyPr wrap="none" rtlCol="0">
            <a:spAutoFit/>
          </a:bodyPr>
          <a:lstStyle/>
          <a:p>
            <a:r>
              <a:rPr lang="en-US" dirty="0"/>
              <a:t>Claude Enterprise</a:t>
            </a:r>
          </a:p>
        </p:txBody>
      </p:sp>
      <p:sp>
        <p:nvSpPr>
          <p:cNvPr id="15" name="TextBox 14">
            <a:extLst>
              <a:ext uri="{FF2B5EF4-FFF2-40B4-BE49-F238E27FC236}">
                <a16:creationId xmlns:a16="http://schemas.microsoft.com/office/drawing/2014/main" id="{15733732-0D8D-C37F-B277-6CC6211AF1EC}"/>
              </a:ext>
            </a:extLst>
          </p:cNvPr>
          <p:cNvSpPr txBox="1"/>
          <p:nvPr/>
        </p:nvSpPr>
        <p:spPr>
          <a:xfrm>
            <a:off x="983313" y="3639543"/>
            <a:ext cx="1079142" cy="369332"/>
          </a:xfrm>
          <a:prstGeom prst="rect">
            <a:avLst/>
          </a:prstGeom>
          <a:noFill/>
        </p:spPr>
        <p:txBody>
          <a:bodyPr wrap="none" rtlCol="0">
            <a:spAutoFit/>
          </a:bodyPr>
          <a:lstStyle/>
          <a:p>
            <a:r>
              <a:rPr lang="en-US" dirty="0"/>
              <a:t>Private AI</a:t>
            </a:r>
          </a:p>
        </p:txBody>
      </p:sp>
      <p:sp>
        <p:nvSpPr>
          <p:cNvPr id="4" name="Rectangular Callout 3">
            <a:extLst>
              <a:ext uri="{FF2B5EF4-FFF2-40B4-BE49-F238E27FC236}">
                <a16:creationId xmlns:a16="http://schemas.microsoft.com/office/drawing/2014/main" id="{6F2E5CE4-7ED9-6DF2-CDF4-5115C85595A4}"/>
              </a:ext>
            </a:extLst>
          </p:cNvPr>
          <p:cNvSpPr/>
          <p:nvPr/>
        </p:nvSpPr>
        <p:spPr>
          <a:xfrm>
            <a:off x="7982369" y="1214001"/>
            <a:ext cx="2016764" cy="356616"/>
          </a:xfrm>
          <a:prstGeom prst="wedgeRectCallout">
            <a:avLst>
              <a:gd name="adj1" fmla="val -139593"/>
              <a:gd name="adj2" fmla="val 245311"/>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000" dirty="0"/>
              <a:t>Variable Costs, Usage Based</a:t>
            </a:r>
          </a:p>
        </p:txBody>
      </p:sp>
      <p:sp>
        <p:nvSpPr>
          <p:cNvPr id="5" name="Rectangular Callout 4">
            <a:extLst>
              <a:ext uri="{FF2B5EF4-FFF2-40B4-BE49-F238E27FC236}">
                <a16:creationId xmlns:a16="http://schemas.microsoft.com/office/drawing/2014/main" id="{E51FCC8A-0B94-DBD2-AE29-9CEA2D928CE6}"/>
              </a:ext>
            </a:extLst>
          </p:cNvPr>
          <p:cNvSpPr/>
          <p:nvPr/>
        </p:nvSpPr>
        <p:spPr>
          <a:xfrm>
            <a:off x="8735903" y="5213234"/>
            <a:ext cx="1263230" cy="356616"/>
          </a:xfrm>
          <a:prstGeom prst="wedgeRectCallout">
            <a:avLst>
              <a:gd name="adj1" fmla="val -248098"/>
              <a:gd name="adj2" fmla="val -122685"/>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000" dirty="0"/>
              <a:t>High Estimate</a:t>
            </a:r>
          </a:p>
        </p:txBody>
      </p:sp>
    </p:spTree>
    <p:extLst>
      <p:ext uri="{BB962C8B-B14F-4D97-AF65-F5344CB8AC3E}">
        <p14:creationId xmlns:p14="http://schemas.microsoft.com/office/powerpoint/2010/main" val="42193374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1"/>
          <p:cNvSpPr/>
          <p:nvPr/>
        </p:nvSpPr>
        <p:spPr>
          <a:xfrm>
            <a:off x="502920" y="576072"/>
            <a:ext cx="10515600" cy="640080"/>
          </a:xfrm>
          <a:prstGeom prst="rect">
            <a:avLst/>
          </a:prstGeom>
          <a:noFill/>
          <a:ln/>
        </p:spPr>
        <p:txBody>
          <a:bodyPr wrap="square" rtlCol="0" anchor="ctr"/>
          <a:lstStyle/>
          <a:p>
            <a:pPr marL="0" indent="0">
              <a:buNone/>
            </a:pPr>
            <a:r>
              <a:rPr lang="en-US" sz="2800" b="1" dirty="0">
                <a:solidFill>
                  <a:srgbClr val="082744"/>
                </a:solidFill>
                <a:latin typeface="Cambria" pitchFamily="34" charset="0"/>
                <a:ea typeface="Cambria" pitchFamily="34" charset="-122"/>
                <a:cs typeface="Cambria" pitchFamily="34" charset="-120"/>
              </a:rPr>
              <a:t>The ask &amp; decision timeline</a:t>
            </a:r>
            <a:endParaRPr lang="en-US" sz="2800" dirty="0"/>
          </a:p>
        </p:txBody>
      </p:sp>
      <p:sp>
        <p:nvSpPr>
          <p:cNvPr id="5" name="Shape 3"/>
          <p:cNvSpPr/>
          <p:nvPr/>
        </p:nvSpPr>
        <p:spPr>
          <a:xfrm>
            <a:off x="1174569" y="1831902"/>
            <a:ext cx="5349240" cy="1554480"/>
          </a:xfrm>
          <a:prstGeom prst="roundRect">
            <a:avLst>
              <a:gd name="adj" fmla="val 4118"/>
            </a:avLst>
          </a:prstGeom>
          <a:solidFill>
            <a:srgbClr val="0D3B66"/>
          </a:solidFill>
          <a:ln/>
        </p:spPr>
        <p:txBody>
          <a:bodyPr/>
          <a:lstStyle/>
          <a:p>
            <a:endParaRPr lang="en-US"/>
          </a:p>
        </p:txBody>
      </p:sp>
      <p:sp>
        <p:nvSpPr>
          <p:cNvPr id="6" name="Text 4"/>
          <p:cNvSpPr/>
          <p:nvPr/>
        </p:nvSpPr>
        <p:spPr>
          <a:xfrm>
            <a:off x="1448889" y="1969062"/>
            <a:ext cx="4800600" cy="365760"/>
          </a:xfrm>
          <a:prstGeom prst="rect">
            <a:avLst/>
          </a:prstGeom>
          <a:noFill/>
          <a:ln/>
        </p:spPr>
        <p:txBody>
          <a:bodyPr wrap="square" rtlCol="0" anchor="ctr"/>
          <a:lstStyle/>
          <a:p>
            <a:pPr marL="0" indent="0">
              <a:buNone/>
            </a:pPr>
            <a:r>
              <a:rPr lang="en-US" sz="1600" b="1" dirty="0">
                <a:solidFill>
                  <a:srgbClr val="FFCA28"/>
                </a:solidFill>
                <a:latin typeface="Cambria" pitchFamily="34" charset="0"/>
                <a:ea typeface="Cambria" pitchFamily="34" charset="-122"/>
                <a:cs typeface="Cambria" pitchFamily="34" charset="-120"/>
              </a:rPr>
              <a:t>Ask 1: Now</a:t>
            </a:r>
            <a:endParaRPr lang="en-US" sz="1600" dirty="0"/>
          </a:p>
        </p:txBody>
      </p:sp>
      <p:sp>
        <p:nvSpPr>
          <p:cNvPr id="7" name="Text 5"/>
          <p:cNvSpPr/>
          <p:nvPr/>
        </p:nvSpPr>
        <p:spPr>
          <a:xfrm>
            <a:off x="1448889" y="2334822"/>
            <a:ext cx="4800600" cy="960120"/>
          </a:xfrm>
          <a:prstGeom prst="rect">
            <a:avLst/>
          </a:prstGeom>
          <a:noFill/>
          <a:ln/>
        </p:spPr>
        <p:txBody>
          <a:bodyPr wrap="square" rtlCol="0" anchor="ctr"/>
          <a:lstStyle/>
          <a:p>
            <a:pPr marL="0" indent="0">
              <a:buNone/>
            </a:pPr>
            <a:r>
              <a:rPr lang="en-US" sz="1250" dirty="0">
                <a:solidFill>
                  <a:srgbClr val="CFE0F0"/>
                </a:solidFill>
                <a:latin typeface="Calibri" pitchFamily="34" charset="0"/>
                <a:ea typeface="Calibri" pitchFamily="34" charset="-122"/>
                <a:cs typeface="Calibri" pitchFamily="34" charset="-120"/>
              </a:rPr>
              <a:t>Approve Pilot continuation funding for 2H26: $200,000 total, covering Ohana's direction, architecture, and delivery team plus NexTern's own Pilot infrastructure</a:t>
            </a:r>
            <a:endParaRPr lang="en-US" sz="1250" dirty="0"/>
          </a:p>
        </p:txBody>
      </p:sp>
      <p:sp>
        <p:nvSpPr>
          <p:cNvPr id="8" name="Shape 6"/>
          <p:cNvSpPr/>
          <p:nvPr/>
        </p:nvSpPr>
        <p:spPr>
          <a:xfrm>
            <a:off x="5459186" y="4002132"/>
            <a:ext cx="5349240" cy="1554480"/>
          </a:xfrm>
          <a:prstGeom prst="roundRect">
            <a:avLst>
              <a:gd name="adj" fmla="val 4118"/>
            </a:avLst>
          </a:prstGeom>
          <a:solidFill>
            <a:srgbClr val="0D3B66"/>
          </a:solidFill>
          <a:ln/>
        </p:spPr>
        <p:txBody>
          <a:bodyPr/>
          <a:lstStyle/>
          <a:p>
            <a:endParaRPr lang="en-US"/>
          </a:p>
        </p:txBody>
      </p:sp>
      <p:sp>
        <p:nvSpPr>
          <p:cNvPr id="9" name="Text 7"/>
          <p:cNvSpPr/>
          <p:nvPr/>
        </p:nvSpPr>
        <p:spPr>
          <a:xfrm>
            <a:off x="5733506" y="4139292"/>
            <a:ext cx="4800600" cy="365760"/>
          </a:xfrm>
          <a:prstGeom prst="rect">
            <a:avLst/>
          </a:prstGeom>
          <a:noFill/>
          <a:ln/>
        </p:spPr>
        <p:txBody>
          <a:bodyPr wrap="square" rtlCol="0" anchor="ctr"/>
          <a:lstStyle/>
          <a:p>
            <a:pPr marL="0" indent="0">
              <a:buNone/>
            </a:pPr>
            <a:r>
              <a:rPr lang="en-US" sz="1600" b="1" dirty="0">
                <a:solidFill>
                  <a:srgbClr val="FFCA28"/>
                </a:solidFill>
                <a:latin typeface="Cambria" pitchFamily="34" charset="0"/>
                <a:ea typeface="Cambria" pitchFamily="34" charset="-122"/>
                <a:cs typeface="Cambria" pitchFamily="34" charset="-120"/>
              </a:rPr>
              <a:t>Ask 2: Looking Ahead</a:t>
            </a:r>
            <a:endParaRPr lang="en-US" sz="1600" dirty="0"/>
          </a:p>
        </p:txBody>
      </p:sp>
      <p:sp>
        <p:nvSpPr>
          <p:cNvPr id="10" name="Text 8"/>
          <p:cNvSpPr/>
          <p:nvPr/>
        </p:nvSpPr>
        <p:spPr>
          <a:xfrm>
            <a:off x="5733506" y="4505052"/>
            <a:ext cx="4800600" cy="960120"/>
          </a:xfrm>
          <a:prstGeom prst="rect">
            <a:avLst/>
          </a:prstGeom>
          <a:noFill/>
          <a:ln/>
        </p:spPr>
        <p:txBody>
          <a:bodyPr wrap="square" rtlCol="0" anchor="ctr"/>
          <a:lstStyle/>
          <a:p>
            <a:pPr marL="0" indent="0">
              <a:buNone/>
            </a:pPr>
            <a:r>
              <a:rPr lang="en-US" sz="1250" dirty="0">
                <a:solidFill>
                  <a:srgbClr val="CFE0F0"/>
                </a:solidFill>
                <a:latin typeface="Calibri" pitchFamily="34" charset="0"/>
                <a:ea typeface="Calibri" pitchFamily="34" charset="-122"/>
                <a:cs typeface="Calibri" pitchFamily="34" charset="-120"/>
              </a:rPr>
              <a:t>Reserve a provisional AI line in the 2027 budget cycle to get started with private cloud AI</a:t>
            </a:r>
            <a:endParaRPr lang="en-US" sz="1250" dirty="0"/>
          </a:p>
        </p:txBody>
      </p:sp>
      <p:sp>
        <p:nvSpPr>
          <p:cNvPr id="14" name="Text 11"/>
          <p:cNvSpPr/>
          <p:nvPr/>
        </p:nvSpPr>
        <p:spPr>
          <a:xfrm>
            <a:off x="11368735" y="6528816"/>
            <a:ext cx="365760" cy="256032"/>
          </a:xfrm>
          <a:prstGeom prst="rect">
            <a:avLst/>
          </a:prstGeom>
          <a:noFill/>
          <a:ln/>
        </p:spPr>
        <p:txBody>
          <a:bodyPr wrap="square" rtlCol="0" anchor="ctr"/>
          <a:lstStyle/>
          <a:p>
            <a:pPr marL="0" indent="0" algn="r">
              <a:buNone/>
            </a:pPr>
            <a:r>
              <a:rPr lang="en-US" sz="900" dirty="0">
                <a:solidFill>
                  <a:srgbClr val="5F6368"/>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9">
    <p:bg>
      <p:bgPr>
        <a:solidFill>
          <a:srgbClr val="082744"/>
        </a:solidFill>
        <a:effectLst/>
      </p:bgPr>
    </p:bg>
    <p:spTree>
      <p:nvGrpSpPr>
        <p:cNvPr id="1" name=""/>
        <p:cNvGrpSpPr/>
        <p:nvPr/>
      </p:nvGrpSpPr>
      <p:grpSpPr>
        <a:xfrm>
          <a:off x="0" y="0"/>
          <a:ext cx="0" cy="0"/>
          <a:chOff x="0" y="0"/>
          <a:chExt cx="0" cy="0"/>
        </a:xfrm>
      </p:grpSpPr>
      <p:sp>
        <p:nvSpPr>
          <p:cNvPr id="4" name="Text 2"/>
          <p:cNvSpPr/>
          <p:nvPr/>
        </p:nvSpPr>
        <p:spPr>
          <a:xfrm>
            <a:off x="0" y="4389120"/>
            <a:ext cx="12191695" cy="457200"/>
          </a:xfrm>
          <a:prstGeom prst="rect">
            <a:avLst/>
          </a:prstGeom>
          <a:noFill/>
          <a:ln/>
        </p:spPr>
        <p:txBody>
          <a:bodyPr wrap="square" rtlCol="0" anchor="ctr"/>
          <a:lstStyle/>
          <a:p>
            <a:pPr marL="0" indent="0" algn="ctr">
              <a:buNone/>
            </a:pPr>
            <a:r>
              <a:rPr lang="en-US" sz="2000" b="1" dirty="0">
                <a:solidFill>
                  <a:srgbClr val="FFCA28"/>
                </a:solidFill>
                <a:latin typeface="Cambria" pitchFamily="34" charset="0"/>
                <a:ea typeface="Cambria" pitchFamily="34" charset="-122"/>
                <a:cs typeface="Cambria" pitchFamily="34" charset="-120"/>
              </a:rPr>
              <a:t>Thank you</a:t>
            </a:r>
            <a:endParaRPr lang="en-US" sz="2000" dirty="0"/>
          </a:p>
        </p:txBody>
      </p:sp>
      <p:sp>
        <p:nvSpPr>
          <p:cNvPr id="5" name="Text 3"/>
          <p:cNvSpPr/>
          <p:nvPr/>
        </p:nvSpPr>
        <p:spPr>
          <a:xfrm>
            <a:off x="0" y="4937760"/>
            <a:ext cx="12191695" cy="365760"/>
          </a:xfrm>
          <a:prstGeom prst="rect">
            <a:avLst/>
          </a:prstGeom>
          <a:noFill/>
          <a:ln/>
        </p:spPr>
        <p:txBody>
          <a:bodyPr wrap="square" rtlCol="0" anchor="ctr"/>
          <a:lstStyle/>
          <a:p>
            <a:pPr marL="0" indent="0" algn="ctr">
              <a:buNone/>
            </a:pPr>
            <a:r>
              <a:rPr lang="en-US" sz="1150" i="1" dirty="0">
                <a:solidFill>
                  <a:srgbClr val="9DB8D4"/>
                </a:solidFill>
                <a:latin typeface="Calibri" pitchFamily="34" charset="0"/>
                <a:ea typeface="Calibri" pitchFamily="34" charset="-122"/>
                <a:cs typeface="Calibri" pitchFamily="34" charset="-120"/>
              </a:rPr>
              <a:t>Prepared by Ohana Consulting for NexTern's AI 2H26 planning engagement</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1"/>
          <p:cNvSpPr/>
          <p:nvPr/>
        </p:nvSpPr>
        <p:spPr>
          <a:xfrm>
            <a:off x="502920" y="576072"/>
            <a:ext cx="10515600" cy="640080"/>
          </a:xfrm>
          <a:prstGeom prst="rect">
            <a:avLst/>
          </a:prstGeom>
          <a:noFill/>
          <a:ln/>
        </p:spPr>
        <p:txBody>
          <a:bodyPr wrap="square" rtlCol="0" anchor="ctr"/>
          <a:lstStyle/>
          <a:p>
            <a:pPr marL="0" indent="0">
              <a:buNone/>
            </a:pPr>
            <a:r>
              <a:rPr lang="en-US" sz="2800" b="1" dirty="0">
                <a:solidFill>
                  <a:srgbClr val="082744"/>
                </a:solidFill>
                <a:latin typeface="Cambria" pitchFamily="34" charset="0"/>
                <a:ea typeface="Cambria" pitchFamily="34" charset="-122"/>
                <a:cs typeface="Cambria" pitchFamily="34" charset="-120"/>
              </a:rPr>
              <a:t>The Pilot: turning our judgment into evidence</a:t>
            </a:r>
            <a:endParaRPr lang="en-US" sz="2800" dirty="0"/>
          </a:p>
        </p:txBody>
      </p:sp>
      <p:sp>
        <p:nvSpPr>
          <p:cNvPr id="4" name="Text 2"/>
          <p:cNvSpPr/>
          <p:nvPr/>
        </p:nvSpPr>
        <p:spPr>
          <a:xfrm>
            <a:off x="502920" y="1371600"/>
            <a:ext cx="11155680" cy="868680"/>
          </a:xfrm>
          <a:prstGeom prst="rect">
            <a:avLst/>
          </a:prstGeom>
          <a:noFill/>
          <a:ln/>
        </p:spPr>
        <p:txBody>
          <a:bodyPr wrap="square" rtlCol="0" anchor="ctr"/>
          <a:lstStyle/>
          <a:p>
            <a:pPr marL="0" indent="0">
              <a:buNone/>
            </a:pPr>
            <a:r>
              <a:rPr lang="en-US" sz="1300" dirty="0">
                <a:solidFill>
                  <a:srgbClr val="333333"/>
                </a:solidFill>
                <a:latin typeface="Calibri" pitchFamily="34" charset="0"/>
                <a:ea typeface="Calibri" pitchFamily="34" charset="-122"/>
                <a:cs typeface="Calibri" pitchFamily="34" charset="-120"/>
              </a:rPr>
              <a:t>We believe self-hosting is the right path. The Pilot is how we find out whether it actually holds up at NexTern before asking for a larger commitment — the same governance chain run against both Claude's API and a candidate self-hosted model, side by side, with a cohort spanning Exec, Management, and Engineers.</a:t>
            </a:r>
            <a:endParaRPr lang="en-US" sz="1300" dirty="0"/>
          </a:p>
        </p:txBody>
      </p:sp>
      <p:sp>
        <p:nvSpPr>
          <p:cNvPr id="5" name="Shape 3"/>
          <p:cNvSpPr/>
          <p:nvPr/>
        </p:nvSpPr>
        <p:spPr>
          <a:xfrm>
            <a:off x="1545336" y="2606040"/>
            <a:ext cx="8924544" cy="0"/>
          </a:xfrm>
          <a:prstGeom prst="line">
            <a:avLst/>
          </a:prstGeom>
          <a:noFill/>
          <a:ln w="25400">
            <a:solidFill>
              <a:srgbClr val="E1E4EF"/>
            </a:solidFill>
            <a:prstDash val="solid"/>
          </a:ln>
        </p:spPr>
        <p:txBody>
          <a:bodyPr/>
          <a:lstStyle/>
          <a:p>
            <a:endParaRPr lang="en-US"/>
          </a:p>
        </p:txBody>
      </p:sp>
      <p:sp>
        <p:nvSpPr>
          <p:cNvPr id="6" name="Shape 4"/>
          <p:cNvSpPr/>
          <p:nvPr/>
        </p:nvSpPr>
        <p:spPr>
          <a:xfrm>
            <a:off x="1463040" y="2523744"/>
            <a:ext cx="164592" cy="164592"/>
          </a:xfrm>
          <a:prstGeom prst="ellipse">
            <a:avLst/>
          </a:prstGeom>
          <a:solidFill>
            <a:srgbClr val="E65100"/>
          </a:solidFill>
          <a:ln/>
        </p:spPr>
        <p:txBody>
          <a:bodyPr/>
          <a:lstStyle/>
          <a:p>
            <a:endParaRPr lang="en-US"/>
          </a:p>
        </p:txBody>
      </p:sp>
      <p:sp>
        <p:nvSpPr>
          <p:cNvPr id="7" name="Text 5"/>
          <p:cNvSpPr/>
          <p:nvPr/>
        </p:nvSpPr>
        <p:spPr>
          <a:xfrm>
            <a:off x="502920" y="2788920"/>
            <a:ext cx="2084832" cy="274320"/>
          </a:xfrm>
          <a:prstGeom prst="rect">
            <a:avLst/>
          </a:prstGeom>
          <a:noFill/>
          <a:ln/>
        </p:spPr>
        <p:txBody>
          <a:bodyPr wrap="square" rtlCol="0" anchor="ctr"/>
          <a:lstStyle/>
          <a:p>
            <a:pPr marL="0" indent="0" algn="ctr">
              <a:buNone/>
            </a:pPr>
            <a:r>
              <a:rPr lang="en-US" sz="1200" b="1" dirty="0">
                <a:solidFill>
                  <a:srgbClr val="E65100"/>
                </a:solidFill>
                <a:latin typeface="Calibri" pitchFamily="34" charset="0"/>
                <a:ea typeface="Calibri" pitchFamily="34" charset="-122"/>
                <a:cs typeface="Calibri" pitchFamily="34" charset="-120"/>
              </a:rPr>
              <a:t>Aug 2026</a:t>
            </a:r>
            <a:endParaRPr lang="en-US" sz="1200" dirty="0"/>
          </a:p>
        </p:txBody>
      </p:sp>
      <p:sp>
        <p:nvSpPr>
          <p:cNvPr id="8" name="Shape 6"/>
          <p:cNvSpPr/>
          <p:nvPr/>
        </p:nvSpPr>
        <p:spPr>
          <a:xfrm>
            <a:off x="502920" y="3108960"/>
            <a:ext cx="2084832" cy="1920240"/>
          </a:xfrm>
          <a:prstGeom prst="roundRect">
            <a:avLst>
              <a:gd name="adj" fmla="val 2857"/>
            </a:avLst>
          </a:prstGeom>
          <a:solidFill>
            <a:srgbClr val="FFFFFF"/>
          </a:solidFill>
          <a:ln w="12700">
            <a:solidFill>
              <a:srgbClr val="E1E4EF"/>
            </a:solidFill>
            <a:prstDash val="solid"/>
          </a:ln>
        </p:spPr>
        <p:txBody>
          <a:bodyPr/>
          <a:lstStyle/>
          <a:p>
            <a:endParaRPr lang="en-US"/>
          </a:p>
        </p:txBody>
      </p:sp>
      <p:sp>
        <p:nvSpPr>
          <p:cNvPr id="9" name="Text 7"/>
          <p:cNvSpPr/>
          <p:nvPr/>
        </p:nvSpPr>
        <p:spPr>
          <a:xfrm>
            <a:off x="640080" y="3200400"/>
            <a:ext cx="1810512" cy="1737360"/>
          </a:xfrm>
          <a:prstGeom prst="rect">
            <a:avLst/>
          </a:prstGeom>
          <a:noFill/>
          <a:ln/>
        </p:spPr>
        <p:txBody>
          <a:bodyPr wrap="square" rtlCol="0" anchor="t"/>
          <a:lstStyle/>
          <a:p>
            <a:pPr marL="0" indent="0">
              <a:buNone/>
            </a:pPr>
            <a:r>
              <a:rPr lang="en-US" sz="1050" dirty="0">
                <a:solidFill>
                  <a:srgbClr val="333333"/>
                </a:solidFill>
                <a:latin typeface="Calibri" pitchFamily="34" charset="0"/>
                <a:ea typeface="Calibri" pitchFamily="34" charset="-122"/>
                <a:cs typeface="Calibri" pitchFamily="34" charset="-120"/>
              </a:rPr>
              <a:t>NexTern IT provisions the cloud account; gateway stood up; SSO wired; Claude API connected as initial backend</a:t>
            </a:r>
            <a:endParaRPr lang="en-US" sz="1050" dirty="0"/>
          </a:p>
        </p:txBody>
      </p:sp>
      <p:sp>
        <p:nvSpPr>
          <p:cNvPr id="10" name="Shape 8"/>
          <p:cNvSpPr/>
          <p:nvPr/>
        </p:nvSpPr>
        <p:spPr>
          <a:xfrm>
            <a:off x="3694176" y="2523744"/>
            <a:ext cx="164592" cy="164592"/>
          </a:xfrm>
          <a:prstGeom prst="ellipse">
            <a:avLst/>
          </a:prstGeom>
          <a:solidFill>
            <a:srgbClr val="E65100"/>
          </a:solidFill>
          <a:ln/>
        </p:spPr>
        <p:txBody>
          <a:bodyPr/>
          <a:lstStyle/>
          <a:p>
            <a:endParaRPr lang="en-US"/>
          </a:p>
        </p:txBody>
      </p:sp>
      <p:sp>
        <p:nvSpPr>
          <p:cNvPr id="11" name="Text 9"/>
          <p:cNvSpPr/>
          <p:nvPr/>
        </p:nvSpPr>
        <p:spPr>
          <a:xfrm>
            <a:off x="2734056" y="2788920"/>
            <a:ext cx="2084832" cy="274320"/>
          </a:xfrm>
          <a:prstGeom prst="rect">
            <a:avLst/>
          </a:prstGeom>
          <a:noFill/>
          <a:ln/>
        </p:spPr>
        <p:txBody>
          <a:bodyPr wrap="square" rtlCol="0" anchor="ctr"/>
          <a:lstStyle/>
          <a:p>
            <a:pPr marL="0" indent="0" algn="ctr">
              <a:buNone/>
            </a:pPr>
            <a:r>
              <a:rPr lang="en-US" sz="1200" b="1" dirty="0">
                <a:solidFill>
                  <a:srgbClr val="E65100"/>
                </a:solidFill>
                <a:latin typeface="Calibri" pitchFamily="34" charset="0"/>
                <a:ea typeface="Calibri" pitchFamily="34" charset="-122"/>
                <a:cs typeface="Calibri" pitchFamily="34" charset="-120"/>
              </a:rPr>
              <a:t>Sep 2026</a:t>
            </a:r>
            <a:endParaRPr lang="en-US" sz="1200" dirty="0"/>
          </a:p>
        </p:txBody>
      </p:sp>
      <p:sp>
        <p:nvSpPr>
          <p:cNvPr id="12" name="Shape 10"/>
          <p:cNvSpPr/>
          <p:nvPr/>
        </p:nvSpPr>
        <p:spPr>
          <a:xfrm>
            <a:off x="2734056" y="3108960"/>
            <a:ext cx="2084832" cy="1920240"/>
          </a:xfrm>
          <a:prstGeom prst="roundRect">
            <a:avLst>
              <a:gd name="adj" fmla="val 2857"/>
            </a:avLst>
          </a:prstGeom>
          <a:solidFill>
            <a:srgbClr val="FFFFFF"/>
          </a:solidFill>
          <a:ln w="12700">
            <a:solidFill>
              <a:srgbClr val="E1E4EF"/>
            </a:solidFill>
            <a:prstDash val="solid"/>
          </a:ln>
        </p:spPr>
        <p:txBody>
          <a:bodyPr/>
          <a:lstStyle/>
          <a:p>
            <a:endParaRPr lang="en-US"/>
          </a:p>
        </p:txBody>
      </p:sp>
      <p:sp>
        <p:nvSpPr>
          <p:cNvPr id="13" name="Text 11"/>
          <p:cNvSpPr/>
          <p:nvPr/>
        </p:nvSpPr>
        <p:spPr>
          <a:xfrm>
            <a:off x="2871216" y="3200400"/>
            <a:ext cx="1810512" cy="1737360"/>
          </a:xfrm>
          <a:prstGeom prst="rect">
            <a:avLst/>
          </a:prstGeom>
          <a:noFill/>
          <a:ln/>
        </p:spPr>
        <p:txBody>
          <a:bodyPr wrap="square" rtlCol="0" anchor="t"/>
          <a:lstStyle/>
          <a:p>
            <a:pPr marL="0" indent="0">
              <a:buNone/>
            </a:pPr>
            <a:r>
              <a:rPr lang="en-US" sz="1050" dirty="0">
                <a:solidFill>
                  <a:srgbClr val="333333"/>
                </a:solidFill>
                <a:latin typeface="Calibri" pitchFamily="34" charset="0"/>
                <a:ea typeface="Calibri" pitchFamily="34" charset="-122"/>
                <a:cs typeface="Calibri" pitchFamily="34" charset="-120"/>
              </a:rPr>
              <a:t>Time-boxed, rented-GPU evaluation of Llama 3.3 70B; latency/quality tested at 5–10 concurrent users</a:t>
            </a:r>
            <a:endParaRPr lang="en-US" sz="1050" dirty="0"/>
          </a:p>
        </p:txBody>
      </p:sp>
      <p:sp>
        <p:nvSpPr>
          <p:cNvPr id="14" name="Shape 12"/>
          <p:cNvSpPr/>
          <p:nvPr/>
        </p:nvSpPr>
        <p:spPr>
          <a:xfrm>
            <a:off x="5925312" y="2523744"/>
            <a:ext cx="164592" cy="164592"/>
          </a:xfrm>
          <a:prstGeom prst="ellipse">
            <a:avLst/>
          </a:prstGeom>
          <a:solidFill>
            <a:srgbClr val="E65100"/>
          </a:solidFill>
          <a:ln/>
        </p:spPr>
        <p:txBody>
          <a:bodyPr/>
          <a:lstStyle/>
          <a:p>
            <a:endParaRPr lang="en-US"/>
          </a:p>
        </p:txBody>
      </p:sp>
      <p:sp>
        <p:nvSpPr>
          <p:cNvPr id="15" name="Text 13"/>
          <p:cNvSpPr/>
          <p:nvPr/>
        </p:nvSpPr>
        <p:spPr>
          <a:xfrm>
            <a:off x="4965192" y="2788920"/>
            <a:ext cx="2084832" cy="274320"/>
          </a:xfrm>
          <a:prstGeom prst="rect">
            <a:avLst/>
          </a:prstGeom>
          <a:noFill/>
          <a:ln/>
        </p:spPr>
        <p:txBody>
          <a:bodyPr wrap="square" rtlCol="0" anchor="ctr"/>
          <a:lstStyle/>
          <a:p>
            <a:pPr marL="0" indent="0" algn="ctr">
              <a:buNone/>
            </a:pPr>
            <a:r>
              <a:rPr lang="en-US" sz="1200" b="1" dirty="0">
                <a:solidFill>
                  <a:srgbClr val="E65100"/>
                </a:solidFill>
                <a:latin typeface="Calibri" pitchFamily="34" charset="0"/>
                <a:ea typeface="Calibri" pitchFamily="34" charset="-122"/>
                <a:cs typeface="Calibri" pitchFamily="34" charset="-120"/>
              </a:rPr>
              <a:t>Oct 2026</a:t>
            </a:r>
            <a:endParaRPr lang="en-US" sz="1200" dirty="0"/>
          </a:p>
        </p:txBody>
      </p:sp>
      <p:sp>
        <p:nvSpPr>
          <p:cNvPr id="16" name="Shape 14"/>
          <p:cNvSpPr/>
          <p:nvPr/>
        </p:nvSpPr>
        <p:spPr>
          <a:xfrm>
            <a:off x="4965192" y="3108960"/>
            <a:ext cx="2084832" cy="1920240"/>
          </a:xfrm>
          <a:prstGeom prst="roundRect">
            <a:avLst>
              <a:gd name="adj" fmla="val 2857"/>
            </a:avLst>
          </a:prstGeom>
          <a:solidFill>
            <a:srgbClr val="FFFFFF"/>
          </a:solidFill>
          <a:ln w="12700">
            <a:solidFill>
              <a:srgbClr val="E1E4EF"/>
            </a:solidFill>
            <a:prstDash val="solid"/>
          </a:ln>
        </p:spPr>
        <p:txBody>
          <a:bodyPr/>
          <a:lstStyle/>
          <a:p>
            <a:endParaRPr lang="en-US"/>
          </a:p>
        </p:txBody>
      </p:sp>
      <p:sp>
        <p:nvSpPr>
          <p:cNvPr id="17" name="Text 15"/>
          <p:cNvSpPr/>
          <p:nvPr/>
        </p:nvSpPr>
        <p:spPr>
          <a:xfrm>
            <a:off x="5102352" y="3200400"/>
            <a:ext cx="1810512" cy="1737360"/>
          </a:xfrm>
          <a:prstGeom prst="rect">
            <a:avLst/>
          </a:prstGeom>
          <a:noFill/>
          <a:ln/>
        </p:spPr>
        <p:txBody>
          <a:bodyPr wrap="square" rtlCol="0" anchor="t"/>
          <a:lstStyle/>
          <a:p>
            <a:pPr marL="0" indent="0">
              <a:buNone/>
            </a:pPr>
            <a:r>
              <a:rPr lang="en-US" sz="1050" dirty="0">
                <a:solidFill>
                  <a:srgbClr val="333333"/>
                </a:solidFill>
                <a:latin typeface="Calibri" pitchFamily="34" charset="0"/>
                <a:ea typeface="Calibri" pitchFamily="34" charset="-122"/>
                <a:cs typeface="Calibri" pitchFamily="34" charset="-120"/>
              </a:rPr>
              <a:t>Propel MCP/RDAL integration extended; pilot users onboarded</a:t>
            </a:r>
            <a:endParaRPr lang="en-US" sz="1050" dirty="0"/>
          </a:p>
        </p:txBody>
      </p:sp>
      <p:sp>
        <p:nvSpPr>
          <p:cNvPr id="18" name="Shape 16"/>
          <p:cNvSpPr/>
          <p:nvPr/>
        </p:nvSpPr>
        <p:spPr>
          <a:xfrm>
            <a:off x="8156448" y="2523744"/>
            <a:ext cx="164592" cy="164592"/>
          </a:xfrm>
          <a:prstGeom prst="ellipse">
            <a:avLst/>
          </a:prstGeom>
          <a:solidFill>
            <a:srgbClr val="E65100"/>
          </a:solidFill>
          <a:ln/>
        </p:spPr>
        <p:txBody>
          <a:bodyPr/>
          <a:lstStyle/>
          <a:p>
            <a:endParaRPr lang="en-US"/>
          </a:p>
        </p:txBody>
      </p:sp>
      <p:sp>
        <p:nvSpPr>
          <p:cNvPr id="19" name="Text 17"/>
          <p:cNvSpPr/>
          <p:nvPr/>
        </p:nvSpPr>
        <p:spPr>
          <a:xfrm>
            <a:off x="7196328" y="2788920"/>
            <a:ext cx="2084832" cy="274320"/>
          </a:xfrm>
          <a:prstGeom prst="rect">
            <a:avLst/>
          </a:prstGeom>
          <a:noFill/>
          <a:ln/>
        </p:spPr>
        <p:txBody>
          <a:bodyPr wrap="square" rtlCol="0" anchor="ctr"/>
          <a:lstStyle/>
          <a:p>
            <a:pPr marL="0" indent="0" algn="ctr">
              <a:buNone/>
            </a:pPr>
            <a:r>
              <a:rPr lang="en-US" sz="1200" b="1" dirty="0">
                <a:solidFill>
                  <a:srgbClr val="E65100"/>
                </a:solidFill>
                <a:latin typeface="Calibri" pitchFamily="34" charset="0"/>
                <a:ea typeface="Calibri" pitchFamily="34" charset="-122"/>
                <a:cs typeface="Calibri" pitchFamily="34" charset="-120"/>
              </a:rPr>
              <a:t>Nov 2026</a:t>
            </a:r>
            <a:endParaRPr lang="en-US" sz="1200" dirty="0"/>
          </a:p>
        </p:txBody>
      </p:sp>
      <p:sp>
        <p:nvSpPr>
          <p:cNvPr id="20" name="Shape 18"/>
          <p:cNvSpPr/>
          <p:nvPr/>
        </p:nvSpPr>
        <p:spPr>
          <a:xfrm>
            <a:off x="7196328" y="3108960"/>
            <a:ext cx="2084832" cy="1920240"/>
          </a:xfrm>
          <a:prstGeom prst="roundRect">
            <a:avLst>
              <a:gd name="adj" fmla="val 2857"/>
            </a:avLst>
          </a:prstGeom>
          <a:solidFill>
            <a:srgbClr val="FFFFFF"/>
          </a:solidFill>
          <a:ln w="12700">
            <a:solidFill>
              <a:srgbClr val="E1E4EF"/>
            </a:solidFill>
            <a:prstDash val="solid"/>
          </a:ln>
        </p:spPr>
        <p:txBody>
          <a:bodyPr/>
          <a:lstStyle/>
          <a:p>
            <a:endParaRPr lang="en-US"/>
          </a:p>
        </p:txBody>
      </p:sp>
      <p:sp>
        <p:nvSpPr>
          <p:cNvPr id="21" name="Text 19"/>
          <p:cNvSpPr/>
          <p:nvPr/>
        </p:nvSpPr>
        <p:spPr>
          <a:xfrm>
            <a:off x="7333488" y="3200400"/>
            <a:ext cx="1810512" cy="1737360"/>
          </a:xfrm>
          <a:prstGeom prst="rect">
            <a:avLst/>
          </a:prstGeom>
          <a:noFill/>
          <a:ln/>
        </p:spPr>
        <p:txBody>
          <a:bodyPr wrap="square" rtlCol="0" anchor="t"/>
          <a:lstStyle/>
          <a:p>
            <a:pPr marL="0" indent="0">
              <a:buNone/>
            </a:pPr>
            <a:r>
              <a:rPr lang="en-US" sz="1050" dirty="0">
                <a:solidFill>
                  <a:srgbClr val="333333"/>
                </a:solidFill>
                <a:latin typeface="Calibri" pitchFamily="34" charset="0"/>
                <a:ea typeface="Calibri" pitchFamily="34" charset="-122"/>
                <a:cs typeface="Calibri" pitchFamily="34" charset="-120"/>
              </a:rPr>
              <a:t>Full pilot run; all three audit trails reproduced on the new stack</a:t>
            </a:r>
            <a:endParaRPr lang="en-US" sz="1050" dirty="0"/>
          </a:p>
        </p:txBody>
      </p:sp>
      <p:sp>
        <p:nvSpPr>
          <p:cNvPr id="22" name="Shape 20"/>
          <p:cNvSpPr/>
          <p:nvPr/>
        </p:nvSpPr>
        <p:spPr>
          <a:xfrm>
            <a:off x="10387584" y="2523744"/>
            <a:ext cx="164592" cy="164592"/>
          </a:xfrm>
          <a:prstGeom prst="ellipse">
            <a:avLst/>
          </a:prstGeom>
          <a:solidFill>
            <a:srgbClr val="E65100"/>
          </a:solidFill>
          <a:ln/>
        </p:spPr>
        <p:txBody>
          <a:bodyPr/>
          <a:lstStyle/>
          <a:p>
            <a:endParaRPr lang="en-US"/>
          </a:p>
        </p:txBody>
      </p:sp>
      <p:sp>
        <p:nvSpPr>
          <p:cNvPr id="23" name="Text 21"/>
          <p:cNvSpPr/>
          <p:nvPr/>
        </p:nvSpPr>
        <p:spPr>
          <a:xfrm>
            <a:off x="9427464" y="2788920"/>
            <a:ext cx="2084832" cy="274320"/>
          </a:xfrm>
          <a:prstGeom prst="rect">
            <a:avLst/>
          </a:prstGeom>
          <a:noFill/>
          <a:ln/>
        </p:spPr>
        <p:txBody>
          <a:bodyPr wrap="square" rtlCol="0" anchor="ctr"/>
          <a:lstStyle/>
          <a:p>
            <a:pPr marL="0" indent="0" algn="ctr">
              <a:buNone/>
            </a:pPr>
            <a:r>
              <a:rPr lang="en-US" sz="1200" b="1" dirty="0">
                <a:solidFill>
                  <a:srgbClr val="E65100"/>
                </a:solidFill>
                <a:latin typeface="Calibri" pitchFamily="34" charset="0"/>
                <a:ea typeface="Calibri" pitchFamily="34" charset="-122"/>
                <a:cs typeface="Calibri" pitchFamily="34" charset="-120"/>
              </a:rPr>
              <a:t>Dec 2026</a:t>
            </a:r>
            <a:endParaRPr lang="en-US" sz="1200" dirty="0"/>
          </a:p>
        </p:txBody>
      </p:sp>
      <p:sp>
        <p:nvSpPr>
          <p:cNvPr id="24" name="Shape 22"/>
          <p:cNvSpPr/>
          <p:nvPr/>
        </p:nvSpPr>
        <p:spPr>
          <a:xfrm>
            <a:off x="9427464" y="3108960"/>
            <a:ext cx="2084832" cy="1920240"/>
          </a:xfrm>
          <a:prstGeom prst="roundRect">
            <a:avLst>
              <a:gd name="adj" fmla="val 2857"/>
            </a:avLst>
          </a:prstGeom>
          <a:solidFill>
            <a:srgbClr val="FFFFFF"/>
          </a:solidFill>
          <a:ln w="12700">
            <a:solidFill>
              <a:srgbClr val="E1E4EF"/>
            </a:solidFill>
            <a:prstDash val="solid"/>
          </a:ln>
        </p:spPr>
        <p:txBody>
          <a:bodyPr/>
          <a:lstStyle/>
          <a:p>
            <a:endParaRPr lang="en-US"/>
          </a:p>
        </p:txBody>
      </p:sp>
      <p:sp>
        <p:nvSpPr>
          <p:cNvPr id="25" name="Text 23"/>
          <p:cNvSpPr/>
          <p:nvPr/>
        </p:nvSpPr>
        <p:spPr>
          <a:xfrm>
            <a:off x="9564624" y="3200400"/>
            <a:ext cx="1810512" cy="1737360"/>
          </a:xfrm>
          <a:prstGeom prst="rect">
            <a:avLst/>
          </a:prstGeom>
          <a:noFill/>
          <a:ln/>
        </p:spPr>
        <p:txBody>
          <a:bodyPr wrap="square" rtlCol="0" anchor="t"/>
          <a:lstStyle/>
          <a:p>
            <a:pPr marL="0" indent="0">
              <a:buNone/>
            </a:pPr>
            <a:r>
              <a:rPr lang="en-US" sz="1050" dirty="0">
                <a:solidFill>
                  <a:srgbClr val="333333"/>
                </a:solidFill>
                <a:latin typeface="Calibri" pitchFamily="34" charset="0"/>
                <a:ea typeface="Calibri" pitchFamily="34" charset="-122"/>
                <a:cs typeface="Calibri" pitchFamily="34" charset="-120"/>
              </a:rPr>
              <a:t>Evidence package assembled; cost model reconciled; 2027 funding recommendation delivered</a:t>
            </a:r>
            <a:endParaRPr lang="en-US" sz="1050" dirty="0"/>
          </a:p>
        </p:txBody>
      </p:sp>
      <p:sp>
        <p:nvSpPr>
          <p:cNvPr id="26" name="Shape 24"/>
          <p:cNvSpPr/>
          <p:nvPr/>
        </p:nvSpPr>
        <p:spPr>
          <a:xfrm>
            <a:off x="502920" y="5349240"/>
            <a:ext cx="11155680" cy="960120"/>
          </a:xfrm>
          <a:prstGeom prst="roundRect">
            <a:avLst>
              <a:gd name="adj" fmla="val 5714"/>
            </a:avLst>
          </a:prstGeom>
          <a:solidFill>
            <a:srgbClr val="F3F6FB"/>
          </a:solidFill>
          <a:ln w="12700">
            <a:solidFill>
              <a:srgbClr val="E1E4EF"/>
            </a:solidFill>
            <a:prstDash val="solid"/>
          </a:ln>
        </p:spPr>
        <p:txBody>
          <a:bodyPr/>
          <a:lstStyle/>
          <a:p>
            <a:endParaRPr lang="en-US"/>
          </a:p>
        </p:txBody>
      </p:sp>
      <p:sp>
        <p:nvSpPr>
          <p:cNvPr id="27" name="Text 25"/>
          <p:cNvSpPr/>
          <p:nvPr/>
        </p:nvSpPr>
        <p:spPr>
          <a:xfrm>
            <a:off x="731520" y="5422392"/>
            <a:ext cx="10698480" cy="822960"/>
          </a:xfrm>
          <a:prstGeom prst="rect">
            <a:avLst/>
          </a:prstGeom>
          <a:noFill/>
          <a:ln/>
        </p:spPr>
        <p:txBody>
          <a:bodyPr wrap="square" rtlCol="0" anchor="ctr"/>
          <a:lstStyle/>
          <a:p>
            <a:pPr marL="0" indent="0" algn="ctr">
              <a:buNone/>
            </a:pPr>
            <a:r>
              <a:rPr lang="en-US" sz="1400" i="1" dirty="0">
                <a:solidFill>
                  <a:srgbClr val="333333"/>
                </a:solidFill>
                <a:latin typeface="Calibri" pitchFamily="34" charset="0"/>
                <a:ea typeface="Calibri" pitchFamily="34" charset="-122"/>
                <a:cs typeface="Calibri" pitchFamily="34" charset="-120"/>
              </a:rPr>
              <a:t>Pilot Goal: Build and test Private AI solution within NexTern and select ideal production environment for deployment 1Q27</a:t>
            </a:r>
            <a:endParaRPr lang="en-US" sz="1400" dirty="0"/>
          </a:p>
        </p:txBody>
      </p:sp>
      <p:sp>
        <p:nvSpPr>
          <p:cNvPr id="29" name="Text 27"/>
          <p:cNvSpPr/>
          <p:nvPr/>
        </p:nvSpPr>
        <p:spPr>
          <a:xfrm>
            <a:off x="11368735" y="6528816"/>
            <a:ext cx="365760" cy="256032"/>
          </a:xfrm>
          <a:prstGeom prst="rect">
            <a:avLst/>
          </a:prstGeom>
          <a:noFill/>
          <a:ln/>
        </p:spPr>
        <p:txBody>
          <a:bodyPr wrap="square" rtlCol="0" anchor="ctr"/>
          <a:lstStyle/>
          <a:p>
            <a:pPr marL="0" indent="0" algn="r">
              <a:buNone/>
            </a:pPr>
            <a:r>
              <a:rPr lang="en-US" sz="900" dirty="0">
                <a:solidFill>
                  <a:srgbClr val="5F6368"/>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a:extLst>
              <a:ext uri="{FF2B5EF4-FFF2-40B4-BE49-F238E27FC236}">
                <a16:creationId xmlns:a16="http://schemas.microsoft.com/office/drawing/2014/main" id="{AC9535D0-BE17-6977-A972-8AF9EB8E44B2}"/>
              </a:ext>
            </a:extLst>
          </p:cNvPr>
          <p:cNvSpPr/>
          <p:nvPr/>
        </p:nvSpPr>
        <p:spPr>
          <a:xfrm>
            <a:off x="502920" y="576072"/>
            <a:ext cx="10515600" cy="640080"/>
          </a:xfrm>
          <a:prstGeom prst="rect">
            <a:avLst/>
          </a:prstGeom>
          <a:noFill/>
          <a:ln/>
        </p:spPr>
        <p:txBody>
          <a:bodyPr wrap="square" rtlCol="0" anchor="ctr"/>
          <a:lstStyle/>
          <a:p>
            <a:pPr marL="0" indent="0">
              <a:buNone/>
            </a:pPr>
            <a:r>
              <a:rPr lang="en-US" sz="2800" b="1" dirty="0">
                <a:solidFill>
                  <a:srgbClr val="082744"/>
                </a:solidFill>
                <a:latin typeface="Cambria" pitchFamily="34" charset="0"/>
                <a:ea typeface="Cambria" pitchFamily="34" charset="-122"/>
                <a:cs typeface="Cambria" pitchFamily="34" charset="-120"/>
              </a:rPr>
              <a:t>Private AI: Controlled Egress</a:t>
            </a:r>
            <a:endParaRPr lang="en-US" sz="2800" dirty="0"/>
          </a:p>
        </p:txBody>
      </p:sp>
      <p:pic>
        <p:nvPicPr>
          <p:cNvPr id="5" name="Graphic 4">
            <a:extLst>
              <a:ext uri="{FF2B5EF4-FFF2-40B4-BE49-F238E27FC236}">
                <a16:creationId xmlns:a16="http://schemas.microsoft.com/office/drawing/2014/main" id="{67B24822-12B2-578A-2B88-C3DDE33EB637}"/>
              </a:ext>
            </a:extLst>
          </p:cNvPr>
          <p:cNvPicPr>
            <a:picLocks noChangeAspect="1"/>
          </p:cNvPicPr>
          <p:nvPr/>
        </p:nvPicPr>
        <p:blipFill>
          <a:blip>
            <a:extLst>
              <a:ext uri="{96DAC541-7B7A-43D3-8B79-37D633B846F1}">
                <asvg:svgBlip xmlns:asvg="http://schemas.microsoft.com/office/drawing/2016/SVG/main" r:embed="rId2"/>
              </a:ext>
            </a:extLst>
          </a:blip>
          <a:srcRect t="7183"/>
          <a:stretch>
            <a:fillRect/>
          </a:stretch>
        </p:blipFill>
        <p:spPr>
          <a:xfrm>
            <a:off x="3888480" y="1499347"/>
            <a:ext cx="7772400" cy="4659108"/>
          </a:xfrm>
          <a:prstGeom prst="rect">
            <a:avLst/>
          </a:prstGeom>
        </p:spPr>
      </p:pic>
      <p:sp>
        <p:nvSpPr>
          <p:cNvPr id="6" name="Text Lede">
            <a:extLst>
              <a:ext uri="{FF2B5EF4-FFF2-40B4-BE49-F238E27FC236}">
                <a16:creationId xmlns:a16="http://schemas.microsoft.com/office/drawing/2014/main" id="{28009427-8534-F5BB-B5FA-4F4490E703A1}"/>
              </a:ext>
            </a:extLst>
          </p:cNvPr>
          <p:cNvSpPr/>
          <p:nvPr/>
        </p:nvSpPr>
        <p:spPr>
          <a:xfrm>
            <a:off x="603773" y="2719327"/>
            <a:ext cx="3026933" cy="1419345"/>
          </a:xfrm>
          <a:prstGeom prst="rect">
            <a:avLst/>
          </a:prstGeom>
          <a:noFill/>
          <a:ln/>
        </p:spPr>
        <p:txBody>
          <a:bodyPr wrap="square" rtlCol="0" anchor="ctr"/>
          <a:lstStyle/>
          <a:p>
            <a:pPr marL="0" indent="0">
              <a:buNone/>
            </a:pPr>
            <a:r>
              <a:rPr lang="en-US" sz="1300" i="1" dirty="0">
                <a:solidFill>
                  <a:srgbClr val="333333"/>
                </a:solidFill>
                <a:latin typeface="Calibri" pitchFamily="34" charset="0"/>
                <a:ea typeface="Calibri" pitchFamily="34" charset="-122"/>
                <a:cs typeface="Calibri" pitchFamily="34" charset="-120"/>
              </a:rPr>
              <a:t>Private AI, Controlled Egress: </a:t>
            </a:r>
          </a:p>
          <a:p>
            <a:pPr marL="0" indent="0">
              <a:buNone/>
            </a:pPr>
            <a:endParaRPr lang="en-US" sz="1300" i="1" dirty="0">
              <a:solidFill>
                <a:srgbClr val="333333"/>
              </a:solidFill>
              <a:latin typeface="Calibri" pitchFamily="34" charset="0"/>
              <a:ea typeface="Calibri" pitchFamily="34" charset="-122"/>
              <a:cs typeface="Calibri" pitchFamily="34" charset="-120"/>
            </a:endParaRPr>
          </a:p>
          <a:p>
            <a:pPr marL="285750" indent="-285750">
              <a:buFont typeface="Arial" panose="020B0604020202020204" pitchFamily="34" charset="0"/>
              <a:buChar char="•"/>
            </a:pPr>
            <a:r>
              <a:rPr lang="en-US" sz="1300" i="1" dirty="0">
                <a:solidFill>
                  <a:srgbClr val="333333"/>
                </a:solidFill>
                <a:latin typeface="Calibri" pitchFamily="34" charset="0"/>
                <a:ea typeface="Calibri" pitchFamily="34" charset="-122"/>
                <a:cs typeface="Calibri" pitchFamily="34" charset="-120"/>
              </a:rPr>
              <a:t>Original two-tier "Private AI" concept </a:t>
            </a:r>
          </a:p>
          <a:p>
            <a:pPr marL="285750" indent="-285750">
              <a:buFont typeface="Arial" panose="020B0604020202020204" pitchFamily="34" charset="0"/>
              <a:buChar char="•"/>
            </a:pPr>
            <a:r>
              <a:rPr lang="en-US" sz="1300" i="1" dirty="0">
                <a:solidFill>
                  <a:srgbClr val="333333"/>
                </a:solidFill>
                <a:latin typeface="Calibri" pitchFamily="34" charset="0"/>
                <a:ea typeface="Calibri" pitchFamily="34" charset="-122"/>
                <a:cs typeface="Calibri" pitchFamily="34" charset="-120"/>
              </a:rPr>
              <a:t>Narrow allow-listed outbound path (telemetry/metrics/updates only)</a:t>
            </a:r>
          </a:p>
          <a:p>
            <a:pPr marL="285750" indent="-285750">
              <a:buFont typeface="Arial" panose="020B0604020202020204" pitchFamily="34" charset="0"/>
              <a:buChar char="•"/>
            </a:pPr>
            <a:r>
              <a:rPr lang="en-US" sz="1300" i="1" dirty="0">
                <a:solidFill>
                  <a:srgbClr val="333333"/>
                </a:solidFill>
                <a:latin typeface="Calibri" pitchFamily="34" charset="0"/>
                <a:ea typeface="Calibri" pitchFamily="34" charset="-122"/>
                <a:cs typeface="Calibri" pitchFamily="34" charset="-120"/>
              </a:rPr>
              <a:t>Everything else blocked at the boundary.</a:t>
            </a:r>
            <a:endParaRPr lang="en-US" sz="1300" i="1" dirty="0"/>
          </a:p>
        </p:txBody>
      </p:sp>
    </p:spTree>
    <p:extLst>
      <p:ext uri="{BB962C8B-B14F-4D97-AF65-F5344CB8AC3E}">
        <p14:creationId xmlns:p14="http://schemas.microsoft.com/office/powerpoint/2010/main" val="37622652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a:extLst>
              <a:ext uri="{FF2B5EF4-FFF2-40B4-BE49-F238E27FC236}">
                <a16:creationId xmlns:a16="http://schemas.microsoft.com/office/drawing/2014/main" id="{80A673AC-74A8-9E1C-F6E1-7617DA2C58A6}"/>
              </a:ext>
            </a:extLst>
          </p:cNvPr>
          <p:cNvSpPr/>
          <p:nvPr/>
        </p:nvSpPr>
        <p:spPr>
          <a:xfrm>
            <a:off x="502920" y="576072"/>
            <a:ext cx="10515600" cy="640080"/>
          </a:xfrm>
          <a:prstGeom prst="rect">
            <a:avLst/>
          </a:prstGeom>
          <a:noFill/>
          <a:ln/>
        </p:spPr>
        <p:txBody>
          <a:bodyPr wrap="square" rtlCol="0" anchor="ctr"/>
          <a:lstStyle/>
          <a:p>
            <a:pPr marL="0" indent="0">
              <a:buNone/>
            </a:pPr>
            <a:r>
              <a:rPr lang="en-US" sz="2800" b="1" dirty="0">
                <a:solidFill>
                  <a:srgbClr val="082744"/>
                </a:solidFill>
                <a:latin typeface="Cambria" pitchFamily="34" charset="0"/>
                <a:ea typeface="Cambria" pitchFamily="34" charset="-122"/>
                <a:cs typeface="Cambria" pitchFamily="34" charset="-120"/>
              </a:rPr>
              <a:t>Private AI: Managed External Connections</a:t>
            </a:r>
            <a:endParaRPr lang="en-US" sz="2800" dirty="0"/>
          </a:p>
        </p:txBody>
      </p:sp>
      <p:sp>
        <p:nvSpPr>
          <p:cNvPr id="3" name="Text Lede">
            <a:extLst>
              <a:ext uri="{FF2B5EF4-FFF2-40B4-BE49-F238E27FC236}">
                <a16:creationId xmlns:a16="http://schemas.microsoft.com/office/drawing/2014/main" id="{701F7275-B5ED-D907-022C-31B39690F866}"/>
              </a:ext>
            </a:extLst>
          </p:cNvPr>
          <p:cNvSpPr/>
          <p:nvPr/>
        </p:nvSpPr>
        <p:spPr>
          <a:xfrm>
            <a:off x="603773" y="2719327"/>
            <a:ext cx="3416898" cy="2007314"/>
          </a:xfrm>
          <a:prstGeom prst="rect">
            <a:avLst/>
          </a:prstGeom>
          <a:noFill/>
          <a:ln/>
        </p:spPr>
        <p:txBody>
          <a:bodyPr wrap="square" rtlCol="0" anchor="ctr"/>
          <a:lstStyle/>
          <a:p>
            <a:pPr marL="0" indent="0">
              <a:buNone/>
            </a:pPr>
            <a:r>
              <a:rPr lang="en-US" sz="1300" i="1" dirty="0">
                <a:solidFill>
                  <a:srgbClr val="333333"/>
                </a:solidFill>
                <a:latin typeface="Calibri" pitchFamily="34" charset="0"/>
                <a:ea typeface="Calibri" pitchFamily="34" charset="-122"/>
                <a:cs typeface="Calibri" pitchFamily="34" charset="-120"/>
              </a:rPr>
              <a:t>Private AI — Managed External Connections: </a:t>
            </a:r>
          </a:p>
          <a:p>
            <a:pPr marL="0" indent="0">
              <a:buNone/>
            </a:pPr>
            <a:endParaRPr lang="en-US" sz="1300" i="1" dirty="0">
              <a:solidFill>
                <a:srgbClr val="333333"/>
              </a:solidFill>
              <a:latin typeface="Calibri" pitchFamily="34" charset="0"/>
              <a:ea typeface="Calibri" pitchFamily="34" charset="-122"/>
              <a:cs typeface="Calibri" pitchFamily="34" charset="-120"/>
            </a:endParaRPr>
          </a:p>
          <a:p>
            <a:pPr marL="285750" indent="-285750">
              <a:buFont typeface="Arial" panose="020B0604020202020204" pitchFamily="34" charset="0"/>
              <a:buChar char="•"/>
            </a:pPr>
            <a:r>
              <a:rPr lang="en-US" sz="1300" i="1" dirty="0">
                <a:solidFill>
                  <a:srgbClr val="333333"/>
                </a:solidFill>
                <a:latin typeface="Calibri" pitchFamily="34" charset="0"/>
                <a:ea typeface="Calibri" pitchFamily="34" charset="-122"/>
                <a:cs typeface="Calibri" pitchFamily="34" charset="-120"/>
              </a:rPr>
              <a:t>Current design</a:t>
            </a:r>
          </a:p>
          <a:p>
            <a:pPr marL="285750" indent="-285750">
              <a:buFont typeface="Arial" panose="020B0604020202020204" pitchFamily="34" charset="0"/>
              <a:buChar char="•"/>
            </a:pPr>
            <a:r>
              <a:rPr lang="en-US" sz="1300" i="1" dirty="0">
                <a:solidFill>
                  <a:srgbClr val="333333"/>
                </a:solidFill>
                <a:latin typeface="Calibri" pitchFamily="34" charset="0"/>
                <a:ea typeface="Calibri" pitchFamily="34" charset="-122"/>
                <a:cs typeface="Calibri" pitchFamily="34" charset="-120"/>
              </a:rPr>
              <a:t>A governed gateway broker for policy-enforced, audited connections (outbound-only telemetry plus bidirectional approved APIs/partner systems)</a:t>
            </a:r>
          </a:p>
          <a:p>
            <a:pPr marL="285750" indent="-285750">
              <a:buFont typeface="Arial" panose="020B0604020202020204" pitchFamily="34" charset="0"/>
              <a:buChar char="•"/>
            </a:pPr>
            <a:r>
              <a:rPr lang="en-US" sz="1300" i="1" dirty="0">
                <a:solidFill>
                  <a:srgbClr val="333333"/>
                </a:solidFill>
                <a:latin typeface="Calibri" pitchFamily="34" charset="0"/>
                <a:ea typeface="Calibri" pitchFamily="34" charset="-122"/>
                <a:cs typeface="Calibri" pitchFamily="34" charset="-120"/>
              </a:rPr>
              <a:t>Core prompts and data still never leave</a:t>
            </a:r>
            <a:endParaRPr lang="en-US" sz="1300" i="1" dirty="0"/>
          </a:p>
        </p:txBody>
      </p:sp>
      <p:pic>
        <p:nvPicPr>
          <p:cNvPr id="5" name="Graphic 4">
            <a:extLst>
              <a:ext uri="{FF2B5EF4-FFF2-40B4-BE49-F238E27FC236}">
                <a16:creationId xmlns:a16="http://schemas.microsoft.com/office/drawing/2014/main" id="{B4405E31-24CE-3358-9F18-79967A2C0BDC}"/>
              </a:ext>
            </a:extLst>
          </p:cNvPr>
          <p:cNvPicPr>
            <a:picLocks noChangeAspect="1"/>
          </p:cNvPicPr>
          <p:nvPr/>
        </p:nvPicPr>
        <p:blipFill>
          <a:blip>
            <a:extLst>
              <a:ext uri="{96DAC541-7B7A-43D3-8B79-37D633B846F1}">
                <asvg:svgBlip xmlns:asvg="http://schemas.microsoft.com/office/drawing/2016/SVG/main" r:embed="rId2"/>
              </a:ext>
            </a:extLst>
          </a:blip>
          <a:srcRect t="7277"/>
          <a:stretch>
            <a:fillRect/>
          </a:stretch>
        </p:blipFill>
        <p:spPr>
          <a:xfrm>
            <a:off x="3939365" y="1479176"/>
            <a:ext cx="7772400" cy="4654431"/>
          </a:xfrm>
          <a:prstGeom prst="rect">
            <a:avLst/>
          </a:prstGeom>
        </p:spPr>
      </p:pic>
    </p:spTree>
    <p:extLst>
      <p:ext uri="{BB962C8B-B14F-4D97-AF65-F5344CB8AC3E}">
        <p14:creationId xmlns:p14="http://schemas.microsoft.com/office/powerpoint/2010/main" val="23824016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a:extLst>
              <a:ext uri="{FF2B5EF4-FFF2-40B4-BE49-F238E27FC236}">
                <a16:creationId xmlns:a16="http://schemas.microsoft.com/office/drawing/2014/main" id="{7193B970-ACF0-99B1-B075-238EA9716C95}"/>
              </a:ext>
            </a:extLst>
          </p:cNvPr>
          <p:cNvSpPr/>
          <p:nvPr/>
        </p:nvSpPr>
        <p:spPr>
          <a:xfrm>
            <a:off x="502920" y="576072"/>
            <a:ext cx="10515600" cy="640080"/>
          </a:xfrm>
          <a:prstGeom prst="rect">
            <a:avLst/>
          </a:prstGeom>
          <a:noFill/>
          <a:ln/>
        </p:spPr>
        <p:txBody>
          <a:bodyPr wrap="square" rtlCol="0" anchor="ctr"/>
          <a:lstStyle/>
          <a:p>
            <a:pPr marL="0" indent="0">
              <a:buNone/>
            </a:pPr>
            <a:r>
              <a:rPr lang="en-US" sz="2800" b="1" dirty="0">
                <a:solidFill>
                  <a:srgbClr val="082744"/>
                </a:solidFill>
                <a:latin typeface="Cambria" pitchFamily="34" charset="0"/>
                <a:ea typeface="Cambria" pitchFamily="34" charset="-122"/>
                <a:cs typeface="Cambria" pitchFamily="34" charset="-120"/>
              </a:rPr>
              <a:t>Private AI: Air-Gapped AI</a:t>
            </a:r>
            <a:endParaRPr lang="en-US" sz="2800" dirty="0"/>
          </a:p>
        </p:txBody>
      </p:sp>
      <p:pic>
        <p:nvPicPr>
          <p:cNvPr id="5" name="Graphic 4">
            <a:extLst>
              <a:ext uri="{FF2B5EF4-FFF2-40B4-BE49-F238E27FC236}">
                <a16:creationId xmlns:a16="http://schemas.microsoft.com/office/drawing/2014/main" id="{B0162E46-1DA3-8905-54E9-EF43891EB30E}"/>
              </a:ext>
            </a:extLst>
          </p:cNvPr>
          <p:cNvPicPr>
            <a:picLocks noChangeAspect="1"/>
          </p:cNvPicPr>
          <p:nvPr/>
        </p:nvPicPr>
        <p:blipFill>
          <a:blip>
            <a:extLst>
              <a:ext uri="{96DAC541-7B7A-43D3-8B79-37D633B846F1}">
                <asvg:svgBlip xmlns:asvg="http://schemas.microsoft.com/office/drawing/2016/SVG/main" r:embed="rId2"/>
              </a:ext>
            </a:extLst>
          </a:blip>
          <a:srcRect t="7544"/>
          <a:stretch>
            <a:fillRect/>
          </a:stretch>
        </p:blipFill>
        <p:spPr>
          <a:xfrm>
            <a:off x="3663956" y="1640922"/>
            <a:ext cx="7772400" cy="4641006"/>
          </a:xfrm>
          <a:prstGeom prst="rect">
            <a:avLst/>
          </a:prstGeom>
        </p:spPr>
      </p:pic>
      <p:sp>
        <p:nvSpPr>
          <p:cNvPr id="6" name="Text Lede">
            <a:extLst>
              <a:ext uri="{FF2B5EF4-FFF2-40B4-BE49-F238E27FC236}">
                <a16:creationId xmlns:a16="http://schemas.microsoft.com/office/drawing/2014/main" id="{8C764E03-52E9-1074-FB00-9F7B4EFD6803}"/>
              </a:ext>
            </a:extLst>
          </p:cNvPr>
          <p:cNvSpPr/>
          <p:nvPr/>
        </p:nvSpPr>
        <p:spPr>
          <a:xfrm>
            <a:off x="603773" y="2719327"/>
            <a:ext cx="2952974" cy="1419345"/>
          </a:xfrm>
          <a:prstGeom prst="rect">
            <a:avLst/>
          </a:prstGeom>
          <a:noFill/>
          <a:ln/>
        </p:spPr>
        <p:txBody>
          <a:bodyPr wrap="square" rtlCol="0" anchor="ctr"/>
          <a:lstStyle/>
          <a:p>
            <a:pPr marL="0" indent="0">
              <a:buNone/>
            </a:pPr>
            <a:r>
              <a:rPr lang="en-US" sz="1300" i="1" dirty="0">
                <a:solidFill>
                  <a:srgbClr val="333333"/>
                </a:solidFill>
                <a:latin typeface="Calibri" pitchFamily="34" charset="0"/>
                <a:ea typeface="Calibri" pitchFamily="34" charset="-122"/>
                <a:cs typeface="Calibri" pitchFamily="34" charset="-120"/>
              </a:rPr>
              <a:t>Air-Gapped Private AI: zero network path in or out</a:t>
            </a:r>
          </a:p>
          <a:p>
            <a:pPr marL="0" indent="0">
              <a:buNone/>
            </a:pPr>
            <a:endParaRPr lang="en-US" sz="1300" i="1" dirty="0">
              <a:solidFill>
                <a:srgbClr val="333333"/>
              </a:solidFill>
              <a:latin typeface="Calibri" pitchFamily="34" charset="0"/>
              <a:ea typeface="Calibri" pitchFamily="34" charset="-122"/>
              <a:cs typeface="Calibri" pitchFamily="34" charset="-120"/>
            </a:endParaRPr>
          </a:p>
          <a:p>
            <a:pPr marL="285750" indent="-285750">
              <a:buFont typeface="Arial" panose="020B0604020202020204" pitchFamily="34" charset="0"/>
              <a:buChar char="•"/>
            </a:pPr>
            <a:r>
              <a:rPr lang="en-US" sz="1300" i="1" dirty="0">
                <a:solidFill>
                  <a:srgbClr val="333333"/>
                </a:solidFill>
                <a:latin typeface="Calibri" pitchFamily="34" charset="0"/>
                <a:ea typeface="Calibri" pitchFamily="34" charset="-122"/>
                <a:cs typeface="Calibri" pitchFamily="34" charset="-120"/>
              </a:rPr>
              <a:t>Only path is manual physical-media transfer.</a:t>
            </a:r>
            <a:endParaRPr lang="en-US" sz="1300" i="1" dirty="0"/>
          </a:p>
        </p:txBody>
      </p:sp>
    </p:spTree>
    <p:extLst>
      <p:ext uri="{BB962C8B-B14F-4D97-AF65-F5344CB8AC3E}">
        <p14:creationId xmlns:p14="http://schemas.microsoft.com/office/powerpoint/2010/main" val="4523697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D4E59-4D53-E0AC-A070-53F6988FD7B8}"/>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F9BA4D43-A90F-8B00-C2E4-97B9D74F16E5}"/>
              </a:ext>
            </a:extLst>
          </p:cNvPr>
          <p:cNvSpPr/>
          <p:nvPr/>
        </p:nvSpPr>
        <p:spPr>
          <a:xfrm>
            <a:off x="502920" y="576072"/>
            <a:ext cx="10515600" cy="640080"/>
          </a:xfrm>
          <a:prstGeom prst="rect">
            <a:avLst/>
          </a:prstGeom>
          <a:noFill/>
          <a:ln/>
        </p:spPr>
        <p:txBody>
          <a:bodyPr wrap="square" rtlCol="0" anchor="ctr"/>
          <a:lstStyle/>
          <a:p>
            <a:pPr marL="0" indent="0">
              <a:buNone/>
            </a:pPr>
            <a:r>
              <a:rPr lang="en-US" sz="2800" b="1" dirty="0">
                <a:solidFill>
                  <a:srgbClr val="082744"/>
                </a:solidFill>
                <a:latin typeface="Cambria" pitchFamily="34" charset="0"/>
                <a:ea typeface="Cambria" pitchFamily="34" charset="-122"/>
                <a:cs typeface="Cambria" pitchFamily="34" charset="-120"/>
              </a:rPr>
              <a:t>ROI</a:t>
            </a:r>
            <a:endParaRPr lang="en-US" sz="2800" dirty="0"/>
          </a:p>
        </p:txBody>
      </p:sp>
      <p:sp>
        <p:nvSpPr>
          <p:cNvPr id="20" name="Text Lede"/>
          <p:cNvSpPr/>
          <p:nvPr/>
        </p:nvSpPr>
        <p:spPr>
          <a:xfrm>
            <a:off x="502920" y="1380000"/>
            <a:ext cx="10515600" cy="480000"/>
          </a:xfrm>
          <a:prstGeom prst="rect">
            <a:avLst/>
          </a:prstGeom>
          <a:noFill/>
          <a:ln/>
        </p:spPr>
        <p:txBody>
          <a:bodyPr wrap="square" rtlCol="0" anchor="ctr"/>
          <a:lstStyle/>
          <a:p>
            <a:pPr marL="0" indent="0">
              <a:buNone/>
            </a:pPr>
            <a:r>
              <a:rPr lang="en-US" sz="1300" i="1" dirty="0">
                <a:solidFill>
                  <a:srgbClr val="333333"/>
                </a:solidFill>
                <a:latin typeface="Calibri" pitchFamily="34" charset="0"/>
                <a:ea typeface="Calibri" pitchFamily="34" charset="-122"/>
                <a:cs typeface="Calibri" pitchFamily="34" charset="-120"/>
              </a:rPr>
              <a:t>This didn't come from the ROI model. The case made earlier in this deck holds on its own, but Finance will reasonably want the numbers, so here they are: confident where we're confident, plain where we're not.</a:t>
            </a:r>
            <a:endParaRPr lang="en-US" sz="1300" i="1" dirty="0"/>
          </a:p>
        </p:txBody>
      </p:sp>
      <p:sp>
        <p:nvSpPr>
          <p:cNvPr id="7" name="Text 5">
            <a:extLst>
              <a:ext uri="{FF2B5EF4-FFF2-40B4-BE49-F238E27FC236}">
                <a16:creationId xmlns:a16="http://schemas.microsoft.com/office/drawing/2014/main" id="{644C9D57-2A72-2400-734B-702725A54242}"/>
              </a:ext>
            </a:extLst>
          </p:cNvPr>
          <p:cNvSpPr/>
          <p:nvPr/>
        </p:nvSpPr>
        <p:spPr>
          <a:xfrm>
            <a:off x="518160" y="1944666"/>
            <a:ext cx="9144000" cy="320040"/>
          </a:xfrm>
          <a:prstGeom prst="rect">
            <a:avLst/>
          </a:prstGeom>
          <a:noFill/>
          <a:ln/>
        </p:spPr>
        <p:txBody>
          <a:bodyPr wrap="square" rtlCol="0" anchor="ctr"/>
          <a:lstStyle/>
          <a:p>
            <a:pPr marL="0" indent="0">
              <a:buNone/>
            </a:pPr>
            <a:r>
              <a:rPr lang="en-US" sz="1500" b="1" dirty="0">
                <a:solidFill>
                  <a:srgbClr val="082744"/>
                </a:solidFill>
                <a:latin typeface="Cambria" pitchFamily="34" charset="0"/>
                <a:ea typeface="Cambria" pitchFamily="34" charset="-122"/>
                <a:cs typeface="Cambria" pitchFamily="34" charset="-120"/>
              </a:rPr>
              <a:t>Hard ROI: annual value at full deployment (200-user scale)</a:t>
            </a:r>
            <a:endParaRPr lang="en-US" sz="1500" dirty="0"/>
          </a:p>
        </p:txBody>
      </p:sp>
      <p:graphicFrame>
        <p:nvGraphicFramePr>
          <p:cNvPr id="12" name="Table 0">
            <a:extLst>
              <a:ext uri="{FF2B5EF4-FFF2-40B4-BE49-F238E27FC236}">
                <a16:creationId xmlns:a16="http://schemas.microsoft.com/office/drawing/2014/main" id="{81FD5C6A-2B19-7B04-1323-0905F31E834B}"/>
              </a:ext>
            </a:extLst>
          </p:cNvPr>
          <p:cNvGraphicFramePr>
            <a:graphicFrameLocks noGrp="1"/>
          </p:cNvGraphicFramePr>
          <p:nvPr>
            <p:extLst>
              <p:ext uri="{D42A27DB-BD31-4B8C-83A1-F6EECF244321}">
                <p14:modId xmlns:p14="http://schemas.microsoft.com/office/powerpoint/2010/main" val="932046068"/>
              </p:ext>
            </p:extLst>
          </p:nvPr>
        </p:nvGraphicFramePr>
        <p:xfrm>
          <a:off x="518160" y="2310426"/>
          <a:ext cx="11155680" cy="3054096"/>
        </p:xfrm>
        <a:graphic>
          <a:graphicData uri="http://schemas.openxmlformats.org/drawingml/2006/table">
            <a:tbl>
              <a:tblPr/>
              <a:tblGrid>
                <a:gridCol w="429768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tblGrid>
              <a:tr h="36576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Value Source</a:t>
                      </a:r>
                      <a:endParaRPr lang="en-US" sz="1150" dirty="0">
                        <a:latin typeface="Calibri" charset="0"/>
                        <a:ea typeface="Calibri" charset="0"/>
                        <a:cs typeface="Calibri" charset="0"/>
                      </a:endParaRPr>
                    </a:p>
                  </a:txBody>
                  <a:tcPr anchor="ctr">
                    <a:lnL w="9525" cap="flat" cmpd="sng" algn="ctr">
                      <a:solidFill>
                        <a:srgbClr val="E1E4EF"/>
                      </a:solidFill>
                      <a:prstDash val="solid"/>
                      <a:round/>
                      <a:headEnd type="none" w="med" len="med"/>
                      <a:tailEnd type="none" w="med" len="med"/>
                    </a:lnL>
                    <a:lnR w="9525" cap="flat" cmpd="sng" algn="ctr">
                      <a:solidFill>
                        <a:srgbClr val="E1E4EF"/>
                      </a:solidFill>
                      <a:prstDash val="solid"/>
                      <a:round/>
                      <a:headEnd type="none" w="med" len="med"/>
                      <a:tailEnd type="none" w="med" len="med"/>
                    </a:lnR>
                    <a:lnT w="9525" cap="flat" cmpd="sng" algn="ctr">
                      <a:solidFill>
                        <a:srgbClr val="E1E4EF"/>
                      </a:solidFill>
                      <a:prstDash val="solid"/>
                      <a:round/>
                      <a:headEnd type="none" w="med" len="med"/>
                      <a:tailEnd type="none" w="med" len="med"/>
                    </a:lnT>
                    <a:lnB w="9525" cap="flat" cmpd="sng" algn="ctr">
                      <a:solidFill>
                        <a:srgbClr val="E1E4EF"/>
                      </a:solidFill>
                      <a:prstDash val="solid"/>
                      <a:round/>
                      <a:headEnd type="none" w="med" len="med"/>
                      <a:tailEnd type="none" w="med" len="med"/>
                    </a:lnB>
                    <a:solidFill>
                      <a:srgbClr val="0D3B66"/>
                    </a:solidFill>
                  </a:tcPr>
                </a:tc>
                <a:tc>
                  <a:txBody>
                    <a:bodyPr/>
                    <a:lstStyle/>
                    <a:p>
                      <a:pPr marL="0" indent="0" algn="r">
                        <a:buNone/>
                      </a:pPr>
                      <a:r>
                        <a:rPr lang="en-US" sz="1150" b="1" dirty="0">
                          <a:solidFill>
                            <a:srgbClr val="FFFFFF"/>
                          </a:solidFill>
                          <a:latin typeface="Calibri" pitchFamily="34" charset="0"/>
                          <a:ea typeface="Calibri" pitchFamily="34" charset="-122"/>
                          <a:cs typeface="Calibri" pitchFamily="34" charset="-120"/>
                        </a:rPr>
                        <a:t>Conservative</a:t>
                      </a:r>
                      <a:endParaRPr lang="en-US" sz="1150" dirty="0">
                        <a:latin typeface="Calibri" charset="0"/>
                        <a:ea typeface="Calibri" charset="0"/>
                        <a:cs typeface="Calibri" charset="0"/>
                      </a:endParaRPr>
                    </a:p>
                  </a:txBody>
                  <a:tcPr anchor="ctr">
                    <a:lnL w="9525" cap="flat" cmpd="sng" algn="ctr">
                      <a:solidFill>
                        <a:srgbClr val="E1E4EF"/>
                      </a:solidFill>
                      <a:prstDash val="solid"/>
                      <a:round/>
                      <a:headEnd type="none" w="med" len="med"/>
                      <a:tailEnd type="none" w="med" len="med"/>
                    </a:lnL>
                    <a:lnR w="9525" cap="flat" cmpd="sng" algn="ctr">
                      <a:solidFill>
                        <a:srgbClr val="E1E4EF"/>
                      </a:solidFill>
                      <a:prstDash val="solid"/>
                      <a:round/>
                      <a:headEnd type="none" w="med" len="med"/>
                      <a:tailEnd type="none" w="med" len="med"/>
                    </a:lnR>
                    <a:lnT w="9525" cap="flat" cmpd="sng" algn="ctr">
                      <a:solidFill>
                        <a:srgbClr val="E1E4EF"/>
                      </a:solidFill>
                      <a:prstDash val="solid"/>
                      <a:round/>
                      <a:headEnd type="none" w="med" len="med"/>
                      <a:tailEnd type="none" w="med" len="med"/>
                    </a:lnT>
                    <a:lnB w="9525" cap="flat" cmpd="sng" algn="ctr">
                      <a:solidFill>
                        <a:srgbClr val="E1E4EF"/>
                      </a:solidFill>
                      <a:prstDash val="solid"/>
                      <a:round/>
                      <a:headEnd type="none" w="med" len="med"/>
                      <a:tailEnd type="none" w="med" len="med"/>
                    </a:lnB>
                    <a:solidFill>
                      <a:srgbClr val="0D3B66"/>
                    </a:solidFill>
                  </a:tcPr>
                </a:tc>
                <a:tc>
                  <a:txBody>
                    <a:bodyPr/>
                    <a:lstStyle/>
                    <a:p>
                      <a:pPr marL="0" indent="0" algn="r">
                        <a:buNone/>
                      </a:pPr>
                      <a:r>
                        <a:rPr lang="en-US" sz="1150" b="1" dirty="0">
                          <a:solidFill>
                            <a:srgbClr val="FFFFFF"/>
                          </a:solidFill>
                          <a:latin typeface="Calibri" pitchFamily="34" charset="0"/>
                          <a:ea typeface="Calibri" pitchFamily="34" charset="-122"/>
                          <a:cs typeface="Calibri" pitchFamily="34" charset="-120"/>
                        </a:rPr>
                        <a:t>Base</a:t>
                      </a:r>
                      <a:endParaRPr lang="en-US" sz="1150" dirty="0">
                        <a:latin typeface="Calibri" charset="0"/>
                        <a:ea typeface="Calibri" charset="0"/>
                        <a:cs typeface="Calibri" charset="0"/>
                      </a:endParaRPr>
                    </a:p>
                  </a:txBody>
                  <a:tcPr anchor="ctr">
                    <a:lnL w="9525" cap="flat" cmpd="sng" algn="ctr">
                      <a:solidFill>
                        <a:srgbClr val="E1E4EF"/>
                      </a:solidFill>
                      <a:prstDash val="solid"/>
                      <a:round/>
                      <a:headEnd type="none" w="med" len="med"/>
                      <a:tailEnd type="none" w="med" len="med"/>
                    </a:lnL>
                    <a:lnR w="9525" cap="flat" cmpd="sng" algn="ctr">
                      <a:solidFill>
                        <a:srgbClr val="E1E4EF"/>
                      </a:solidFill>
                      <a:prstDash val="solid"/>
                      <a:round/>
                      <a:headEnd type="none" w="med" len="med"/>
                      <a:tailEnd type="none" w="med" len="med"/>
                    </a:lnR>
                    <a:lnT w="9525" cap="flat" cmpd="sng" algn="ctr">
                      <a:solidFill>
                        <a:srgbClr val="E1E4EF"/>
                      </a:solidFill>
                      <a:prstDash val="solid"/>
                      <a:round/>
                      <a:headEnd type="none" w="med" len="med"/>
                      <a:tailEnd type="none" w="med" len="med"/>
                    </a:lnT>
                    <a:lnB w="9525" cap="flat" cmpd="sng" algn="ctr">
                      <a:solidFill>
                        <a:srgbClr val="E1E4EF"/>
                      </a:solidFill>
                      <a:prstDash val="solid"/>
                      <a:round/>
                      <a:headEnd type="none" w="med" len="med"/>
                      <a:tailEnd type="none" w="med" len="med"/>
                    </a:lnB>
                    <a:solidFill>
                      <a:srgbClr val="0D3B66"/>
                    </a:solidFill>
                  </a:tcPr>
                </a:tc>
                <a:tc>
                  <a:txBody>
                    <a:bodyPr/>
                    <a:lstStyle/>
                    <a:p>
                      <a:pPr marL="0" indent="0" algn="r">
                        <a:buNone/>
                      </a:pPr>
                      <a:r>
                        <a:rPr lang="en-US" sz="1150" b="1" dirty="0">
                          <a:solidFill>
                            <a:srgbClr val="FFFFFF"/>
                          </a:solidFill>
                          <a:latin typeface="Calibri" pitchFamily="34" charset="0"/>
                          <a:ea typeface="Calibri" pitchFamily="34" charset="-122"/>
                          <a:cs typeface="Calibri" pitchFamily="34" charset="-120"/>
                        </a:rPr>
                        <a:t>Optimistic</a:t>
                      </a:r>
                      <a:endParaRPr lang="en-US" sz="1150" dirty="0">
                        <a:latin typeface="Calibri" charset="0"/>
                        <a:ea typeface="Calibri" charset="0"/>
                        <a:cs typeface="Calibri" charset="0"/>
                      </a:endParaRPr>
                    </a:p>
                  </a:txBody>
                  <a:tcPr anchor="ctr">
                    <a:lnL w="9525" cap="flat" cmpd="sng" algn="ctr">
                      <a:solidFill>
                        <a:srgbClr val="E1E4EF"/>
                      </a:solidFill>
                      <a:prstDash val="solid"/>
                      <a:round/>
                      <a:headEnd type="none" w="med" len="med"/>
                      <a:tailEnd type="none" w="med" len="med"/>
                    </a:lnL>
                    <a:lnR w="9525" cap="flat" cmpd="sng" algn="ctr">
                      <a:solidFill>
                        <a:srgbClr val="E1E4EF"/>
                      </a:solidFill>
                      <a:prstDash val="solid"/>
                      <a:round/>
                      <a:headEnd type="none" w="med" len="med"/>
                      <a:tailEnd type="none" w="med" len="med"/>
                    </a:lnR>
                    <a:lnT w="9525" cap="flat" cmpd="sng" algn="ctr">
                      <a:solidFill>
                        <a:srgbClr val="E1E4EF"/>
                      </a:solidFill>
                      <a:prstDash val="solid"/>
                      <a:round/>
                      <a:headEnd type="none" w="med" len="med"/>
                      <a:tailEnd type="none" w="med" len="med"/>
                    </a:lnT>
                    <a:lnB w="9525" cap="flat" cmpd="sng" algn="ctr">
                      <a:solidFill>
                        <a:srgbClr val="E1E4EF"/>
                      </a:solidFill>
                      <a:prstDash val="solid"/>
                      <a:round/>
                      <a:headEnd type="none" w="med" len="med"/>
                      <a:tailEnd type="none" w="med" len="med"/>
                    </a:lnB>
                    <a:solidFill>
                      <a:srgbClr val="0D3B66"/>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Confidence</a:t>
                      </a:r>
                      <a:endParaRPr lang="en-US" sz="1150" dirty="0">
                        <a:latin typeface="Calibri" charset="0"/>
                        <a:ea typeface="Calibri" charset="0"/>
                        <a:cs typeface="Calibri" charset="0"/>
                      </a:endParaRPr>
                    </a:p>
                  </a:txBody>
                  <a:tcPr anchor="ctr">
                    <a:lnL w="9525" cap="flat" cmpd="sng" algn="ctr">
                      <a:solidFill>
                        <a:srgbClr val="E1E4EF"/>
                      </a:solidFill>
                      <a:prstDash val="solid"/>
                      <a:round/>
                      <a:headEnd type="none" w="med" len="med"/>
                      <a:tailEnd type="none" w="med" len="med"/>
                    </a:lnL>
                    <a:lnR w="9525" cap="flat" cmpd="sng" algn="ctr">
                      <a:solidFill>
                        <a:srgbClr val="E1E4EF"/>
                      </a:solidFill>
                      <a:prstDash val="solid"/>
                      <a:round/>
                      <a:headEnd type="none" w="med" len="med"/>
                      <a:tailEnd type="none" w="med" len="med"/>
                    </a:lnR>
                    <a:lnT w="9525" cap="flat" cmpd="sng" algn="ctr">
                      <a:solidFill>
                        <a:srgbClr val="E1E4EF"/>
                      </a:solidFill>
                      <a:prstDash val="solid"/>
                      <a:round/>
                      <a:headEnd type="none" w="med" len="med"/>
                      <a:tailEnd type="none" w="med" len="med"/>
                    </a:lnT>
                    <a:lnB w="9525" cap="flat" cmpd="sng" algn="ctr">
                      <a:solidFill>
                        <a:srgbClr val="E1E4EF"/>
                      </a:solidFill>
                      <a:prstDash val="solid"/>
                      <a:round/>
                      <a:headEnd type="none" w="med" len="med"/>
                      <a:tailEnd type="none" w="med" len="med"/>
                    </a:lnB>
                    <a:solidFill>
                      <a:srgbClr val="0D3B66"/>
                    </a:solidFill>
                  </a:tcPr>
                </a:tc>
                <a:extLst>
                  <a:ext uri="{0D108BD9-81ED-4DB2-BD59-A6C34878D82A}">
                    <a16:rowId xmlns:a16="http://schemas.microsoft.com/office/drawing/2014/main" val="10000"/>
                  </a:ext>
                </a:extLst>
              </a:tr>
              <a:tr h="384048">
                <a:tc>
                  <a:txBody>
                    <a:bodyPr/>
                    <a:lstStyle/>
                    <a:p>
                      <a:pPr marL="0" indent="0" algn="l">
                        <a:buNone/>
                      </a:pPr>
                      <a:r>
                        <a:rPr lang="en-US" sz="1150" dirty="0">
                          <a:solidFill>
                            <a:srgbClr val="222222"/>
                          </a:solidFill>
                          <a:latin typeface="Calibri" pitchFamily="34" charset="0"/>
                          <a:ea typeface="Calibri" pitchFamily="34" charset="-122"/>
                          <a:cs typeface="Calibri" pitchFamily="34" charset="-120"/>
                        </a:rPr>
                        <a:t>Engineering productivity</a:t>
                      </a:r>
                      <a:endParaRPr lang="en-US" sz="1150" dirty="0">
                        <a:latin typeface="Calibri" charset="0"/>
                        <a:ea typeface="Calibri" charset="0"/>
                        <a:cs typeface="Calibri" charset="0"/>
                      </a:endParaRPr>
                    </a:p>
                  </a:txBody>
                  <a:tcPr anchor="ctr">
                    <a:lnL w="9525" cap="flat" cmpd="sng" algn="ctr">
                      <a:solidFill>
                        <a:srgbClr val="E1E4EF"/>
                      </a:solidFill>
                      <a:prstDash val="solid"/>
                      <a:round/>
                      <a:headEnd type="none" w="med" len="med"/>
                      <a:tailEnd type="none" w="med" len="med"/>
                    </a:lnL>
                    <a:lnR w="9525" cap="flat" cmpd="sng" algn="ctr">
                      <a:solidFill>
                        <a:srgbClr val="E1E4EF"/>
                      </a:solidFill>
                      <a:prstDash val="solid"/>
                      <a:round/>
                      <a:headEnd type="none" w="med" len="med"/>
                      <a:tailEnd type="none" w="med" len="med"/>
                    </a:lnR>
                    <a:lnT w="9525" cap="flat" cmpd="sng" algn="ctr">
                      <a:solidFill>
                        <a:srgbClr val="E1E4EF"/>
                      </a:solidFill>
                      <a:prstDash val="solid"/>
                      <a:round/>
                      <a:headEnd type="none" w="med" len="med"/>
                      <a:tailEnd type="none" w="med" len="med"/>
                    </a:lnT>
                    <a:lnB w="9525" cap="flat" cmpd="sng" algn="ctr">
                      <a:solidFill>
                        <a:srgbClr val="E1E4EF"/>
                      </a:solidFill>
                      <a:prstDash val="solid"/>
                      <a:round/>
                      <a:headEnd type="none" w="med" len="med"/>
                      <a:tailEnd type="none" w="med" len="med"/>
                    </a:lnB>
                  </a:tcPr>
                </a:tc>
                <a:tc>
                  <a:txBody>
                    <a:bodyPr/>
                    <a:lstStyle/>
                    <a:p>
                      <a:pPr marL="0" indent="0" algn="r">
                        <a:buNone/>
                      </a:pPr>
                      <a:r>
                        <a:rPr lang="en-US" sz="1150" dirty="0">
                          <a:solidFill>
                            <a:srgbClr val="222222"/>
                          </a:solidFill>
                          <a:latin typeface="Calibri" pitchFamily="34" charset="0"/>
                          <a:ea typeface="Calibri" pitchFamily="34" charset="-122"/>
                          <a:cs typeface="Calibri" pitchFamily="34" charset="-120"/>
                        </a:rPr>
                        <a:t>$675k</a:t>
                      </a:r>
                      <a:endParaRPr lang="en-US" sz="1150" dirty="0">
                        <a:latin typeface="Calibri" charset="0"/>
                        <a:ea typeface="Calibri" charset="0"/>
                        <a:cs typeface="Calibri" charset="0"/>
                      </a:endParaRPr>
                    </a:p>
                  </a:txBody>
                  <a:tcPr anchor="ctr">
                    <a:lnL w="9525" cap="flat" cmpd="sng" algn="ctr">
                      <a:solidFill>
                        <a:srgbClr val="E1E4EF"/>
                      </a:solidFill>
                      <a:prstDash val="solid"/>
                      <a:round/>
                      <a:headEnd type="none" w="med" len="med"/>
                      <a:tailEnd type="none" w="med" len="med"/>
                    </a:lnL>
                    <a:lnR w="9525" cap="flat" cmpd="sng" algn="ctr">
                      <a:solidFill>
                        <a:srgbClr val="E1E4EF"/>
                      </a:solidFill>
                      <a:prstDash val="solid"/>
                      <a:round/>
                      <a:headEnd type="none" w="med" len="med"/>
                      <a:tailEnd type="none" w="med" len="med"/>
                    </a:lnR>
                    <a:lnT w="9525" cap="flat" cmpd="sng" algn="ctr">
                      <a:solidFill>
                        <a:srgbClr val="E1E4EF"/>
                      </a:solidFill>
                      <a:prstDash val="solid"/>
                      <a:round/>
                      <a:headEnd type="none" w="med" len="med"/>
                      <a:tailEnd type="none" w="med" len="med"/>
                    </a:lnT>
                    <a:lnB w="9525" cap="flat" cmpd="sng" algn="ctr">
                      <a:solidFill>
                        <a:srgbClr val="E1E4EF"/>
                      </a:solidFill>
                      <a:prstDash val="solid"/>
                      <a:round/>
                      <a:headEnd type="none" w="med" len="med"/>
                      <a:tailEnd type="none" w="med" len="med"/>
                    </a:lnB>
                  </a:tcPr>
                </a:tc>
                <a:tc>
                  <a:txBody>
                    <a:bodyPr/>
                    <a:lstStyle/>
                    <a:p>
                      <a:pPr marL="0" indent="0" algn="r">
                        <a:buNone/>
                      </a:pPr>
                      <a:r>
                        <a:rPr lang="en-US" sz="1150" dirty="0">
                          <a:solidFill>
                            <a:srgbClr val="222222"/>
                          </a:solidFill>
                          <a:latin typeface="Calibri" pitchFamily="34" charset="0"/>
                          <a:ea typeface="Calibri" pitchFamily="34" charset="-122"/>
                          <a:cs typeface="Calibri" pitchFamily="34" charset="-120"/>
                        </a:rPr>
                        <a:t>$810k</a:t>
                      </a:r>
                      <a:endParaRPr lang="en-US" sz="1150" dirty="0">
                        <a:latin typeface="Calibri" charset="0"/>
                        <a:ea typeface="Calibri" charset="0"/>
                        <a:cs typeface="Calibri" charset="0"/>
                      </a:endParaRPr>
                    </a:p>
                  </a:txBody>
                  <a:tcPr anchor="ctr">
                    <a:lnL w="9525" cap="flat" cmpd="sng" algn="ctr">
                      <a:solidFill>
                        <a:srgbClr val="E1E4EF"/>
                      </a:solidFill>
                      <a:prstDash val="solid"/>
                      <a:round/>
                      <a:headEnd type="none" w="med" len="med"/>
                      <a:tailEnd type="none" w="med" len="med"/>
                    </a:lnL>
                    <a:lnR w="9525" cap="flat" cmpd="sng" algn="ctr">
                      <a:solidFill>
                        <a:srgbClr val="E1E4EF"/>
                      </a:solidFill>
                      <a:prstDash val="solid"/>
                      <a:round/>
                      <a:headEnd type="none" w="med" len="med"/>
                      <a:tailEnd type="none" w="med" len="med"/>
                    </a:lnR>
                    <a:lnT w="9525" cap="flat" cmpd="sng" algn="ctr">
                      <a:solidFill>
                        <a:srgbClr val="E1E4EF"/>
                      </a:solidFill>
                      <a:prstDash val="solid"/>
                      <a:round/>
                      <a:headEnd type="none" w="med" len="med"/>
                      <a:tailEnd type="none" w="med" len="med"/>
                    </a:lnT>
                    <a:lnB w="9525" cap="flat" cmpd="sng" algn="ctr">
                      <a:solidFill>
                        <a:srgbClr val="E1E4EF"/>
                      </a:solidFill>
                      <a:prstDash val="solid"/>
                      <a:round/>
                      <a:headEnd type="none" w="med" len="med"/>
                      <a:tailEnd type="none" w="med" len="med"/>
                    </a:lnB>
                  </a:tcPr>
                </a:tc>
                <a:tc>
                  <a:txBody>
                    <a:bodyPr/>
                    <a:lstStyle/>
                    <a:p>
                      <a:pPr marL="0" indent="0" algn="r">
                        <a:buNone/>
                      </a:pPr>
                      <a:r>
                        <a:rPr lang="en-US" sz="1150" dirty="0">
                          <a:solidFill>
                            <a:srgbClr val="222222"/>
                          </a:solidFill>
                          <a:latin typeface="Calibri" pitchFamily="34" charset="0"/>
                          <a:ea typeface="Calibri" pitchFamily="34" charset="-122"/>
                          <a:cs typeface="Calibri" pitchFamily="34" charset="-120"/>
                        </a:rPr>
                        <a:t>$990k</a:t>
                      </a:r>
                      <a:endParaRPr lang="en-US" sz="1150" dirty="0">
                        <a:latin typeface="Calibri" charset="0"/>
                        <a:ea typeface="Calibri" charset="0"/>
                        <a:cs typeface="Calibri" charset="0"/>
                      </a:endParaRPr>
                    </a:p>
                  </a:txBody>
                  <a:tcPr anchor="ctr">
                    <a:lnL w="9525" cap="flat" cmpd="sng" algn="ctr">
                      <a:solidFill>
                        <a:srgbClr val="E1E4EF"/>
                      </a:solidFill>
                      <a:prstDash val="solid"/>
                      <a:round/>
                      <a:headEnd type="none" w="med" len="med"/>
                      <a:tailEnd type="none" w="med" len="med"/>
                    </a:lnL>
                    <a:lnR w="9525" cap="flat" cmpd="sng" algn="ctr">
                      <a:solidFill>
                        <a:srgbClr val="E1E4EF"/>
                      </a:solidFill>
                      <a:prstDash val="solid"/>
                      <a:round/>
                      <a:headEnd type="none" w="med" len="med"/>
                      <a:tailEnd type="none" w="med" len="med"/>
                    </a:lnR>
                    <a:lnT w="9525" cap="flat" cmpd="sng" algn="ctr">
                      <a:solidFill>
                        <a:srgbClr val="E1E4EF"/>
                      </a:solidFill>
                      <a:prstDash val="solid"/>
                      <a:round/>
                      <a:headEnd type="none" w="med" len="med"/>
                      <a:tailEnd type="none" w="med" len="med"/>
                    </a:lnT>
                    <a:lnB w="9525" cap="flat" cmpd="sng" algn="ctr">
                      <a:solidFill>
                        <a:srgbClr val="E1E4EF"/>
                      </a:solidFill>
                      <a:prstDash val="solid"/>
                      <a:round/>
                      <a:headEnd type="none" w="med" len="med"/>
                      <a:tailEnd type="none" w="med" len="med"/>
                    </a:lnB>
                  </a:tcPr>
                </a:tc>
                <a:tc>
                  <a:txBody>
                    <a:bodyPr/>
                    <a:lstStyle/>
                    <a:p>
                      <a:pPr marL="0" indent="0" algn="l">
                        <a:buNone/>
                      </a:pPr>
                      <a:r>
                        <a:rPr lang="en-US" sz="1150" dirty="0">
                          <a:solidFill>
                            <a:srgbClr val="222222"/>
                          </a:solidFill>
                          <a:latin typeface="Calibri" pitchFamily="34" charset="0"/>
                          <a:ea typeface="Calibri" pitchFamily="34" charset="-122"/>
                          <a:cs typeface="Calibri" pitchFamily="34" charset="-120"/>
                        </a:rPr>
                        <a:t>Med–high</a:t>
                      </a:r>
                      <a:endParaRPr lang="en-US" sz="1150" dirty="0">
                        <a:latin typeface="Calibri" charset="0"/>
                        <a:ea typeface="Calibri" charset="0"/>
                        <a:cs typeface="Calibri" charset="0"/>
                      </a:endParaRPr>
                    </a:p>
                  </a:txBody>
                  <a:tcPr anchor="ctr">
                    <a:lnL w="9525" cap="flat" cmpd="sng" algn="ctr">
                      <a:solidFill>
                        <a:srgbClr val="E1E4EF"/>
                      </a:solidFill>
                      <a:prstDash val="solid"/>
                      <a:round/>
                      <a:headEnd type="none" w="med" len="med"/>
                      <a:tailEnd type="none" w="med" len="med"/>
                    </a:lnL>
                    <a:lnR w="9525" cap="flat" cmpd="sng" algn="ctr">
                      <a:solidFill>
                        <a:srgbClr val="E1E4EF"/>
                      </a:solidFill>
                      <a:prstDash val="solid"/>
                      <a:round/>
                      <a:headEnd type="none" w="med" len="med"/>
                      <a:tailEnd type="none" w="med" len="med"/>
                    </a:lnR>
                    <a:lnT w="9525" cap="flat" cmpd="sng" algn="ctr">
                      <a:solidFill>
                        <a:srgbClr val="E1E4EF"/>
                      </a:solidFill>
                      <a:prstDash val="solid"/>
                      <a:round/>
                      <a:headEnd type="none" w="med" len="med"/>
                      <a:tailEnd type="none" w="med" len="med"/>
                    </a:lnT>
                    <a:lnB w="9525" cap="flat" cmpd="sng" algn="ctr">
                      <a:solidFill>
                        <a:srgbClr val="E1E4EF"/>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lgn="l">
                        <a:buNone/>
                      </a:pPr>
                      <a:r>
                        <a:rPr lang="en-US" sz="1150" dirty="0">
                          <a:solidFill>
                            <a:srgbClr val="222222"/>
                          </a:solidFill>
                          <a:latin typeface="Calibri" pitchFamily="34" charset="0"/>
                          <a:ea typeface="Calibri" pitchFamily="34" charset="-122"/>
                          <a:cs typeface="Calibri" pitchFamily="34" charset="-120"/>
                        </a:rPr>
                        <a:t>QMS / regulatory efficiency</a:t>
                      </a:r>
                      <a:endParaRPr lang="en-US" sz="1150" dirty="0">
                        <a:latin typeface="Calibri" charset="0"/>
                        <a:ea typeface="Calibri" charset="0"/>
                        <a:cs typeface="Calibri" charset="0"/>
                      </a:endParaRPr>
                    </a:p>
                  </a:txBody>
                  <a:tcPr anchor="ctr">
                    <a:lnL w="9525" cap="flat" cmpd="sng" algn="ctr">
                      <a:solidFill>
                        <a:srgbClr val="E1E4EF"/>
                      </a:solidFill>
                      <a:prstDash val="solid"/>
                      <a:round/>
                      <a:headEnd type="none" w="med" len="med"/>
                      <a:tailEnd type="none" w="med" len="med"/>
                    </a:lnL>
                    <a:lnR w="9525" cap="flat" cmpd="sng" algn="ctr">
                      <a:solidFill>
                        <a:srgbClr val="E1E4EF"/>
                      </a:solidFill>
                      <a:prstDash val="solid"/>
                      <a:round/>
                      <a:headEnd type="none" w="med" len="med"/>
                      <a:tailEnd type="none" w="med" len="med"/>
                    </a:lnR>
                    <a:lnT w="9525" cap="flat" cmpd="sng" algn="ctr">
                      <a:solidFill>
                        <a:srgbClr val="E1E4EF"/>
                      </a:solidFill>
                      <a:prstDash val="solid"/>
                      <a:round/>
                      <a:headEnd type="none" w="med" len="med"/>
                      <a:tailEnd type="none" w="med" len="med"/>
                    </a:lnT>
                    <a:lnB w="9525" cap="flat" cmpd="sng" algn="ctr">
                      <a:solidFill>
                        <a:srgbClr val="E1E4EF"/>
                      </a:solidFill>
                      <a:prstDash val="solid"/>
                      <a:round/>
                      <a:headEnd type="none" w="med" len="med"/>
                      <a:tailEnd type="none" w="med" len="med"/>
                    </a:lnB>
                  </a:tcPr>
                </a:tc>
                <a:tc>
                  <a:txBody>
                    <a:bodyPr/>
                    <a:lstStyle/>
                    <a:p>
                      <a:pPr marL="0" indent="0" algn="r">
                        <a:buNone/>
                      </a:pPr>
                      <a:r>
                        <a:rPr lang="en-US" sz="1150" dirty="0">
                          <a:solidFill>
                            <a:srgbClr val="222222"/>
                          </a:solidFill>
                          <a:latin typeface="Calibri" pitchFamily="34" charset="0"/>
                          <a:ea typeface="Calibri" pitchFamily="34" charset="-122"/>
                          <a:cs typeface="Calibri" pitchFamily="34" charset="-120"/>
                        </a:rPr>
                        <a:t>$325k</a:t>
                      </a:r>
                      <a:endParaRPr lang="en-US" sz="1150" dirty="0">
                        <a:latin typeface="Calibri" charset="0"/>
                        <a:ea typeface="Calibri" charset="0"/>
                        <a:cs typeface="Calibri" charset="0"/>
                      </a:endParaRPr>
                    </a:p>
                  </a:txBody>
                  <a:tcPr anchor="ctr">
                    <a:lnL w="9525" cap="flat" cmpd="sng" algn="ctr">
                      <a:solidFill>
                        <a:srgbClr val="E1E4EF"/>
                      </a:solidFill>
                      <a:prstDash val="solid"/>
                      <a:round/>
                      <a:headEnd type="none" w="med" len="med"/>
                      <a:tailEnd type="none" w="med" len="med"/>
                    </a:lnL>
                    <a:lnR w="9525" cap="flat" cmpd="sng" algn="ctr">
                      <a:solidFill>
                        <a:srgbClr val="E1E4EF"/>
                      </a:solidFill>
                      <a:prstDash val="solid"/>
                      <a:round/>
                      <a:headEnd type="none" w="med" len="med"/>
                      <a:tailEnd type="none" w="med" len="med"/>
                    </a:lnR>
                    <a:lnT w="9525" cap="flat" cmpd="sng" algn="ctr">
                      <a:solidFill>
                        <a:srgbClr val="E1E4EF"/>
                      </a:solidFill>
                      <a:prstDash val="solid"/>
                      <a:round/>
                      <a:headEnd type="none" w="med" len="med"/>
                      <a:tailEnd type="none" w="med" len="med"/>
                    </a:lnT>
                    <a:lnB w="9525" cap="flat" cmpd="sng" algn="ctr">
                      <a:solidFill>
                        <a:srgbClr val="E1E4EF"/>
                      </a:solidFill>
                      <a:prstDash val="solid"/>
                      <a:round/>
                      <a:headEnd type="none" w="med" len="med"/>
                      <a:tailEnd type="none" w="med" len="med"/>
                    </a:lnB>
                  </a:tcPr>
                </a:tc>
                <a:tc>
                  <a:txBody>
                    <a:bodyPr/>
                    <a:lstStyle/>
                    <a:p>
                      <a:pPr marL="0" indent="0" algn="r">
                        <a:buNone/>
                      </a:pPr>
                      <a:r>
                        <a:rPr lang="en-US" sz="1150" dirty="0">
                          <a:solidFill>
                            <a:srgbClr val="222222"/>
                          </a:solidFill>
                          <a:latin typeface="Calibri" pitchFamily="34" charset="0"/>
                          <a:ea typeface="Calibri" pitchFamily="34" charset="-122"/>
                          <a:cs typeface="Calibri" pitchFamily="34" charset="-120"/>
                        </a:rPr>
                        <a:t>$406k</a:t>
                      </a:r>
                      <a:endParaRPr lang="en-US" sz="1150" dirty="0">
                        <a:latin typeface="Calibri" charset="0"/>
                        <a:ea typeface="Calibri" charset="0"/>
                        <a:cs typeface="Calibri" charset="0"/>
                      </a:endParaRPr>
                    </a:p>
                  </a:txBody>
                  <a:tcPr anchor="ctr">
                    <a:lnL w="9525" cap="flat" cmpd="sng" algn="ctr">
                      <a:solidFill>
                        <a:srgbClr val="E1E4EF"/>
                      </a:solidFill>
                      <a:prstDash val="solid"/>
                      <a:round/>
                      <a:headEnd type="none" w="med" len="med"/>
                      <a:tailEnd type="none" w="med" len="med"/>
                    </a:lnL>
                    <a:lnR w="9525" cap="flat" cmpd="sng" algn="ctr">
                      <a:solidFill>
                        <a:srgbClr val="E1E4EF"/>
                      </a:solidFill>
                      <a:prstDash val="solid"/>
                      <a:round/>
                      <a:headEnd type="none" w="med" len="med"/>
                      <a:tailEnd type="none" w="med" len="med"/>
                    </a:lnR>
                    <a:lnT w="9525" cap="flat" cmpd="sng" algn="ctr">
                      <a:solidFill>
                        <a:srgbClr val="E1E4EF"/>
                      </a:solidFill>
                      <a:prstDash val="solid"/>
                      <a:round/>
                      <a:headEnd type="none" w="med" len="med"/>
                      <a:tailEnd type="none" w="med" len="med"/>
                    </a:lnT>
                    <a:lnB w="9525" cap="flat" cmpd="sng" algn="ctr">
                      <a:solidFill>
                        <a:srgbClr val="E1E4EF"/>
                      </a:solidFill>
                      <a:prstDash val="solid"/>
                      <a:round/>
                      <a:headEnd type="none" w="med" len="med"/>
                      <a:tailEnd type="none" w="med" len="med"/>
                    </a:lnB>
                  </a:tcPr>
                </a:tc>
                <a:tc>
                  <a:txBody>
                    <a:bodyPr/>
                    <a:lstStyle/>
                    <a:p>
                      <a:pPr marL="0" indent="0" algn="r">
                        <a:buNone/>
                      </a:pPr>
                      <a:r>
                        <a:rPr lang="en-US" sz="1150" dirty="0">
                          <a:solidFill>
                            <a:srgbClr val="222222"/>
                          </a:solidFill>
                          <a:latin typeface="Calibri" pitchFamily="34" charset="0"/>
                          <a:ea typeface="Calibri" pitchFamily="34" charset="-122"/>
                          <a:cs typeface="Calibri" pitchFamily="34" charset="-120"/>
                        </a:rPr>
                        <a:t>$488k</a:t>
                      </a:r>
                      <a:endParaRPr lang="en-US" sz="1150" dirty="0">
                        <a:latin typeface="Calibri" charset="0"/>
                        <a:ea typeface="Calibri" charset="0"/>
                        <a:cs typeface="Calibri" charset="0"/>
                      </a:endParaRPr>
                    </a:p>
                  </a:txBody>
                  <a:tcPr anchor="ctr">
                    <a:lnL w="9525" cap="flat" cmpd="sng" algn="ctr">
                      <a:solidFill>
                        <a:srgbClr val="E1E4EF"/>
                      </a:solidFill>
                      <a:prstDash val="solid"/>
                      <a:round/>
                      <a:headEnd type="none" w="med" len="med"/>
                      <a:tailEnd type="none" w="med" len="med"/>
                    </a:lnL>
                    <a:lnR w="9525" cap="flat" cmpd="sng" algn="ctr">
                      <a:solidFill>
                        <a:srgbClr val="E1E4EF"/>
                      </a:solidFill>
                      <a:prstDash val="solid"/>
                      <a:round/>
                      <a:headEnd type="none" w="med" len="med"/>
                      <a:tailEnd type="none" w="med" len="med"/>
                    </a:lnR>
                    <a:lnT w="9525" cap="flat" cmpd="sng" algn="ctr">
                      <a:solidFill>
                        <a:srgbClr val="E1E4EF"/>
                      </a:solidFill>
                      <a:prstDash val="solid"/>
                      <a:round/>
                      <a:headEnd type="none" w="med" len="med"/>
                      <a:tailEnd type="none" w="med" len="med"/>
                    </a:lnT>
                    <a:lnB w="9525" cap="flat" cmpd="sng" algn="ctr">
                      <a:solidFill>
                        <a:srgbClr val="E1E4EF"/>
                      </a:solidFill>
                      <a:prstDash val="solid"/>
                      <a:round/>
                      <a:headEnd type="none" w="med" len="med"/>
                      <a:tailEnd type="none" w="med" len="med"/>
                    </a:lnB>
                  </a:tcPr>
                </a:tc>
                <a:tc>
                  <a:txBody>
                    <a:bodyPr/>
                    <a:lstStyle/>
                    <a:p>
                      <a:pPr marL="0" indent="0" algn="l">
                        <a:buNone/>
                      </a:pPr>
                      <a:r>
                        <a:rPr lang="en-US" sz="1150" dirty="0">
                          <a:solidFill>
                            <a:srgbClr val="222222"/>
                          </a:solidFill>
                          <a:latin typeface="Calibri" pitchFamily="34" charset="0"/>
                          <a:ea typeface="Calibri" pitchFamily="34" charset="-122"/>
                          <a:cs typeface="Calibri" pitchFamily="34" charset="-120"/>
                        </a:rPr>
                        <a:t>Med–high</a:t>
                      </a:r>
                      <a:endParaRPr lang="en-US" sz="1150" dirty="0">
                        <a:latin typeface="Calibri" charset="0"/>
                        <a:ea typeface="Calibri" charset="0"/>
                        <a:cs typeface="Calibri" charset="0"/>
                      </a:endParaRPr>
                    </a:p>
                  </a:txBody>
                  <a:tcPr anchor="ctr">
                    <a:lnL w="9525" cap="flat" cmpd="sng" algn="ctr">
                      <a:solidFill>
                        <a:srgbClr val="E1E4EF"/>
                      </a:solidFill>
                      <a:prstDash val="solid"/>
                      <a:round/>
                      <a:headEnd type="none" w="med" len="med"/>
                      <a:tailEnd type="none" w="med" len="med"/>
                    </a:lnL>
                    <a:lnR w="9525" cap="flat" cmpd="sng" algn="ctr">
                      <a:solidFill>
                        <a:srgbClr val="E1E4EF"/>
                      </a:solidFill>
                      <a:prstDash val="solid"/>
                      <a:round/>
                      <a:headEnd type="none" w="med" len="med"/>
                      <a:tailEnd type="none" w="med" len="med"/>
                    </a:lnR>
                    <a:lnT w="9525" cap="flat" cmpd="sng" algn="ctr">
                      <a:solidFill>
                        <a:srgbClr val="E1E4EF"/>
                      </a:solidFill>
                      <a:prstDash val="solid"/>
                      <a:round/>
                      <a:headEnd type="none" w="med" len="med"/>
                      <a:tailEnd type="none" w="med" len="med"/>
                    </a:lnT>
                    <a:lnB w="9525" cap="flat" cmpd="sng" algn="ctr">
                      <a:solidFill>
                        <a:srgbClr val="E1E4EF"/>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lgn="l">
                        <a:buNone/>
                      </a:pPr>
                      <a:r>
                        <a:rPr lang="en-US" sz="1150" dirty="0">
                          <a:solidFill>
                            <a:srgbClr val="222222"/>
                          </a:solidFill>
                          <a:latin typeface="Calibri" pitchFamily="34" charset="0"/>
                          <a:ea typeface="Calibri" pitchFamily="34" charset="-122"/>
                          <a:cs typeface="Calibri" pitchFamily="34" charset="-120"/>
                        </a:rPr>
                        <a:t>Proposal velocity</a:t>
                      </a:r>
                      <a:endParaRPr lang="en-US" sz="1150" dirty="0">
                        <a:latin typeface="Calibri" charset="0"/>
                        <a:ea typeface="Calibri" charset="0"/>
                        <a:cs typeface="Calibri" charset="0"/>
                      </a:endParaRPr>
                    </a:p>
                  </a:txBody>
                  <a:tcPr anchor="ctr">
                    <a:lnL w="9525" cap="flat" cmpd="sng" algn="ctr">
                      <a:solidFill>
                        <a:srgbClr val="E1E4EF"/>
                      </a:solidFill>
                      <a:prstDash val="solid"/>
                      <a:round/>
                      <a:headEnd type="none" w="med" len="med"/>
                      <a:tailEnd type="none" w="med" len="med"/>
                    </a:lnL>
                    <a:lnR w="9525" cap="flat" cmpd="sng" algn="ctr">
                      <a:solidFill>
                        <a:srgbClr val="E1E4EF"/>
                      </a:solidFill>
                      <a:prstDash val="solid"/>
                      <a:round/>
                      <a:headEnd type="none" w="med" len="med"/>
                      <a:tailEnd type="none" w="med" len="med"/>
                    </a:lnR>
                    <a:lnT w="9525" cap="flat" cmpd="sng" algn="ctr">
                      <a:solidFill>
                        <a:srgbClr val="E1E4EF"/>
                      </a:solidFill>
                      <a:prstDash val="solid"/>
                      <a:round/>
                      <a:headEnd type="none" w="med" len="med"/>
                      <a:tailEnd type="none" w="med" len="med"/>
                    </a:lnT>
                    <a:lnB w="9525" cap="flat" cmpd="sng" algn="ctr">
                      <a:solidFill>
                        <a:srgbClr val="E1E4EF"/>
                      </a:solidFill>
                      <a:prstDash val="solid"/>
                      <a:round/>
                      <a:headEnd type="none" w="med" len="med"/>
                      <a:tailEnd type="none" w="med" len="med"/>
                    </a:lnB>
                  </a:tcPr>
                </a:tc>
                <a:tc>
                  <a:txBody>
                    <a:bodyPr/>
                    <a:lstStyle/>
                    <a:p>
                      <a:pPr marL="0" indent="0" algn="r">
                        <a:buNone/>
                      </a:pPr>
                      <a:r>
                        <a:rPr lang="en-US" sz="1150" dirty="0">
                          <a:solidFill>
                            <a:srgbClr val="222222"/>
                          </a:solidFill>
                          <a:latin typeface="Calibri" pitchFamily="34" charset="0"/>
                          <a:ea typeface="Calibri" pitchFamily="34" charset="-122"/>
                          <a:cs typeface="Calibri" pitchFamily="34" charset="-120"/>
                        </a:rPr>
                        <a:t>$190k</a:t>
                      </a:r>
                      <a:endParaRPr lang="en-US" sz="1150" dirty="0">
                        <a:latin typeface="Calibri" charset="0"/>
                        <a:ea typeface="Calibri" charset="0"/>
                        <a:cs typeface="Calibri" charset="0"/>
                      </a:endParaRPr>
                    </a:p>
                  </a:txBody>
                  <a:tcPr anchor="ctr">
                    <a:lnL w="9525" cap="flat" cmpd="sng" algn="ctr">
                      <a:solidFill>
                        <a:srgbClr val="E1E4EF"/>
                      </a:solidFill>
                      <a:prstDash val="solid"/>
                      <a:round/>
                      <a:headEnd type="none" w="med" len="med"/>
                      <a:tailEnd type="none" w="med" len="med"/>
                    </a:lnL>
                    <a:lnR w="9525" cap="flat" cmpd="sng" algn="ctr">
                      <a:solidFill>
                        <a:srgbClr val="E1E4EF"/>
                      </a:solidFill>
                      <a:prstDash val="solid"/>
                      <a:round/>
                      <a:headEnd type="none" w="med" len="med"/>
                      <a:tailEnd type="none" w="med" len="med"/>
                    </a:lnR>
                    <a:lnT w="9525" cap="flat" cmpd="sng" algn="ctr">
                      <a:solidFill>
                        <a:srgbClr val="E1E4EF"/>
                      </a:solidFill>
                      <a:prstDash val="solid"/>
                      <a:round/>
                      <a:headEnd type="none" w="med" len="med"/>
                      <a:tailEnd type="none" w="med" len="med"/>
                    </a:lnT>
                    <a:lnB w="9525" cap="flat" cmpd="sng" algn="ctr">
                      <a:solidFill>
                        <a:srgbClr val="E1E4EF"/>
                      </a:solidFill>
                      <a:prstDash val="solid"/>
                      <a:round/>
                      <a:headEnd type="none" w="med" len="med"/>
                      <a:tailEnd type="none" w="med" len="med"/>
                    </a:lnB>
                  </a:tcPr>
                </a:tc>
                <a:tc>
                  <a:txBody>
                    <a:bodyPr/>
                    <a:lstStyle/>
                    <a:p>
                      <a:pPr marL="0" indent="0" algn="r">
                        <a:buNone/>
                      </a:pPr>
                      <a:r>
                        <a:rPr lang="en-US" sz="1150" dirty="0">
                          <a:solidFill>
                            <a:srgbClr val="222222"/>
                          </a:solidFill>
                          <a:latin typeface="Calibri" pitchFamily="34" charset="0"/>
                          <a:ea typeface="Calibri" pitchFamily="34" charset="-122"/>
                          <a:cs typeface="Calibri" pitchFamily="34" charset="-120"/>
                        </a:rPr>
                        <a:t>$410k</a:t>
                      </a:r>
                      <a:endParaRPr lang="en-US" sz="1150" dirty="0">
                        <a:latin typeface="Calibri" charset="0"/>
                        <a:ea typeface="Calibri" charset="0"/>
                        <a:cs typeface="Calibri" charset="0"/>
                      </a:endParaRPr>
                    </a:p>
                  </a:txBody>
                  <a:tcPr anchor="ctr">
                    <a:lnL w="9525" cap="flat" cmpd="sng" algn="ctr">
                      <a:solidFill>
                        <a:srgbClr val="E1E4EF"/>
                      </a:solidFill>
                      <a:prstDash val="solid"/>
                      <a:round/>
                      <a:headEnd type="none" w="med" len="med"/>
                      <a:tailEnd type="none" w="med" len="med"/>
                    </a:lnL>
                    <a:lnR w="9525" cap="flat" cmpd="sng" algn="ctr">
                      <a:solidFill>
                        <a:srgbClr val="E1E4EF"/>
                      </a:solidFill>
                      <a:prstDash val="solid"/>
                      <a:round/>
                      <a:headEnd type="none" w="med" len="med"/>
                      <a:tailEnd type="none" w="med" len="med"/>
                    </a:lnR>
                    <a:lnT w="9525" cap="flat" cmpd="sng" algn="ctr">
                      <a:solidFill>
                        <a:srgbClr val="E1E4EF"/>
                      </a:solidFill>
                      <a:prstDash val="solid"/>
                      <a:round/>
                      <a:headEnd type="none" w="med" len="med"/>
                      <a:tailEnd type="none" w="med" len="med"/>
                    </a:lnT>
                    <a:lnB w="9525" cap="flat" cmpd="sng" algn="ctr">
                      <a:solidFill>
                        <a:srgbClr val="E1E4EF"/>
                      </a:solidFill>
                      <a:prstDash val="solid"/>
                      <a:round/>
                      <a:headEnd type="none" w="med" len="med"/>
                      <a:tailEnd type="none" w="med" len="med"/>
                    </a:lnB>
                  </a:tcPr>
                </a:tc>
                <a:tc>
                  <a:txBody>
                    <a:bodyPr/>
                    <a:lstStyle/>
                    <a:p>
                      <a:pPr marL="0" indent="0" algn="r">
                        <a:buNone/>
                      </a:pPr>
                      <a:r>
                        <a:rPr lang="en-US" sz="1150" dirty="0">
                          <a:solidFill>
                            <a:srgbClr val="222222"/>
                          </a:solidFill>
                          <a:latin typeface="Calibri" pitchFamily="34" charset="0"/>
                          <a:ea typeface="Calibri" pitchFamily="34" charset="-122"/>
                          <a:cs typeface="Calibri" pitchFamily="34" charset="-120"/>
                        </a:rPr>
                        <a:t>$770k</a:t>
                      </a:r>
                      <a:endParaRPr lang="en-US" sz="1150" dirty="0">
                        <a:latin typeface="Calibri" charset="0"/>
                        <a:ea typeface="Calibri" charset="0"/>
                        <a:cs typeface="Calibri" charset="0"/>
                      </a:endParaRPr>
                    </a:p>
                  </a:txBody>
                  <a:tcPr anchor="ctr">
                    <a:lnL w="9525" cap="flat" cmpd="sng" algn="ctr">
                      <a:solidFill>
                        <a:srgbClr val="E1E4EF"/>
                      </a:solidFill>
                      <a:prstDash val="solid"/>
                      <a:round/>
                      <a:headEnd type="none" w="med" len="med"/>
                      <a:tailEnd type="none" w="med" len="med"/>
                    </a:lnL>
                    <a:lnR w="9525" cap="flat" cmpd="sng" algn="ctr">
                      <a:solidFill>
                        <a:srgbClr val="E1E4EF"/>
                      </a:solidFill>
                      <a:prstDash val="solid"/>
                      <a:round/>
                      <a:headEnd type="none" w="med" len="med"/>
                      <a:tailEnd type="none" w="med" len="med"/>
                    </a:lnR>
                    <a:lnT w="9525" cap="flat" cmpd="sng" algn="ctr">
                      <a:solidFill>
                        <a:srgbClr val="E1E4EF"/>
                      </a:solidFill>
                      <a:prstDash val="solid"/>
                      <a:round/>
                      <a:headEnd type="none" w="med" len="med"/>
                      <a:tailEnd type="none" w="med" len="med"/>
                    </a:lnT>
                    <a:lnB w="9525" cap="flat" cmpd="sng" algn="ctr">
                      <a:solidFill>
                        <a:srgbClr val="E1E4EF"/>
                      </a:solidFill>
                      <a:prstDash val="solid"/>
                      <a:round/>
                      <a:headEnd type="none" w="med" len="med"/>
                      <a:tailEnd type="none" w="med" len="med"/>
                    </a:lnB>
                  </a:tcPr>
                </a:tc>
                <a:tc>
                  <a:txBody>
                    <a:bodyPr/>
                    <a:lstStyle/>
                    <a:p>
                      <a:pPr marL="0" indent="0" algn="l">
                        <a:buNone/>
                      </a:pPr>
                      <a:r>
                        <a:rPr lang="en-US" sz="1150" dirty="0">
                          <a:solidFill>
                            <a:srgbClr val="222222"/>
                          </a:solidFill>
                          <a:latin typeface="Calibri" pitchFamily="34" charset="0"/>
                          <a:ea typeface="Calibri" pitchFamily="34" charset="-122"/>
                          <a:cs typeface="Calibri" pitchFamily="34" charset="-120"/>
                        </a:rPr>
                        <a:t>Low–med</a:t>
                      </a:r>
                      <a:endParaRPr lang="en-US" sz="1150" dirty="0">
                        <a:latin typeface="Calibri" charset="0"/>
                        <a:ea typeface="Calibri" charset="0"/>
                        <a:cs typeface="Calibri" charset="0"/>
                      </a:endParaRPr>
                    </a:p>
                  </a:txBody>
                  <a:tcPr anchor="ctr">
                    <a:lnL w="9525" cap="flat" cmpd="sng" algn="ctr">
                      <a:solidFill>
                        <a:srgbClr val="E1E4EF"/>
                      </a:solidFill>
                      <a:prstDash val="solid"/>
                      <a:round/>
                      <a:headEnd type="none" w="med" len="med"/>
                      <a:tailEnd type="none" w="med" len="med"/>
                    </a:lnL>
                    <a:lnR w="9525" cap="flat" cmpd="sng" algn="ctr">
                      <a:solidFill>
                        <a:srgbClr val="E1E4EF"/>
                      </a:solidFill>
                      <a:prstDash val="solid"/>
                      <a:round/>
                      <a:headEnd type="none" w="med" len="med"/>
                      <a:tailEnd type="none" w="med" len="med"/>
                    </a:lnR>
                    <a:lnT w="9525" cap="flat" cmpd="sng" algn="ctr">
                      <a:solidFill>
                        <a:srgbClr val="E1E4EF"/>
                      </a:solidFill>
                      <a:prstDash val="solid"/>
                      <a:round/>
                      <a:headEnd type="none" w="med" len="med"/>
                      <a:tailEnd type="none" w="med" len="med"/>
                    </a:lnT>
                    <a:lnB w="9525" cap="flat" cmpd="sng" algn="ctr">
                      <a:solidFill>
                        <a:srgbClr val="E1E4EF"/>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lgn="l">
                        <a:buNone/>
                      </a:pPr>
                      <a:r>
                        <a:rPr lang="en-US" sz="1150" dirty="0">
                          <a:solidFill>
                            <a:srgbClr val="222222"/>
                          </a:solidFill>
                          <a:latin typeface="Calibri" pitchFamily="34" charset="0"/>
                          <a:ea typeface="Calibri" pitchFamily="34" charset="-122"/>
                          <a:cs typeface="Calibri" pitchFamily="34" charset="-120"/>
                        </a:rPr>
                        <a:t>PM and operations productivity</a:t>
                      </a:r>
                      <a:endParaRPr lang="en-US" sz="1150" dirty="0">
                        <a:latin typeface="Calibri" charset="0"/>
                        <a:ea typeface="Calibri" charset="0"/>
                        <a:cs typeface="Calibri" charset="0"/>
                      </a:endParaRPr>
                    </a:p>
                  </a:txBody>
                  <a:tcPr anchor="ctr">
                    <a:lnL w="9525" cap="flat" cmpd="sng" algn="ctr">
                      <a:solidFill>
                        <a:srgbClr val="E1E4EF"/>
                      </a:solidFill>
                      <a:prstDash val="solid"/>
                      <a:round/>
                      <a:headEnd type="none" w="med" len="med"/>
                      <a:tailEnd type="none" w="med" len="med"/>
                    </a:lnL>
                    <a:lnR w="9525" cap="flat" cmpd="sng" algn="ctr">
                      <a:solidFill>
                        <a:srgbClr val="E1E4EF"/>
                      </a:solidFill>
                      <a:prstDash val="solid"/>
                      <a:round/>
                      <a:headEnd type="none" w="med" len="med"/>
                      <a:tailEnd type="none" w="med" len="med"/>
                    </a:lnR>
                    <a:lnT w="9525" cap="flat" cmpd="sng" algn="ctr">
                      <a:solidFill>
                        <a:srgbClr val="E1E4EF"/>
                      </a:solidFill>
                      <a:prstDash val="solid"/>
                      <a:round/>
                      <a:headEnd type="none" w="med" len="med"/>
                      <a:tailEnd type="none" w="med" len="med"/>
                    </a:lnT>
                    <a:lnB w="9525" cap="flat" cmpd="sng" algn="ctr">
                      <a:solidFill>
                        <a:srgbClr val="E1E4EF"/>
                      </a:solidFill>
                      <a:prstDash val="solid"/>
                      <a:round/>
                      <a:headEnd type="none" w="med" len="med"/>
                      <a:tailEnd type="none" w="med" len="med"/>
                    </a:lnB>
                  </a:tcPr>
                </a:tc>
                <a:tc>
                  <a:txBody>
                    <a:bodyPr/>
                    <a:lstStyle/>
                    <a:p>
                      <a:pPr marL="0" indent="0" algn="r">
                        <a:buNone/>
                      </a:pPr>
                      <a:r>
                        <a:rPr lang="en-US" sz="1150" dirty="0">
                          <a:solidFill>
                            <a:srgbClr val="222222"/>
                          </a:solidFill>
                          <a:latin typeface="Calibri" pitchFamily="34" charset="0"/>
                          <a:ea typeface="Calibri" pitchFamily="34" charset="-122"/>
                          <a:cs typeface="Calibri" pitchFamily="34" charset="-120"/>
                        </a:rPr>
                        <a:t>$293k</a:t>
                      </a:r>
                      <a:endParaRPr lang="en-US" sz="1150" dirty="0">
                        <a:latin typeface="Calibri" charset="0"/>
                        <a:ea typeface="Calibri" charset="0"/>
                        <a:cs typeface="Calibri" charset="0"/>
                      </a:endParaRPr>
                    </a:p>
                  </a:txBody>
                  <a:tcPr anchor="ctr">
                    <a:lnL w="9525" cap="flat" cmpd="sng" algn="ctr">
                      <a:solidFill>
                        <a:srgbClr val="E1E4EF"/>
                      </a:solidFill>
                      <a:prstDash val="solid"/>
                      <a:round/>
                      <a:headEnd type="none" w="med" len="med"/>
                      <a:tailEnd type="none" w="med" len="med"/>
                    </a:lnL>
                    <a:lnR w="9525" cap="flat" cmpd="sng" algn="ctr">
                      <a:solidFill>
                        <a:srgbClr val="E1E4EF"/>
                      </a:solidFill>
                      <a:prstDash val="solid"/>
                      <a:round/>
                      <a:headEnd type="none" w="med" len="med"/>
                      <a:tailEnd type="none" w="med" len="med"/>
                    </a:lnR>
                    <a:lnT w="9525" cap="flat" cmpd="sng" algn="ctr">
                      <a:solidFill>
                        <a:srgbClr val="E1E4EF"/>
                      </a:solidFill>
                      <a:prstDash val="solid"/>
                      <a:round/>
                      <a:headEnd type="none" w="med" len="med"/>
                      <a:tailEnd type="none" w="med" len="med"/>
                    </a:lnT>
                    <a:lnB w="9525" cap="flat" cmpd="sng" algn="ctr">
                      <a:solidFill>
                        <a:srgbClr val="E1E4EF"/>
                      </a:solidFill>
                      <a:prstDash val="solid"/>
                      <a:round/>
                      <a:headEnd type="none" w="med" len="med"/>
                      <a:tailEnd type="none" w="med" len="med"/>
                    </a:lnB>
                  </a:tcPr>
                </a:tc>
                <a:tc>
                  <a:txBody>
                    <a:bodyPr/>
                    <a:lstStyle/>
                    <a:p>
                      <a:pPr marL="0" indent="0" algn="r">
                        <a:buNone/>
                      </a:pPr>
                      <a:r>
                        <a:rPr lang="en-US" sz="1150" dirty="0">
                          <a:solidFill>
                            <a:srgbClr val="222222"/>
                          </a:solidFill>
                          <a:latin typeface="Calibri" pitchFamily="34" charset="0"/>
                          <a:ea typeface="Calibri" pitchFamily="34" charset="-122"/>
                          <a:cs typeface="Calibri" pitchFamily="34" charset="-120"/>
                        </a:rPr>
                        <a:t>$351k</a:t>
                      </a:r>
                      <a:endParaRPr lang="en-US" sz="1150" dirty="0">
                        <a:latin typeface="Calibri" charset="0"/>
                        <a:ea typeface="Calibri" charset="0"/>
                        <a:cs typeface="Calibri" charset="0"/>
                      </a:endParaRPr>
                    </a:p>
                  </a:txBody>
                  <a:tcPr anchor="ctr">
                    <a:lnL w="9525" cap="flat" cmpd="sng" algn="ctr">
                      <a:solidFill>
                        <a:srgbClr val="E1E4EF"/>
                      </a:solidFill>
                      <a:prstDash val="solid"/>
                      <a:round/>
                      <a:headEnd type="none" w="med" len="med"/>
                      <a:tailEnd type="none" w="med" len="med"/>
                    </a:lnL>
                    <a:lnR w="9525" cap="flat" cmpd="sng" algn="ctr">
                      <a:solidFill>
                        <a:srgbClr val="E1E4EF"/>
                      </a:solidFill>
                      <a:prstDash val="solid"/>
                      <a:round/>
                      <a:headEnd type="none" w="med" len="med"/>
                      <a:tailEnd type="none" w="med" len="med"/>
                    </a:lnR>
                    <a:lnT w="9525" cap="flat" cmpd="sng" algn="ctr">
                      <a:solidFill>
                        <a:srgbClr val="E1E4EF"/>
                      </a:solidFill>
                      <a:prstDash val="solid"/>
                      <a:round/>
                      <a:headEnd type="none" w="med" len="med"/>
                      <a:tailEnd type="none" w="med" len="med"/>
                    </a:lnT>
                    <a:lnB w="9525" cap="flat" cmpd="sng" algn="ctr">
                      <a:solidFill>
                        <a:srgbClr val="E1E4EF"/>
                      </a:solidFill>
                      <a:prstDash val="solid"/>
                      <a:round/>
                      <a:headEnd type="none" w="med" len="med"/>
                      <a:tailEnd type="none" w="med" len="med"/>
                    </a:lnB>
                  </a:tcPr>
                </a:tc>
                <a:tc>
                  <a:txBody>
                    <a:bodyPr/>
                    <a:lstStyle/>
                    <a:p>
                      <a:pPr marL="0" indent="0" algn="r">
                        <a:buNone/>
                      </a:pPr>
                      <a:r>
                        <a:rPr lang="en-US" sz="1150" dirty="0">
                          <a:solidFill>
                            <a:srgbClr val="222222"/>
                          </a:solidFill>
                          <a:latin typeface="Calibri" pitchFamily="34" charset="0"/>
                          <a:ea typeface="Calibri" pitchFamily="34" charset="-122"/>
                          <a:cs typeface="Calibri" pitchFamily="34" charset="-120"/>
                        </a:rPr>
                        <a:t>$429k</a:t>
                      </a:r>
                      <a:endParaRPr lang="en-US" sz="1150" dirty="0">
                        <a:latin typeface="Calibri" charset="0"/>
                        <a:ea typeface="Calibri" charset="0"/>
                        <a:cs typeface="Calibri" charset="0"/>
                      </a:endParaRPr>
                    </a:p>
                  </a:txBody>
                  <a:tcPr anchor="ctr">
                    <a:lnL w="9525" cap="flat" cmpd="sng" algn="ctr">
                      <a:solidFill>
                        <a:srgbClr val="E1E4EF"/>
                      </a:solidFill>
                      <a:prstDash val="solid"/>
                      <a:round/>
                      <a:headEnd type="none" w="med" len="med"/>
                      <a:tailEnd type="none" w="med" len="med"/>
                    </a:lnL>
                    <a:lnR w="9525" cap="flat" cmpd="sng" algn="ctr">
                      <a:solidFill>
                        <a:srgbClr val="E1E4EF"/>
                      </a:solidFill>
                      <a:prstDash val="solid"/>
                      <a:round/>
                      <a:headEnd type="none" w="med" len="med"/>
                      <a:tailEnd type="none" w="med" len="med"/>
                    </a:lnR>
                    <a:lnT w="9525" cap="flat" cmpd="sng" algn="ctr">
                      <a:solidFill>
                        <a:srgbClr val="E1E4EF"/>
                      </a:solidFill>
                      <a:prstDash val="solid"/>
                      <a:round/>
                      <a:headEnd type="none" w="med" len="med"/>
                      <a:tailEnd type="none" w="med" len="med"/>
                    </a:lnT>
                    <a:lnB w="9525" cap="flat" cmpd="sng" algn="ctr">
                      <a:solidFill>
                        <a:srgbClr val="E1E4EF"/>
                      </a:solidFill>
                      <a:prstDash val="solid"/>
                      <a:round/>
                      <a:headEnd type="none" w="med" len="med"/>
                      <a:tailEnd type="none" w="med" len="med"/>
                    </a:lnB>
                  </a:tcPr>
                </a:tc>
                <a:tc>
                  <a:txBody>
                    <a:bodyPr/>
                    <a:lstStyle/>
                    <a:p>
                      <a:pPr marL="0" indent="0" algn="l">
                        <a:buNone/>
                      </a:pPr>
                      <a:r>
                        <a:rPr lang="en-US" sz="1150" dirty="0">
                          <a:solidFill>
                            <a:srgbClr val="222222"/>
                          </a:solidFill>
                          <a:latin typeface="Calibri" pitchFamily="34" charset="0"/>
                          <a:ea typeface="Calibri" pitchFamily="34" charset="-122"/>
                          <a:cs typeface="Calibri" pitchFamily="34" charset="-120"/>
                        </a:rPr>
                        <a:t>Medium</a:t>
                      </a:r>
                      <a:endParaRPr lang="en-US" sz="1150" dirty="0">
                        <a:latin typeface="Calibri" charset="0"/>
                        <a:ea typeface="Calibri" charset="0"/>
                        <a:cs typeface="Calibri" charset="0"/>
                      </a:endParaRPr>
                    </a:p>
                  </a:txBody>
                  <a:tcPr anchor="ctr">
                    <a:lnL w="9525" cap="flat" cmpd="sng" algn="ctr">
                      <a:solidFill>
                        <a:srgbClr val="E1E4EF"/>
                      </a:solidFill>
                      <a:prstDash val="solid"/>
                      <a:round/>
                      <a:headEnd type="none" w="med" len="med"/>
                      <a:tailEnd type="none" w="med" len="med"/>
                    </a:lnL>
                    <a:lnR w="9525" cap="flat" cmpd="sng" algn="ctr">
                      <a:solidFill>
                        <a:srgbClr val="E1E4EF"/>
                      </a:solidFill>
                      <a:prstDash val="solid"/>
                      <a:round/>
                      <a:headEnd type="none" w="med" len="med"/>
                      <a:tailEnd type="none" w="med" len="med"/>
                    </a:lnR>
                    <a:lnT w="9525" cap="flat" cmpd="sng" algn="ctr">
                      <a:solidFill>
                        <a:srgbClr val="E1E4EF"/>
                      </a:solidFill>
                      <a:prstDash val="solid"/>
                      <a:round/>
                      <a:headEnd type="none" w="med" len="med"/>
                      <a:tailEnd type="none" w="med" len="med"/>
                    </a:lnT>
                    <a:lnB w="9525" cap="flat" cmpd="sng" algn="ctr">
                      <a:solidFill>
                        <a:srgbClr val="E1E4EF"/>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lgn="l">
                        <a:buNone/>
                      </a:pPr>
                      <a:r>
                        <a:rPr lang="en-US" sz="1150" dirty="0">
                          <a:solidFill>
                            <a:srgbClr val="222222"/>
                          </a:solidFill>
                          <a:latin typeface="Calibri" pitchFamily="34" charset="0"/>
                          <a:ea typeface="Calibri" pitchFamily="34" charset="-122"/>
                          <a:cs typeface="Calibri" pitchFamily="34" charset="-120"/>
                        </a:rPr>
                        <a:t>Risk avoidance (regulatory + IP/data)</a:t>
                      </a:r>
                      <a:endParaRPr lang="en-US" sz="1150" dirty="0">
                        <a:latin typeface="Calibri" charset="0"/>
                        <a:ea typeface="Calibri" charset="0"/>
                        <a:cs typeface="Calibri" charset="0"/>
                      </a:endParaRPr>
                    </a:p>
                  </a:txBody>
                  <a:tcPr anchor="ctr">
                    <a:lnL w="9525" cap="flat" cmpd="sng" algn="ctr">
                      <a:solidFill>
                        <a:srgbClr val="E1E4EF"/>
                      </a:solidFill>
                      <a:prstDash val="solid"/>
                      <a:round/>
                      <a:headEnd type="none" w="med" len="med"/>
                      <a:tailEnd type="none" w="med" len="med"/>
                    </a:lnL>
                    <a:lnR w="9525" cap="flat" cmpd="sng" algn="ctr">
                      <a:solidFill>
                        <a:srgbClr val="E1E4EF"/>
                      </a:solidFill>
                      <a:prstDash val="solid"/>
                      <a:round/>
                      <a:headEnd type="none" w="med" len="med"/>
                      <a:tailEnd type="none" w="med" len="med"/>
                    </a:lnR>
                    <a:lnT w="9525" cap="flat" cmpd="sng" algn="ctr">
                      <a:solidFill>
                        <a:srgbClr val="E1E4EF"/>
                      </a:solidFill>
                      <a:prstDash val="solid"/>
                      <a:round/>
                      <a:headEnd type="none" w="med" len="med"/>
                      <a:tailEnd type="none" w="med" len="med"/>
                    </a:lnT>
                    <a:lnB w="9525" cap="flat" cmpd="sng" algn="ctr">
                      <a:solidFill>
                        <a:srgbClr val="E1E4EF"/>
                      </a:solidFill>
                      <a:prstDash val="solid"/>
                      <a:round/>
                      <a:headEnd type="none" w="med" len="med"/>
                      <a:tailEnd type="none" w="med" len="med"/>
                    </a:lnB>
                  </a:tcPr>
                </a:tc>
                <a:tc>
                  <a:txBody>
                    <a:bodyPr/>
                    <a:lstStyle/>
                    <a:p>
                      <a:pPr marL="0" indent="0" algn="r">
                        <a:buNone/>
                      </a:pPr>
                      <a:r>
                        <a:rPr lang="en-US" sz="1150" dirty="0">
                          <a:solidFill>
                            <a:srgbClr val="222222"/>
                          </a:solidFill>
                          <a:latin typeface="Calibri" pitchFamily="34" charset="0"/>
                          <a:ea typeface="Calibri" pitchFamily="34" charset="-122"/>
                          <a:cs typeface="Calibri" pitchFamily="34" charset="-120"/>
                        </a:rPr>
                        <a:t>$140k</a:t>
                      </a:r>
                      <a:endParaRPr lang="en-US" sz="1150" dirty="0">
                        <a:latin typeface="Calibri" charset="0"/>
                        <a:ea typeface="Calibri" charset="0"/>
                        <a:cs typeface="Calibri" charset="0"/>
                      </a:endParaRPr>
                    </a:p>
                  </a:txBody>
                  <a:tcPr anchor="ctr">
                    <a:lnL w="9525" cap="flat" cmpd="sng" algn="ctr">
                      <a:solidFill>
                        <a:srgbClr val="E1E4EF"/>
                      </a:solidFill>
                      <a:prstDash val="solid"/>
                      <a:round/>
                      <a:headEnd type="none" w="med" len="med"/>
                      <a:tailEnd type="none" w="med" len="med"/>
                    </a:lnL>
                    <a:lnR w="9525" cap="flat" cmpd="sng" algn="ctr">
                      <a:solidFill>
                        <a:srgbClr val="E1E4EF"/>
                      </a:solidFill>
                      <a:prstDash val="solid"/>
                      <a:round/>
                      <a:headEnd type="none" w="med" len="med"/>
                      <a:tailEnd type="none" w="med" len="med"/>
                    </a:lnR>
                    <a:lnT w="9525" cap="flat" cmpd="sng" algn="ctr">
                      <a:solidFill>
                        <a:srgbClr val="E1E4EF"/>
                      </a:solidFill>
                      <a:prstDash val="solid"/>
                      <a:round/>
                      <a:headEnd type="none" w="med" len="med"/>
                      <a:tailEnd type="none" w="med" len="med"/>
                    </a:lnT>
                    <a:lnB w="9525" cap="flat" cmpd="sng" algn="ctr">
                      <a:solidFill>
                        <a:srgbClr val="E1E4EF"/>
                      </a:solidFill>
                      <a:prstDash val="solid"/>
                      <a:round/>
                      <a:headEnd type="none" w="med" len="med"/>
                      <a:tailEnd type="none" w="med" len="med"/>
                    </a:lnB>
                  </a:tcPr>
                </a:tc>
                <a:tc>
                  <a:txBody>
                    <a:bodyPr/>
                    <a:lstStyle/>
                    <a:p>
                      <a:pPr marL="0" indent="0" algn="r">
                        <a:buNone/>
                      </a:pPr>
                      <a:r>
                        <a:rPr lang="en-US" sz="1150" dirty="0">
                          <a:solidFill>
                            <a:srgbClr val="222222"/>
                          </a:solidFill>
                          <a:latin typeface="Calibri" pitchFamily="34" charset="0"/>
                          <a:ea typeface="Calibri" pitchFamily="34" charset="-122"/>
                          <a:cs typeface="Calibri" pitchFamily="34" charset="-120"/>
                        </a:rPr>
                        <a:t>$450k</a:t>
                      </a:r>
                      <a:endParaRPr lang="en-US" sz="1150" dirty="0">
                        <a:latin typeface="Calibri" charset="0"/>
                        <a:ea typeface="Calibri" charset="0"/>
                        <a:cs typeface="Calibri" charset="0"/>
                      </a:endParaRPr>
                    </a:p>
                  </a:txBody>
                  <a:tcPr anchor="ctr">
                    <a:lnL w="9525" cap="flat" cmpd="sng" algn="ctr">
                      <a:solidFill>
                        <a:srgbClr val="E1E4EF"/>
                      </a:solidFill>
                      <a:prstDash val="solid"/>
                      <a:round/>
                      <a:headEnd type="none" w="med" len="med"/>
                      <a:tailEnd type="none" w="med" len="med"/>
                    </a:lnL>
                    <a:lnR w="9525" cap="flat" cmpd="sng" algn="ctr">
                      <a:solidFill>
                        <a:srgbClr val="E1E4EF"/>
                      </a:solidFill>
                      <a:prstDash val="solid"/>
                      <a:round/>
                      <a:headEnd type="none" w="med" len="med"/>
                      <a:tailEnd type="none" w="med" len="med"/>
                    </a:lnR>
                    <a:lnT w="9525" cap="flat" cmpd="sng" algn="ctr">
                      <a:solidFill>
                        <a:srgbClr val="E1E4EF"/>
                      </a:solidFill>
                      <a:prstDash val="solid"/>
                      <a:round/>
                      <a:headEnd type="none" w="med" len="med"/>
                      <a:tailEnd type="none" w="med" len="med"/>
                    </a:lnT>
                    <a:lnB w="9525" cap="flat" cmpd="sng" algn="ctr">
                      <a:solidFill>
                        <a:srgbClr val="E1E4EF"/>
                      </a:solidFill>
                      <a:prstDash val="solid"/>
                      <a:round/>
                      <a:headEnd type="none" w="med" len="med"/>
                      <a:tailEnd type="none" w="med" len="med"/>
                    </a:lnB>
                  </a:tcPr>
                </a:tc>
                <a:tc>
                  <a:txBody>
                    <a:bodyPr/>
                    <a:lstStyle/>
                    <a:p>
                      <a:pPr marL="0" indent="0" algn="r">
                        <a:buNone/>
                      </a:pPr>
                      <a:r>
                        <a:rPr lang="en-US" sz="1150" dirty="0">
                          <a:solidFill>
                            <a:srgbClr val="222222"/>
                          </a:solidFill>
                          <a:latin typeface="Calibri" pitchFamily="34" charset="0"/>
                          <a:ea typeface="Calibri" pitchFamily="34" charset="-122"/>
                          <a:cs typeface="Calibri" pitchFamily="34" charset="-120"/>
                        </a:rPr>
                        <a:t>$1,060k</a:t>
                      </a:r>
                      <a:endParaRPr lang="en-US" sz="1150" dirty="0">
                        <a:latin typeface="Calibri" charset="0"/>
                        <a:ea typeface="Calibri" charset="0"/>
                        <a:cs typeface="Calibri" charset="0"/>
                      </a:endParaRPr>
                    </a:p>
                  </a:txBody>
                  <a:tcPr anchor="ctr">
                    <a:lnL w="9525" cap="flat" cmpd="sng" algn="ctr">
                      <a:solidFill>
                        <a:srgbClr val="E1E4EF"/>
                      </a:solidFill>
                      <a:prstDash val="solid"/>
                      <a:round/>
                      <a:headEnd type="none" w="med" len="med"/>
                      <a:tailEnd type="none" w="med" len="med"/>
                    </a:lnL>
                    <a:lnR w="9525" cap="flat" cmpd="sng" algn="ctr">
                      <a:solidFill>
                        <a:srgbClr val="E1E4EF"/>
                      </a:solidFill>
                      <a:prstDash val="solid"/>
                      <a:round/>
                      <a:headEnd type="none" w="med" len="med"/>
                      <a:tailEnd type="none" w="med" len="med"/>
                    </a:lnR>
                    <a:lnT w="9525" cap="flat" cmpd="sng" algn="ctr">
                      <a:solidFill>
                        <a:srgbClr val="E1E4EF"/>
                      </a:solidFill>
                      <a:prstDash val="solid"/>
                      <a:round/>
                      <a:headEnd type="none" w="med" len="med"/>
                      <a:tailEnd type="none" w="med" len="med"/>
                    </a:lnT>
                    <a:lnB w="9525" cap="flat" cmpd="sng" algn="ctr">
                      <a:solidFill>
                        <a:srgbClr val="E1E4EF"/>
                      </a:solidFill>
                      <a:prstDash val="solid"/>
                      <a:round/>
                      <a:headEnd type="none" w="med" len="med"/>
                      <a:tailEnd type="none" w="med" len="med"/>
                    </a:lnB>
                  </a:tcPr>
                </a:tc>
                <a:tc>
                  <a:txBody>
                    <a:bodyPr/>
                    <a:lstStyle/>
                    <a:p>
                      <a:pPr marL="0" indent="0" algn="l">
                        <a:buNone/>
                      </a:pPr>
                      <a:r>
                        <a:rPr lang="en-US" sz="1150" dirty="0">
                          <a:solidFill>
                            <a:srgbClr val="222222"/>
                          </a:solidFill>
                          <a:latin typeface="Calibri" pitchFamily="34" charset="0"/>
                          <a:ea typeface="Calibri" pitchFamily="34" charset="-122"/>
                          <a:cs typeface="Calibri" pitchFamily="34" charset="-120"/>
                        </a:rPr>
                        <a:t>Low–med</a:t>
                      </a:r>
                      <a:endParaRPr lang="en-US" sz="1150" dirty="0">
                        <a:latin typeface="Calibri" charset="0"/>
                        <a:ea typeface="Calibri" charset="0"/>
                        <a:cs typeface="Calibri" charset="0"/>
                      </a:endParaRPr>
                    </a:p>
                  </a:txBody>
                  <a:tcPr anchor="ctr">
                    <a:lnL w="9525" cap="flat" cmpd="sng" algn="ctr">
                      <a:solidFill>
                        <a:srgbClr val="E1E4EF"/>
                      </a:solidFill>
                      <a:prstDash val="solid"/>
                      <a:round/>
                      <a:headEnd type="none" w="med" len="med"/>
                      <a:tailEnd type="none" w="med" len="med"/>
                    </a:lnL>
                    <a:lnR w="9525" cap="flat" cmpd="sng" algn="ctr">
                      <a:solidFill>
                        <a:srgbClr val="E1E4EF"/>
                      </a:solidFill>
                      <a:prstDash val="solid"/>
                      <a:round/>
                      <a:headEnd type="none" w="med" len="med"/>
                      <a:tailEnd type="none" w="med" len="med"/>
                    </a:lnR>
                    <a:lnT w="9525" cap="flat" cmpd="sng" algn="ctr">
                      <a:solidFill>
                        <a:srgbClr val="E1E4EF"/>
                      </a:solidFill>
                      <a:prstDash val="solid"/>
                      <a:round/>
                      <a:headEnd type="none" w="med" len="med"/>
                      <a:tailEnd type="none" w="med" len="med"/>
                    </a:lnT>
                    <a:lnB w="9525" cap="flat" cmpd="sng" algn="ctr">
                      <a:solidFill>
                        <a:srgbClr val="E1E4EF"/>
                      </a:solidFill>
                      <a:prstDash val="solid"/>
                      <a:round/>
                      <a:headEnd type="none" w="med" len="med"/>
                      <a:tailEnd type="none" w="med" len="med"/>
                    </a:lnB>
                  </a:tcPr>
                </a:tc>
                <a:extLst>
                  <a:ext uri="{0D108BD9-81ED-4DB2-BD59-A6C34878D82A}">
                    <a16:rowId xmlns:a16="http://schemas.microsoft.com/office/drawing/2014/main" val="10005"/>
                  </a:ext>
                </a:extLst>
              </a:tr>
              <a:tr h="384048">
                <a:tc>
                  <a:txBody>
                    <a:bodyPr/>
                    <a:lstStyle/>
                    <a:p>
                      <a:pPr marL="0" indent="0" algn="l">
                        <a:buNone/>
                      </a:pPr>
                      <a:r>
                        <a:rPr lang="en-US" sz="1150" dirty="0">
                          <a:solidFill>
                            <a:srgbClr val="222222"/>
                          </a:solidFill>
                          <a:latin typeface="Calibri" pitchFamily="34" charset="0"/>
                          <a:ea typeface="Calibri" pitchFamily="34" charset="-122"/>
                          <a:cs typeface="Calibri" pitchFamily="34" charset="-120"/>
                        </a:rPr>
                        <a:t>Onboarding + IT consolidation</a:t>
                      </a:r>
                      <a:endParaRPr lang="en-US" sz="1150" dirty="0">
                        <a:latin typeface="Calibri" charset="0"/>
                        <a:ea typeface="Calibri" charset="0"/>
                        <a:cs typeface="Calibri" charset="0"/>
                      </a:endParaRPr>
                    </a:p>
                  </a:txBody>
                  <a:tcPr anchor="ctr">
                    <a:lnL w="9525" cap="flat" cmpd="sng" algn="ctr">
                      <a:solidFill>
                        <a:srgbClr val="E1E4EF"/>
                      </a:solidFill>
                      <a:prstDash val="solid"/>
                      <a:round/>
                      <a:headEnd type="none" w="med" len="med"/>
                      <a:tailEnd type="none" w="med" len="med"/>
                    </a:lnL>
                    <a:lnR w="9525" cap="flat" cmpd="sng" algn="ctr">
                      <a:solidFill>
                        <a:srgbClr val="E1E4EF"/>
                      </a:solidFill>
                      <a:prstDash val="solid"/>
                      <a:round/>
                      <a:headEnd type="none" w="med" len="med"/>
                      <a:tailEnd type="none" w="med" len="med"/>
                    </a:lnR>
                    <a:lnT w="9525" cap="flat" cmpd="sng" algn="ctr">
                      <a:solidFill>
                        <a:srgbClr val="E1E4EF"/>
                      </a:solidFill>
                      <a:prstDash val="solid"/>
                      <a:round/>
                      <a:headEnd type="none" w="med" len="med"/>
                      <a:tailEnd type="none" w="med" len="med"/>
                    </a:lnT>
                    <a:lnB w="9525" cap="flat" cmpd="sng" algn="ctr">
                      <a:solidFill>
                        <a:srgbClr val="E1E4EF"/>
                      </a:solidFill>
                      <a:prstDash val="solid"/>
                      <a:round/>
                      <a:headEnd type="none" w="med" len="med"/>
                      <a:tailEnd type="none" w="med" len="med"/>
                    </a:lnB>
                  </a:tcPr>
                </a:tc>
                <a:tc>
                  <a:txBody>
                    <a:bodyPr/>
                    <a:lstStyle/>
                    <a:p>
                      <a:pPr marL="0" indent="0" algn="r">
                        <a:buNone/>
                      </a:pPr>
                      <a:r>
                        <a:rPr lang="en-US" sz="1150" dirty="0">
                          <a:solidFill>
                            <a:srgbClr val="222222"/>
                          </a:solidFill>
                          <a:latin typeface="Calibri" pitchFamily="34" charset="0"/>
                          <a:ea typeface="Calibri" pitchFamily="34" charset="-122"/>
                          <a:cs typeface="Calibri" pitchFamily="34" charset="-120"/>
                        </a:rPr>
                        <a:t>$97k</a:t>
                      </a:r>
                      <a:endParaRPr lang="en-US" sz="1150" dirty="0">
                        <a:latin typeface="Calibri" charset="0"/>
                        <a:ea typeface="Calibri" charset="0"/>
                        <a:cs typeface="Calibri" charset="0"/>
                      </a:endParaRPr>
                    </a:p>
                  </a:txBody>
                  <a:tcPr anchor="ctr">
                    <a:lnL w="9525" cap="flat" cmpd="sng" algn="ctr">
                      <a:solidFill>
                        <a:srgbClr val="E1E4EF"/>
                      </a:solidFill>
                      <a:prstDash val="solid"/>
                      <a:round/>
                      <a:headEnd type="none" w="med" len="med"/>
                      <a:tailEnd type="none" w="med" len="med"/>
                    </a:lnL>
                    <a:lnR w="9525" cap="flat" cmpd="sng" algn="ctr">
                      <a:solidFill>
                        <a:srgbClr val="E1E4EF"/>
                      </a:solidFill>
                      <a:prstDash val="solid"/>
                      <a:round/>
                      <a:headEnd type="none" w="med" len="med"/>
                      <a:tailEnd type="none" w="med" len="med"/>
                    </a:lnR>
                    <a:lnT w="9525" cap="flat" cmpd="sng" algn="ctr">
                      <a:solidFill>
                        <a:srgbClr val="E1E4EF"/>
                      </a:solidFill>
                      <a:prstDash val="solid"/>
                      <a:round/>
                      <a:headEnd type="none" w="med" len="med"/>
                      <a:tailEnd type="none" w="med" len="med"/>
                    </a:lnT>
                    <a:lnB w="9525" cap="flat" cmpd="sng" algn="ctr">
                      <a:solidFill>
                        <a:srgbClr val="E1E4EF"/>
                      </a:solidFill>
                      <a:prstDash val="solid"/>
                      <a:round/>
                      <a:headEnd type="none" w="med" len="med"/>
                      <a:tailEnd type="none" w="med" len="med"/>
                    </a:lnB>
                  </a:tcPr>
                </a:tc>
                <a:tc>
                  <a:txBody>
                    <a:bodyPr/>
                    <a:lstStyle/>
                    <a:p>
                      <a:pPr marL="0" indent="0" algn="r">
                        <a:buNone/>
                      </a:pPr>
                      <a:r>
                        <a:rPr lang="en-US" sz="1150" dirty="0">
                          <a:solidFill>
                            <a:srgbClr val="222222"/>
                          </a:solidFill>
                          <a:latin typeface="Calibri" pitchFamily="34" charset="0"/>
                          <a:ea typeface="Calibri" pitchFamily="34" charset="-122"/>
                          <a:cs typeface="Calibri" pitchFamily="34" charset="-120"/>
                        </a:rPr>
                        <a:t>$185k</a:t>
                      </a:r>
                      <a:endParaRPr lang="en-US" sz="1150" dirty="0">
                        <a:latin typeface="Calibri" charset="0"/>
                        <a:ea typeface="Calibri" charset="0"/>
                        <a:cs typeface="Calibri" charset="0"/>
                      </a:endParaRPr>
                    </a:p>
                  </a:txBody>
                  <a:tcPr anchor="ctr">
                    <a:lnL w="9525" cap="flat" cmpd="sng" algn="ctr">
                      <a:solidFill>
                        <a:srgbClr val="E1E4EF"/>
                      </a:solidFill>
                      <a:prstDash val="solid"/>
                      <a:round/>
                      <a:headEnd type="none" w="med" len="med"/>
                      <a:tailEnd type="none" w="med" len="med"/>
                    </a:lnL>
                    <a:lnR w="9525" cap="flat" cmpd="sng" algn="ctr">
                      <a:solidFill>
                        <a:srgbClr val="E1E4EF"/>
                      </a:solidFill>
                      <a:prstDash val="solid"/>
                      <a:round/>
                      <a:headEnd type="none" w="med" len="med"/>
                      <a:tailEnd type="none" w="med" len="med"/>
                    </a:lnR>
                    <a:lnT w="9525" cap="flat" cmpd="sng" algn="ctr">
                      <a:solidFill>
                        <a:srgbClr val="E1E4EF"/>
                      </a:solidFill>
                      <a:prstDash val="solid"/>
                      <a:round/>
                      <a:headEnd type="none" w="med" len="med"/>
                      <a:tailEnd type="none" w="med" len="med"/>
                    </a:lnT>
                    <a:lnB w="9525" cap="flat" cmpd="sng" algn="ctr">
                      <a:solidFill>
                        <a:srgbClr val="E1E4EF"/>
                      </a:solidFill>
                      <a:prstDash val="solid"/>
                      <a:round/>
                      <a:headEnd type="none" w="med" len="med"/>
                      <a:tailEnd type="none" w="med" len="med"/>
                    </a:lnB>
                  </a:tcPr>
                </a:tc>
                <a:tc>
                  <a:txBody>
                    <a:bodyPr/>
                    <a:lstStyle/>
                    <a:p>
                      <a:pPr marL="0" indent="0" algn="r">
                        <a:buNone/>
                      </a:pPr>
                      <a:r>
                        <a:rPr lang="en-US" sz="1150" dirty="0">
                          <a:solidFill>
                            <a:srgbClr val="222222"/>
                          </a:solidFill>
                          <a:latin typeface="Calibri" pitchFamily="34" charset="0"/>
                          <a:ea typeface="Calibri" pitchFamily="34" charset="-122"/>
                          <a:cs typeface="Calibri" pitchFamily="34" charset="-120"/>
                        </a:rPr>
                        <a:t>$309k</a:t>
                      </a:r>
                      <a:endParaRPr lang="en-US" sz="1150" dirty="0">
                        <a:latin typeface="Calibri" charset="0"/>
                        <a:ea typeface="Calibri" charset="0"/>
                        <a:cs typeface="Calibri" charset="0"/>
                      </a:endParaRPr>
                    </a:p>
                  </a:txBody>
                  <a:tcPr anchor="ctr">
                    <a:lnL w="9525" cap="flat" cmpd="sng" algn="ctr">
                      <a:solidFill>
                        <a:srgbClr val="E1E4EF"/>
                      </a:solidFill>
                      <a:prstDash val="solid"/>
                      <a:round/>
                      <a:headEnd type="none" w="med" len="med"/>
                      <a:tailEnd type="none" w="med" len="med"/>
                    </a:lnL>
                    <a:lnR w="9525" cap="flat" cmpd="sng" algn="ctr">
                      <a:solidFill>
                        <a:srgbClr val="E1E4EF"/>
                      </a:solidFill>
                      <a:prstDash val="solid"/>
                      <a:round/>
                      <a:headEnd type="none" w="med" len="med"/>
                      <a:tailEnd type="none" w="med" len="med"/>
                    </a:lnR>
                    <a:lnT w="9525" cap="flat" cmpd="sng" algn="ctr">
                      <a:solidFill>
                        <a:srgbClr val="E1E4EF"/>
                      </a:solidFill>
                      <a:prstDash val="solid"/>
                      <a:round/>
                      <a:headEnd type="none" w="med" len="med"/>
                      <a:tailEnd type="none" w="med" len="med"/>
                    </a:lnT>
                    <a:lnB w="9525" cap="flat" cmpd="sng" algn="ctr">
                      <a:solidFill>
                        <a:srgbClr val="E1E4EF"/>
                      </a:solidFill>
                      <a:prstDash val="solid"/>
                      <a:round/>
                      <a:headEnd type="none" w="med" len="med"/>
                      <a:tailEnd type="none" w="med" len="med"/>
                    </a:lnB>
                  </a:tcPr>
                </a:tc>
                <a:tc>
                  <a:txBody>
                    <a:bodyPr/>
                    <a:lstStyle/>
                    <a:p>
                      <a:pPr marL="0" indent="0" algn="l">
                        <a:buNone/>
                      </a:pPr>
                      <a:r>
                        <a:rPr lang="en-US" sz="1150" dirty="0">
                          <a:solidFill>
                            <a:srgbClr val="222222"/>
                          </a:solidFill>
                          <a:latin typeface="Calibri" pitchFamily="34" charset="0"/>
                          <a:ea typeface="Calibri" pitchFamily="34" charset="-122"/>
                          <a:cs typeface="Calibri" pitchFamily="34" charset="-120"/>
                        </a:rPr>
                        <a:t>Medium</a:t>
                      </a:r>
                      <a:endParaRPr lang="en-US" sz="1150" dirty="0">
                        <a:latin typeface="Calibri" charset="0"/>
                        <a:ea typeface="Calibri" charset="0"/>
                        <a:cs typeface="Calibri" charset="0"/>
                      </a:endParaRPr>
                    </a:p>
                  </a:txBody>
                  <a:tcPr anchor="ctr">
                    <a:lnL w="9525" cap="flat" cmpd="sng" algn="ctr">
                      <a:solidFill>
                        <a:srgbClr val="E1E4EF"/>
                      </a:solidFill>
                      <a:prstDash val="solid"/>
                      <a:round/>
                      <a:headEnd type="none" w="med" len="med"/>
                      <a:tailEnd type="none" w="med" len="med"/>
                    </a:lnL>
                    <a:lnR w="9525" cap="flat" cmpd="sng" algn="ctr">
                      <a:solidFill>
                        <a:srgbClr val="E1E4EF"/>
                      </a:solidFill>
                      <a:prstDash val="solid"/>
                      <a:round/>
                      <a:headEnd type="none" w="med" len="med"/>
                      <a:tailEnd type="none" w="med" len="med"/>
                    </a:lnR>
                    <a:lnT w="9525" cap="flat" cmpd="sng" algn="ctr">
                      <a:solidFill>
                        <a:srgbClr val="E1E4EF"/>
                      </a:solidFill>
                      <a:prstDash val="solid"/>
                      <a:round/>
                      <a:headEnd type="none" w="med" len="med"/>
                      <a:tailEnd type="none" w="med" len="med"/>
                    </a:lnT>
                    <a:lnB w="9525" cap="flat" cmpd="sng" algn="ctr">
                      <a:solidFill>
                        <a:srgbClr val="E1E4EF"/>
                      </a:solidFill>
                      <a:prstDash val="solid"/>
                      <a:round/>
                      <a:headEnd type="none" w="med" len="med"/>
                      <a:tailEnd type="none" w="med" len="med"/>
                    </a:lnB>
                  </a:tcPr>
                </a:tc>
                <a:extLst>
                  <a:ext uri="{0D108BD9-81ED-4DB2-BD59-A6C34878D82A}">
                    <a16:rowId xmlns:a16="http://schemas.microsoft.com/office/drawing/2014/main" val="10006"/>
                  </a:ext>
                </a:extLst>
              </a:tr>
              <a:tr h="384048">
                <a:tc>
                  <a:txBody>
                    <a:bodyPr/>
                    <a:lstStyle/>
                    <a:p>
                      <a:pPr marL="0" indent="0">
                        <a:buNone/>
                      </a:pPr>
                      <a:r>
                        <a:rPr lang="en-US" sz="1150" b="1" dirty="0">
                          <a:solidFill>
                            <a:srgbClr val="222222"/>
                          </a:solidFill>
                          <a:latin typeface="Calibri" pitchFamily="34" charset="0"/>
                          <a:ea typeface="Calibri" pitchFamily="34" charset="-122"/>
                          <a:cs typeface="Calibri" pitchFamily="34" charset="-120"/>
                        </a:rPr>
                        <a:t>Total annual, at full deployment</a:t>
                      </a:r>
                      <a:endParaRPr lang="en-US" sz="1150" dirty="0">
                        <a:latin typeface="Calibri" charset="0"/>
                        <a:ea typeface="Calibri" charset="0"/>
                        <a:cs typeface="Calibri" charset="0"/>
                      </a:endParaRPr>
                    </a:p>
                  </a:txBody>
                  <a:tcPr anchor="ctr">
                    <a:lnL w="9525" cap="flat" cmpd="sng" algn="ctr">
                      <a:solidFill>
                        <a:srgbClr val="E1E4EF"/>
                      </a:solidFill>
                      <a:prstDash val="solid"/>
                      <a:round/>
                      <a:headEnd type="none" w="med" len="med"/>
                      <a:tailEnd type="none" w="med" len="med"/>
                    </a:lnL>
                    <a:lnR w="9525" cap="flat" cmpd="sng" algn="ctr">
                      <a:solidFill>
                        <a:srgbClr val="E1E4EF"/>
                      </a:solidFill>
                      <a:prstDash val="solid"/>
                      <a:round/>
                      <a:headEnd type="none" w="med" len="med"/>
                      <a:tailEnd type="none" w="med" len="med"/>
                    </a:lnR>
                    <a:lnT w="9525" cap="flat" cmpd="sng" algn="ctr">
                      <a:solidFill>
                        <a:srgbClr val="E1E4EF"/>
                      </a:solidFill>
                      <a:prstDash val="solid"/>
                      <a:round/>
                      <a:headEnd type="none" w="med" len="med"/>
                      <a:tailEnd type="none" w="med" len="med"/>
                    </a:lnT>
                    <a:lnB w="9525" cap="flat" cmpd="sng" algn="ctr">
                      <a:solidFill>
                        <a:srgbClr val="E1E4EF"/>
                      </a:solidFill>
                      <a:prstDash val="solid"/>
                      <a:round/>
                      <a:headEnd type="none" w="med" len="med"/>
                      <a:tailEnd type="none" w="med" len="med"/>
                    </a:lnB>
                    <a:solidFill>
                      <a:srgbClr val="F3F6FB"/>
                    </a:solidFill>
                  </a:tcPr>
                </a:tc>
                <a:tc>
                  <a:txBody>
                    <a:bodyPr/>
                    <a:lstStyle/>
                    <a:p>
                      <a:pPr marL="0" indent="0" algn="r">
                        <a:buNone/>
                      </a:pPr>
                      <a:r>
                        <a:rPr lang="en-US" sz="1150" b="1" dirty="0">
                          <a:solidFill>
                            <a:srgbClr val="222222"/>
                          </a:solidFill>
                          <a:latin typeface="Calibri" pitchFamily="34" charset="0"/>
                          <a:ea typeface="Calibri" pitchFamily="34" charset="-122"/>
                          <a:cs typeface="Calibri" pitchFamily="34" charset="-120"/>
                        </a:rPr>
                        <a:t>$1.72M</a:t>
                      </a:r>
                      <a:endParaRPr lang="en-US" sz="1150" dirty="0">
                        <a:latin typeface="Calibri" charset="0"/>
                        <a:ea typeface="Calibri" charset="0"/>
                        <a:cs typeface="Calibri" charset="0"/>
                      </a:endParaRPr>
                    </a:p>
                  </a:txBody>
                  <a:tcPr anchor="ctr">
                    <a:lnL w="9525" cap="flat" cmpd="sng" algn="ctr">
                      <a:solidFill>
                        <a:srgbClr val="E1E4EF"/>
                      </a:solidFill>
                      <a:prstDash val="solid"/>
                      <a:round/>
                      <a:headEnd type="none" w="med" len="med"/>
                      <a:tailEnd type="none" w="med" len="med"/>
                    </a:lnL>
                    <a:lnR w="9525" cap="flat" cmpd="sng" algn="ctr">
                      <a:solidFill>
                        <a:srgbClr val="E1E4EF"/>
                      </a:solidFill>
                      <a:prstDash val="solid"/>
                      <a:round/>
                      <a:headEnd type="none" w="med" len="med"/>
                      <a:tailEnd type="none" w="med" len="med"/>
                    </a:lnR>
                    <a:lnT w="9525" cap="flat" cmpd="sng" algn="ctr">
                      <a:solidFill>
                        <a:srgbClr val="E1E4EF"/>
                      </a:solidFill>
                      <a:prstDash val="solid"/>
                      <a:round/>
                      <a:headEnd type="none" w="med" len="med"/>
                      <a:tailEnd type="none" w="med" len="med"/>
                    </a:lnT>
                    <a:lnB w="9525" cap="flat" cmpd="sng" algn="ctr">
                      <a:solidFill>
                        <a:srgbClr val="E1E4EF"/>
                      </a:solidFill>
                      <a:prstDash val="solid"/>
                      <a:round/>
                      <a:headEnd type="none" w="med" len="med"/>
                      <a:tailEnd type="none" w="med" len="med"/>
                    </a:lnB>
                    <a:solidFill>
                      <a:srgbClr val="F3F6FB"/>
                    </a:solidFill>
                  </a:tcPr>
                </a:tc>
                <a:tc>
                  <a:txBody>
                    <a:bodyPr/>
                    <a:lstStyle/>
                    <a:p>
                      <a:pPr marL="0" indent="0" algn="r">
                        <a:buNone/>
                      </a:pPr>
                      <a:r>
                        <a:rPr lang="en-US" sz="1150" b="1" dirty="0">
                          <a:solidFill>
                            <a:srgbClr val="222222"/>
                          </a:solidFill>
                          <a:latin typeface="Calibri" pitchFamily="34" charset="0"/>
                          <a:ea typeface="Calibri" pitchFamily="34" charset="-122"/>
                          <a:cs typeface="Calibri" pitchFamily="34" charset="-120"/>
                        </a:rPr>
                        <a:t>$2.61M</a:t>
                      </a:r>
                      <a:endParaRPr lang="en-US" sz="1150" dirty="0">
                        <a:latin typeface="Calibri" charset="0"/>
                        <a:ea typeface="Calibri" charset="0"/>
                        <a:cs typeface="Calibri" charset="0"/>
                      </a:endParaRPr>
                    </a:p>
                  </a:txBody>
                  <a:tcPr anchor="ctr">
                    <a:lnL w="9525" cap="flat" cmpd="sng" algn="ctr">
                      <a:solidFill>
                        <a:srgbClr val="E1E4EF"/>
                      </a:solidFill>
                      <a:prstDash val="solid"/>
                      <a:round/>
                      <a:headEnd type="none" w="med" len="med"/>
                      <a:tailEnd type="none" w="med" len="med"/>
                    </a:lnL>
                    <a:lnR w="9525" cap="flat" cmpd="sng" algn="ctr">
                      <a:solidFill>
                        <a:srgbClr val="E1E4EF"/>
                      </a:solidFill>
                      <a:prstDash val="solid"/>
                      <a:round/>
                      <a:headEnd type="none" w="med" len="med"/>
                      <a:tailEnd type="none" w="med" len="med"/>
                    </a:lnR>
                    <a:lnT w="9525" cap="flat" cmpd="sng" algn="ctr">
                      <a:solidFill>
                        <a:srgbClr val="E1E4EF"/>
                      </a:solidFill>
                      <a:prstDash val="solid"/>
                      <a:round/>
                      <a:headEnd type="none" w="med" len="med"/>
                      <a:tailEnd type="none" w="med" len="med"/>
                    </a:lnT>
                    <a:lnB w="9525" cap="flat" cmpd="sng" algn="ctr">
                      <a:solidFill>
                        <a:srgbClr val="E1E4EF"/>
                      </a:solidFill>
                      <a:prstDash val="solid"/>
                      <a:round/>
                      <a:headEnd type="none" w="med" len="med"/>
                      <a:tailEnd type="none" w="med" len="med"/>
                    </a:lnB>
                    <a:solidFill>
                      <a:srgbClr val="F3F6FB"/>
                    </a:solidFill>
                  </a:tcPr>
                </a:tc>
                <a:tc>
                  <a:txBody>
                    <a:bodyPr/>
                    <a:lstStyle/>
                    <a:p>
                      <a:pPr marL="0" indent="0" algn="r">
                        <a:buNone/>
                      </a:pPr>
                      <a:r>
                        <a:rPr lang="en-US" sz="1150" b="1" dirty="0">
                          <a:solidFill>
                            <a:srgbClr val="222222"/>
                          </a:solidFill>
                          <a:latin typeface="Calibri" pitchFamily="34" charset="0"/>
                          <a:ea typeface="Calibri" pitchFamily="34" charset="-122"/>
                          <a:cs typeface="Calibri" pitchFamily="34" charset="-120"/>
                        </a:rPr>
                        <a:t>$4.05M</a:t>
                      </a:r>
                      <a:endParaRPr lang="en-US" sz="1150" dirty="0">
                        <a:latin typeface="Calibri" charset="0"/>
                        <a:ea typeface="Calibri" charset="0"/>
                        <a:cs typeface="Calibri" charset="0"/>
                      </a:endParaRPr>
                    </a:p>
                  </a:txBody>
                  <a:tcPr anchor="ctr">
                    <a:lnL w="9525" cap="flat" cmpd="sng" algn="ctr">
                      <a:solidFill>
                        <a:srgbClr val="E1E4EF"/>
                      </a:solidFill>
                      <a:prstDash val="solid"/>
                      <a:round/>
                      <a:headEnd type="none" w="med" len="med"/>
                      <a:tailEnd type="none" w="med" len="med"/>
                    </a:lnL>
                    <a:lnR w="9525" cap="flat" cmpd="sng" algn="ctr">
                      <a:solidFill>
                        <a:srgbClr val="E1E4EF"/>
                      </a:solidFill>
                      <a:prstDash val="solid"/>
                      <a:round/>
                      <a:headEnd type="none" w="med" len="med"/>
                      <a:tailEnd type="none" w="med" len="med"/>
                    </a:lnR>
                    <a:lnT w="9525" cap="flat" cmpd="sng" algn="ctr">
                      <a:solidFill>
                        <a:srgbClr val="E1E4EF"/>
                      </a:solidFill>
                      <a:prstDash val="solid"/>
                      <a:round/>
                      <a:headEnd type="none" w="med" len="med"/>
                      <a:tailEnd type="none" w="med" len="med"/>
                    </a:lnT>
                    <a:lnB w="9525" cap="flat" cmpd="sng" algn="ctr">
                      <a:solidFill>
                        <a:srgbClr val="E1E4EF"/>
                      </a:solidFill>
                      <a:prstDash val="solid"/>
                      <a:round/>
                      <a:headEnd type="none" w="med" len="med"/>
                      <a:tailEnd type="none" w="med" len="med"/>
                    </a:lnB>
                    <a:solidFill>
                      <a:srgbClr val="F3F6FB"/>
                    </a:solidFill>
                  </a:tcPr>
                </a:tc>
                <a:tc>
                  <a:txBody>
                    <a:bodyPr/>
                    <a:lstStyle/>
                    <a:p>
                      <a:pPr marL="0" indent="0">
                        <a:buNone/>
                      </a:pPr>
                      <a:endParaRPr lang="en-US" sz="1150" dirty="0">
                        <a:latin typeface="Calibri" charset="0"/>
                        <a:ea typeface="Calibri" charset="0"/>
                        <a:cs typeface="Calibri" charset="0"/>
                      </a:endParaRPr>
                    </a:p>
                  </a:txBody>
                  <a:tcPr anchor="ctr">
                    <a:lnL w="9525" cap="flat" cmpd="sng" algn="ctr">
                      <a:solidFill>
                        <a:srgbClr val="E1E4EF"/>
                      </a:solidFill>
                      <a:prstDash val="solid"/>
                      <a:round/>
                      <a:headEnd type="none" w="med" len="med"/>
                      <a:tailEnd type="none" w="med" len="med"/>
                    </a:lnL>
                    <a:lnR w="9525" cap="flat" cmpd="sng" algn="ctr">
                      <a:solidFill>
                        <a:srgbClr val="E1E4EF"/>
                      </a:solidFill>
                      <a:prstDash val="solid"/>
                      <a:round/>
                      <a:headEnd type="none" w="med" len="med"/>
                      <a:tailEnd type="none" w="med" len="med"/>
                    </a:lnR>
                    <a:lnT w="9525" cap="flat" cmpd="sng" algn="ctr">
                      <a:solidFill>
                        <a:srgbClr val="E1E4EF"/>
                      </a:solidFill>
                      <a:prstDash val="solid"/>
                      <a:round/>
                      <a:headEnd type="none" w="med" len="med"/>
                      <a:tailEnd type="none" w="med" len="med"/>
                    </a:lnT>
                    <a:lnB w="9525" cap="flat" cmpd="sng" algn="ctr">
                      <a:solidFill>
                        <a:srgbClr val="E1E4EF"/>
                      </a:solidFill>
                      <a:prstDash val="solid"/>
                      <a:round/>
                      <a:headEnd type="none" w="med" len="med"/>
                      <a:tailEnd type="none" w="med" len="med"/>
                    </a:lnB>
                    <a:solidFill>
                      <a:srgbClr val="F3F6FB"/>
                    </a:solidFill>
                  </a:tcPr>
                </a:tc>
                <a:extLst>
                  <a:ext uri="{0D108BD9-81ED-4DB2-BD59-A6C34878D82A}">
                    <a16:rowId xmlns:a16="http://schemas.microsoft.com/office/drawing/2014/main" val="10007"/>
                  </a:ext>
                </a:extLst>
              </a:tr>
            </a:tbl>
          </a:graphicData>
        </a:graphic>
      </p:graphicFrame>
      <p:sp>
        <p:nvSpPr>
          <p:cNvPr id="24" name="Card 1"/>
          <p:cNvSpPr/>
          <p:nvPr/>
        </p:nvSpPr>
        <p:spPr>
          <a:xfrm>
            <a:off x="502920" y="5450000"/>
            <a:ext cx="3500000" cy="950000"/>
          </a:xfrm>
          <a:prstGeom prst="roundRect">
            <a:avLst>
              <a:gd name="adj" fmla="val 5000"/>
            </a:avLst>
          </a:prstGeom>
          <a:solidFill>
            <a:srgbClr val="FFFFFF"/>
          </a:solidFill>
          <a:ln w="9525">
            <a:solidFill>
              <a:srgbClr val="E1E4EF"/>
            </a:solidFill>
            <a:prstDash val="solid"/>
          </a:ln>
        </p:spPr>
        <p:txBody>
          <a:bodyPr/>
          <a:lstStyle/>
          <a:p>
            <a:endParaRPr lang="en-US"/>
          </a:p>
        </p:txBody>
      </p:sp>
      <p:sp>
        <p:nvSpPr>
          <p:cNvPr id="25" name="CardLabel 1"/>
          <p:cNvSpPr/>
          <p:nvPr/>
        </p:nvSpPr>
        <p:spPr>
          <a:xfrm>
            <a:off x="702920" y="5510000"/>
            <a:ext cx="3100000" cy="300000"/>
          </a:xfrm>
          <a:prstGeom prst="rect">
            <a:avLst/>
          </a:prstGeom>
          <a:noFill/>
          <a:ln/>
        </p:spPr>
        <p:txBody>
          <a:bodyPr wrap="square" rtlCol="0" anchor="ctr"/>
          <a:lstStyle/>
          <a:p>
            <a:pPr marL="0" indent="0" algn="ctr">
              <a:buNone/>
            </a:pPr>
            <a:r>
              <a:rPr lang="en-US" sz="900" b="1" kern="0" spc="100" dirty="0">
                <a:solidFill>
                  <a:srgbClr val="5F6368"/>
                </a:solidFill>
                <a:latin typeface="Calibri" pitchFamily="34" charset="0"/>
                <a:ea typeface="Calibri" pitchFamily="34" charset="-122"/>
                <a:cs typeface="Calibri" pitchFamily="34" charset="-120"/>
              </a:rPr>
              <a:t>5-YR ROI: CONSERVATIVE</a:t>
            </a:r>
            <a:endParaRPr lang="en-US" sz="900" dirty="0"/>
          </a:p>
        </p:txBody>
      </p:sp>
      <p:sp>
        <p:nvSpPr>
          <p:cNvPr id="26" name="CardNumber 1"/>
          <p:cNvSpPr/>
          <p:nvPr/>
        </p:nvSpPr>
        <p:spPr>
          <a:xfrm>
            <a:off x="702920" y="5810000"/>
            <a:ext cx="3100000" cy="550000"/>
          </a:xfrm>
          <a:prstGeom prst="rect">
            <a:avLst/>
          </a:prstGeom>
          <a:noFill/>
          <a:ln/>
        </p:spPr>
        <p:txBody>
          <a:bodyPr wrap="square" rtlCol="0" anchor="ctr"/>
          <a:lstStyle/>
          <a:p>
            <a:pPr marL="0" indent="0" algn="ctr">
              <a:buNone/>
            </a:pPr>
            <a:r>
              <a:rPr lang="en-US" sz="2400" b="1" dirty="0">
                <a:solidFill>
                  <a:srgbClr val="082744"/>
                </a:solidFill>
                <a:latin typeface="Cambria" pitchFamily="34" charset="0"/>
                <a:ea typeface="Cambria" pitchFamily="34" charset="-122"/>
                <a:cs typeface="Cambria" pitchFamily="34" charset="-120"/>
              </a:rPr>
              <a:t>27%</a:t>
            </a:r>
            <a:endParaRPr lang="en-US" sz="2400" dirty="0"/>
          </a:p>
        </p:txBody>
      </p:sp>
      <p:sp>
        <p:nvSpPr>
          <p:cNvPr id="27" name="Card 2"/>
          <p:cNvSpPr/>
          <p:nvPr/>
        </p:nvSpPr>
        <p:spPr>
          <a:xfrm>
            <a:off x="4346000" y="5450000"/>
            <a:ext cx="3500000" cy="950000"/>
          </a:xfrm>
          <a:prstGeom prst="roundRect">
            <a:avLst>
              <a:gd name="adj" fmla="val 5000"/>
            </a:avLst>
          </a:prstGeom>
          <a:solidFill>
            <a:srgbClr val="FFFFFF"/>
          </a:solidFill>
          <a:ln w="9525">
            <a:solidFill>
              <a:srgbClr val="E1E4EF"/>
            </a:solidFill>
            <a:prstDash val="solid"/>
          </a:ln>
        </p:spPr>
        <p:txBody>
          <a:bodyPr/>
          <a:lstStyle/>
          <a:p>
            <a:endParaRPr lang="en-US"/>
          </a:p>
        </p:txBody>
      </p:sp>
      <p:sp>
        <p:nvSpPr>
          <p:cNvPr id="28" name="CardLabel 2"/>
          <p:cNvSpPr/>
          <p:nvPr/>
        </p:nvSpPr>
        <p:spPr>
          <a:xfrm>
            <a:off x="4546000" y="5510000"/>
            <a:ext cx="3100000" cy="300000"/>
          </a:xfrm>
          <a:prstGeom prst="rect">
            <a:avLst/>
          </a:prstGeom>
          <a:noFill/>
          <a:ln/>
        </p:spPr>
        <p:txBody>
          <a:bodyPr wrap="square" rtlCol="0" anchor="ctr"/>
          <a:lstStyle/>
          <a:p>
            <a:pPr marL="0" indent="0" algn="ctr">
              <a:buNone/>
            </a:pPr>
            <a:r>
              <a:rPr lang="en-US" sz="900" b="1" kern="0" spc="100" dirty="0">
                <a:solidFill>
                  <a:srgbClr val="5F6368"/>
                </a:solidFill>
                <a:latin typeface="Calibri" pitchFamily="34" charset="0"/>
                <a:ea typeface="Calibri" pitchFamily="34" charset="-122"/>
                <a:cs typeface="Calibri" pitchFamily="34" charset="-120"/>
              </a:rPr>
              <a:t>5-YR ROI: BASE CASE</a:t>
            </a:r>
            <a:endParaRPr lang="en-US" sz="900" dirty="0"/>
          </a:p>
        </p:txBody>
      </p:sp>
      <p:sp>
        <p:nvSpPr>
          <p:cNvPr id="29" name="CardNumber 2"/>
          <p:cNvSpPr/>
          <p:nvPr/>
        </p:nvSpPr>
        <p:spPr>
          <a:xfrm>
            <a:off x="4546000" y="5810000"/>
            <a:ext cx="3100000" cy="550000"/>
          </a:xfrm>
          <a:prstGeom prst="rect">
            <a:avLst/>
          </a:prstGeom>
          <a:noFill/>
          <a:ln/>
        </p:spPr>
        <p:txBody>
          <a:bodyPr wrap="square" rtlCol="0" anchor="ctr"/>
          <a:lstStyle/>
          <a:p>
            <a:pPr marL="0" indent="0" algn="ctr">
              <a:buNone/>
            </a:pPr>
            <a:r>
              <a:rPr lang="en-US" sz="2400" b="1" dirty="0">
                <a:solidFill>
                  <a:srgbClr val="082744"/>
                </a:solidFill>
                <a:latin typeface="Cambria" pitchFamily="34" charset="0"/>
                <a:ea typeface="Cambria" pitchFamily="34" charset="-122"/>
                <a:cs typeface="Cambria" pitchFamily="34" charset="-120"/>
              </a:rPr>
              <a:t>93%</a:t>
            </a:r>
            <a:endParaRPr lang="en-US" sz="2400" dirty="0"/>
          </a:p>
        </p:txBody>
      </p:sp>
      <p:sp>
        <p:nvSpPr>
          <p:cNvPr id="30" name="Card 3"/>
          <p:cNvSpPr/>
          <p:nvPr/>
        </p:nvSpPr>
        <p:spPr>
          <a:xfrm>
            <a:off x="8189080" y="5450000"/>
            <a:ext cx="3500000" cy="950000"/>
          </a:xfrm>
          <a:prstGeom prst="roundRect">
            <a:avLst>
              <a:gd name="adj" fmla="val 5000"/>
            </a:avLst>
          </a:prstGeom>
          <a:solidFill>
            <a:srgbClr val="FFFFFF"/>
          </a:solidFill>
          <a:ln w="9525">
            <a:solidFill>
              <a:srgbClr val="E1E4EF"/>
            </a:solidFill>
            <a:prstDash val="solid"/>
          </a:ln>
        </p:spPr>
        <p:txBody>
          <a:bodyPr/>
          <a:lstStyle/>
          <a:p>
            <a:endParaRPr lang="en-US"/>
          </a:p>
        </p:txBody>
      </p:sp>
      <p:sp>
        <p:nvSpPr>
          <p:cNvPr id="31" name="CardLabel 3"/>
          <p:cNvSpPr/>
          <p:nvPr/>
        </p:nvSpPr>
        <p:spPr>
          <a:xfrm>
            <a:off x="8389080" y="5510000"/>
            <a:ext cx="3100000" cy="300000"/>
          </a:xfrm>
          <a:prstGeom prst="rect">
            <a:avLst/>
          </a:prstGeom>
          <a:noFill/>
          <a:ln/>
        </p:spPr>
        <p:txBody>
          <a:bodyPr wrap="square" rtlCol="0" anchor="ctr"/>
          <a:lstStyle/>
          <a:p>
            <a:pPr marL="0" indent="0" algn="ctr">
              <a:buNone/>
            </a:pPr>
            <a:r>
              <a:rPr lang="en-US" sz="900" b="1" kern="0" spc="100" dirty="0">
                <a:solidFill>
                  <a:srgbClr val="5F6368"/>
                </a:solidFill>
                <a:latin typeface="Calibri" pitchFamily="34" charset="0"/>
                <a:ea typeface="Calibri" pitchFamily="34" charset="-122"/>
                <a:cs typeface="Calibri" pitchFamily="34" charset="-120"/>
              </a:rPr>
              <a:t>5-YR ROI: COMBINED</a:t>
            </a:r>
            <a:endParaRPr lang="en-US" sz="900" dirty="0"/>
          </a:p>
        </p:txBody>
      </p:sp>
      <p:sp>
        <p:nvSpPr>
          <p:cNvPr id="32" name="CardNumber 3"/>
          <p:cNvSpPr/>
          <p:nvPr/>
        </p:nvSpPr>
        <p:spPr>
          <a:xfrm>
            <a:off x="8389080" y="5810000"/>
            <a:ext cx="3100000" cy="550000"/>
          </a:xfrm>
          <a:prstGeom prst="rect">
            <a:avLst/>
          </a:prstGeom>
          <a:noFill/>
          <a:ln/>
        </p:spPr>
        <p:txBody>
          <a:bodyPr wrap="square" rtlCol="0" anchor="ctr"/>
          <a:lstStyle/>
          <a:p>
            <a:pPr marL="0" indent="0" algn="ctr">
              <a:buNone/>
            </a:pPr>
            <a:r>
              <a:rPr lang="en-US" sz="2400" b="1" dirty="0">
                <a:solidFill>
                  <a:srgbClr val="082744"/>
                </a:solidFill>
                <a:latin typeface="Cambria" pitchFamily="34" charset="0"/>
                <a:ea typeface="Cambria" pitchFamily="34" charset="-122"/>
                <a:cs typeface="Cambria" pitchFamily="34" charset="-120"/>
              </a:rPr>
              <a:t>203%</a:t>
            </a:r>
            <a:endParaRPr lang="en-US" sz="2400" dirty="0"/>
          </a:p>
        </p:txBody>
      </p:sp>
      <p:sp>
        <p:nvSpPr>
          <p:cNvPr id="10" name="Text 7">
            <a:extLst>
              <a:ext uri="{FF2B5EF4-FFF2-40B4-BE49-F238E27FC236}">
                <a16:creationId xmlns:a16="http://schemas.microsoft.com/office/drawing/2014/main" id="{BBDDC805-7378-7466-1B16-3941AF1EA044}"/>
              </a:ext>
            </a:extLst>
          </p:cNvPr>
          <p:cNvSpPr/>
          <p:nvPr/>
        </p:nvSpPr>
        <p:spPr>
          <a:xfrm>
            <a:off x="11368735" y="6528816"/>
            <a:ext cx="365760" cy="256032"/>
          </a:xfrm>
          <a:prstGeom prst="rect">
            <a:avLst/>
          </a:prstGeom>
          <a:noFill/>
          <a:ln/>
        </p:spPr>
        <p:txBody>
          <a:bodyPr wrap="square" rtlCol="0" anchor="ctr"/>
          <a:lstStyle/>
          <a:p>
            <a:pPr marL="0" indent="0" algn="r">
              <a:buNone/>
            </a:pPr>
            <a:r>
              <a:rPr lang="en-US" sz="900" dirty="0">
                <a:solidFill>
                  <a:srgbClr val="5F6368"/>
                </a:solidFill>
                <a:latin typeface="Calibri" pitchFamily="34" charset="0"/>
                <a:ea typeface="Calibri" pitchFamily="34" charset="-122"/>
                <a:cs typeface="Calibri" pitchFamily="34" charset="-120"/>
              </a:rPr>
              <a:t>11</a:t>
            </a:r>
            <a:endParaRPr lang="en-US" sz="900" dirty="0"/>
          </a:p>
        </p:txBody>
      </p:sp>
    </p:spTree>
    <p:extLst>
      <p:ext uri="{BB962C8B-B14F-4D97-AF65-F5344CB8AC3E}">
        <p14:creationId xmlns:p14="http://schemas.microsoft.com/office/powerpoint/2010/main" val="23470964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1"/>
          <p:cNvSpPr/>
          <p:nvPr/>
        </p:nvSpPr>
        <p:spPr>
          <a:xfrm>
            <a:off x="502920" y="576072"/>
            <a:ext cx="10515600" cy="640080"/>
          </a:xfrm>
          <a:prstGeom prst="rect">
            <a:avLst/>
          </a:prstGeom>
          <a:noFill/>
          <a:ln/>
        </p:spPr>
        <p:txBody>
          <a:bodyPr wrap="square" rtlCol="0" anchor="ctr"/>
          <a:lstStyle/>
          <a:p>
            <a:pPr marL="0" indent="0">
              <a:buNone/>
            </a:pPr>
            <a:r>
              <a:rPr lang="en-US" sz="2800" b="1" dirty="0">
                <a:solidFill>
                  <a:srgbClr val="082744"/>
                </a:solidFill>
                <a:latin typeface="Cambria" pitchFamily="34" charset="0"/>
                <a:ea typeface="Cambria" pitchFamily="34" charset="-122"/>
                <a:cs typeface="Cambria" pitchFamily="34" charset="-120"/>
              </a:rPr>
              <a:t>What we've already built</a:t>
            </a:r>
            <a:endParaRPr lang="en-US" sz="2800" dirty="0"/>
          </a:p>
        </p:txBody>
      </p:sp>
      <p:sp>
        <p:nvSpPr>
          <p:cNvPr id="4" name="Text 2"/>
          <p:cNvSpPr/>
          <p:nvPr/>
        </p:nvSpPr>
        <p:spPr>
          <a:xfrm>
            <a:off x="502920" y="1371600"/>
            <a:ext cx="11155680" cy="457200"/>
          </a:xfrm>
          <a:prstGeom prst="rect">
            <a:avLst/>
          </a:prstGeom>
          <a:noFill/>
          <a:ln/>
        </p:spPr>
        <p:txBody>
          <a:bodyPr wrap="square" rtlCol="0" anchor="ctr"/>
          <a:lstStyle/>
          <a:p>
            <a:pPr marL="0" indent="0">
              <a:buNone/>
            </a:pPr>
            <a:r>
              <a:rPr lang="en-US" sz="1350" dirty="0">
                <a:solidFill>
                  <a:srgbClr val="333333"/>
                </a:solidFill>
                <a:latin typeface="Calibri" pitchFamily="34" charset="0"/>
                <a:ea typeface="Calibri" pitchFamily="34" charset="-122"/>
                <a:cs typeface="Calibri" pitchFamily="34" charset="-120"/>
              </a:rPr>
              <a:t>Before drawing the conclusions above, we ran a proof of concept and tested it against real governance rules.</a:t>
            </a:r>
            <a:endParaRPr lang="en-US" sz="1350" dirty="0"/>
          </a:p>
        </p:txBody>
      </p:sp>
      <p:sp>
        <p:nvSpPr>
          <p:cNvPr id="5" name="Shape 3"/>
          <p:cNvSpPr/>
          <p:nvPr/>
        </p:nvSpPr>
        <p:spPr>
          <a:xfrm>
            <a:off x="502920" y="1965960"/>
            <a:ext cx="5349240" cy="2148840"/>
          </a:xfrm>
          <a:prstGeom prst="roundRect">
            <a:avLst>
              <a:gd name="adj" fmla="val 2553"/>
            </a:avLst>
          </a:prstGeom>
          <a:solidFill>
            <a:srgbClr val="E8F5E9"/>
          </a:solidFill>
          <a:ln w="12700">
            <a:solidFill>
              <a:srgbClr val="C8E6C9"/>
            </a:solidFill>
            <a:prstDash val="solid"/>
          </a:ln>
        </p:spPr>
        <p:txBody>
          <a:bodyPr/>
          <a:lstStyle/>
          <a:p>
            <a:endParaRPr lang="en-US"/>
          </a:p>
        </p:txBody>
      </p:sp>
      <p:sp>
        <p:nvSpPr>
          <p:cNvPr id="6" name="Text 4"/>
          <p:cNvSpPr/>
          <p:nvPr/>
        </p:nvSpPr>
        <p:spPr>
          <a:xfrm>
            <a:off x="731520" y="2103120"/>
            <a:ext cx="4892040" cy="365760"/>
          </a:xfrm>
          <a:prstGeom prst="rect">
            <a:avLst/>
          </a:prstGeom>
          <a:noFill/>
          <a:ln/>
        </p:spPr>
        <p:txBody>
          <a:bodyPr wrap="square" rtlCol="0" anchor="ctr"/>
          <a:lstStyle/>
          <a:p>
            <a:pPr marL="0" indent="0">
              <a:buNone/>
            </a:pPr>
            <a:r>
              <a:rPr lang="en-US" sz="1400" b="1" dirty="0">
                <a:solidFill>
                  <a:srgbClr val="1B5E20"/>
                </a:solidFill>
                <a:latin typeface="Cambria" pitchFamily="34" charset="0"/>
                <a:ea typeface="Cambria" pitchFamily="34" charset="-122"/>
                <a:cs typeface="Cambria" pitchFamily="34" charset="-120"/>
              </a:rPr>
              <a:t>The guardrails, tested live</a:t>
            </a:r>
            <a:endParaRPr lang="en-US" sz="1400" dirty="0"/>
          </a:p>
        </p:txBody>
      </p:sp>
      <p:sp>
        <p:nvSpPr>
          <p:cNvPr id="7" name="Text 5"/>
          <p:cNvSpPr/>
          <p:nvPr/>
        </p:nvSpPr>
        <p:spPr>
          <a:xfrm>
            <a:off x="731520" y="2514600"/>
            <a:ext cx="4892040" cy="1508760"/>
          </a:xfrm>
          <a:prstGeom prst="rect">
            <a:avLst/>
          </a:prstGeom>
          <a:noFill/>
          <a:ln/>
        </p:spPr>
        <p:txBody>
          <a:bodyPr wrap="square" rtlCol="0" anchor="t"/>
          <a:lstStyle/>
          <a:p>
            <a:pPr marL="342900" indent="-342900">
              <a:spcAft>
                <a:spcPts val="600"/>
              </a:spcAft>
              <a:buSzPct val="100000"/>
              <a:buChar char="•"/>
            </a:pPr>
            <a:r>
              <a:rPr lang="en-US" sz="1150" dirty="0">
                <a:solidFill>
                  <a:srgbClr val="222222"/>
                </a:solidFill>
                <a:latin typeface="Calibri" pitchFamily="34" charset="0"/>
                <a:ea typeface="Calibri" pitchFamily="34" charset="-122"/>
                <a:cs typeface="Calibri" pitchFamily="34" charset="-120"/>
              </a:rPr>
              <a:t>Respected the read-only boundary on the Propel connector — no create, edit, or approve capability built in</a:t>
            </a:r>
            <a:endParaRPr lang="en-US" sz="1150" dirty="0"/>
          </a:p>
          <a:p>
            <a:pPr marL="342900" indent="-342900">
              <a:spcAft>
                <a:spcPts val="600"/>
              </a:spcAft>
              <a:buSzPct val="100000"/>
              <a:buChar char="•"/>
            </a:pPr>
            <a:r>
              <a:rPr lang="en-US" sz="1150" dirty="0">
                <a:solidFill>
                  <a:srgbClr val="222222"/>
                </a:solidFill>
                <a:latin typeface="Calibri" pitchFamily="34" charset="0"/>
                <a:ea typeface="Calibri" pitchFamily="34" charset="-122"/>
                <a:cs typeface="Calibri" pitchFamily="34" charset="-120"/>
              </a:rPr>
              <a:t>Declined to fabricate verification test results; pointed to the governance language it was given</a:t>
            </a:r>
            <a:endParaRPr lang="en-US" sz="1150" dirty="0"/>
          </a:p>
          <a:p>
            <a:pPr marL="342900" indent="-342900">
              <a:spcAft>
                <a:spcPts val="600"/>
              </a:spcAft>
              <a:buSzPct val="100000"/>
              <a:buChar char="•"/>
            </a:pPr>
            <a:r>
              <a:rPr lang="en-US" sz="1150" dirty="0">
                <a:solidFill>
                  <a:srgbClr val="222222"/>
                </a:solidFill>
                <a:latin typeface="Calibri" pitchFamily="34" charset="0"/>
                <a:ea typeface="Calibri" pitchFamily="34" charset="-122"/>
                <a:cs typeface="Calibri" pitchFamily="34" charset="-120"/>
              </a:rPr>
              <a:t>Declined to approve a change outside its authority, and correctly named the actual owner</a:t>
            </a:r>
            <a:endParaRPr lang="en-US" sz="1150" dirty="0"/>
          </a:p>
        </p:txBody>
      </p:sp>
      <p:sp>
        <p:nvSpPr>
          <p:cNvPr id="8" name="Shape 6"/>
          <p:cNvSpPr/>
          <p:nvPr/>
        </p:nvSpPr>
        <p:spPr>
          <a:xfrm>
            <a:off x="6172200" y="1965960"/>
            <a:ext cx="5349240" cy="2148840"/>
          </a:xfrm>
          <a:prstGeom prst="roundRect">
            <a:avLst>
              <a:gd name="adj" fmla="val 2553"/>
            </a:avLst>
          </a:prstGeom>
          <a:solidFill>
            <a:srgbClr val="E8F5E9"/>
          </a:solidFill>
          <a:ln w="12700">
            <a:solidFill>
              <a:srgbClr val="C8E6C9"/>
            </a:solidFill>
            <a:prstDash val="solid"/>
          </a:ln>
        </p:spPr>
        <p:txBody>
          <a:bodyPr/>
          <a:lstStyle/>
          <a:p>
            <a:endParaRPr lang="en-US"/>
          </a:p>
        </p:txBody>
      </p:sp>
      <p:sp>
        <p:nvSpPr>
          <p:cNvPr id="9" name="Text 7"/>
          <p:cNvSpPr/>
          <p:nvPr/>
        </p:nvSpPr>
        <p:spPr>
          <a:xfrm>
            <a:off x="6400800" y="2103120"/>
            <a:ext cx="4892040" cy="365760"/>
          </a:xfrm>
          <a:prstGeom prst="rect">
            <a:avLst/>
          </a:prstGeom>
          <a:noFill/>
          <a:ln/>
        </p:spPr>
        <p:txBody>
          <a:bodyPr wrap="square" rtlCol="0" anchor="ctr"/>
          <a:lstStyle/>
          <a:p>
            <a:pPr marL="0" indent="0">
              <a:buNone/>
            </a:pPr>
            <a:r>
              <a:rPr lang="en-US" sz="1400" b="1" dirty="0">
                <a:solidFill>
                  <a:srgbClr val="1B5E20"/>
                </a:solidFill>
                <a:latin typeface="Cambria" pitchFamily="34" charset="0"/>
                <a:ea typeface="Cambria" pitchFamily="34" charset="-122"/>
                <a:cs typeface="Cambria" pitchFamily="34" charset="-120"/>
              </a:rPr>
              <a:t>A way to see it working, not just take it on faith</a:t>
            </a:r>
            <a:endParaRPr lang="en-US" sz="1400" dirty="0"/>
          </a:p>
        </p:txBody>
      </p:sp>
      <p:sp>
        <p:nvSpPr>
          <p:cNvPr id="10" name="Text 8"/>
          <p:cNvSpPr/>
          <p:nvPr/>
        </p:nvSpPr>
        <p:spPr>
          <a:xfrm>
            <a:off x="6400800" y="2514600"/>
            <a:ext cx="4892040" cy="1508760"/>
          </a:xfrm>
          <a:prstGeom prst="rect">
            <a:avLst/>
          </a:prstGeom>
          <a:noFill/>
          <a:ln/>
        </p:spPr>
        <p:txBody>
          <a:bodyPr wrap="square" rtlCol="0" anchor="t"/>
          <a:lstStyle/>
          <a:p>
            <a:pPr marL="342900" indent="-342900">
              <a:spcAft>
                <a:spcPts val="600"/>
              </a:spcAft>
              <a:buSzPct val="100000"/>
              <a:buChar char="•"/>
            </a:pPr>
            <a:r>
              <a:rPr lang="en-US" sz="1150" dirty="0">
                <a:solidFill>
                  <a:srgbClr val="222222"/>
                </a:solidFill>
                <a:latin typeface="Calibri" pitchFamily="34" charset="0"/>
                <a:ea typeface="Calibri" pitchFamily="34" charset="-122"/>
                <a:cs typeface="Calibri" pitchFamily="34" charset="-120"/>
              </a:rPr>
              <a:t>Registry: the governance context in force, and who owns each agent</a:t>
            </a:r>
            <a:endParaRPr lang="en-US" sz="1150" dirty="0"/>
          </a:p>
          <a:p>
            <a:pPr marL="342900" indent="-342900">
              <a:spcAft>
                <a:spcPts val="600"/>
              </a:spcAft>
              <a:buSzPct val="100000"/>
              <a:buChar char="•"/>
            </a:pPr>
            <a:r>
              <a:rPr lang="en-US" sz="1150" dirty="0">
                <a:solidFill>
                  <a:srgbClr val="222222"/>
                </a:solidFill>
                <a:latin typeface="Calibri" pitchFamily="34" charset="0"/>
                <a:ea typeface="Calibri" pitchFamily="34" charset="-122"/>
                <a:cs typeface="Calibri" pitchFamily="34" charset="-120"/>
              </a:rPr>
              <a:t>Agent Activity: a timestamped record of every request, including rejections</a:t>
            </a:r>
            <a:endParaRPr lang="en-US" sz="1150" dirty="0"/>
          </a:p>
          <a:p>
            <a:pPr marL="342900" indent="-342900">
              <a:spcAft>
                <a:spcPts val="600"/>
              </a:spcAft>
              <a:buSzPct val="100000"/>
              <a:buChar char="•"/>
            </a:pPr>
            <a:r>
              <a:rPr lang="en-US" sz="1150" dirty="0">
                <a:solidFill>
                  <a:srgbClr val="222222"/>
                </a:solidFill>
                <a:latin typeface="Calibri" pitchFamily="34" charset="0"/>
                <a:ea typeface="Calibri" pitchFamily="34" charset="-122"/>
                <a:cs typeface="Calibri" pitchFamily="34" charset="-120"/>
              </a:rPr>
              <a:t>Compliance: mapped to what an ISO 13485, FDA, or EU AI Act auditor would ask</a:t>
            </a:r>
            <a:endParaRPr lang="en-US" sz="1150" dirty="0"/>
          </a:p>
        </p:txBody>
      </p:sp>
      <p:sp>
        <p:nvSpPr>
          <p:cNvPr id="11" name="Text 9"/>
          <p:cNvSpPr/>
          <p:nvPr/>
        </p:nvSpPr>
        <p:spPr>
          <a:xfrm>
            <a:off x="502920" y="4343400"/>
            <a:ext cx="5486400" cy="320040"/>
          </a:xfrm>
          <a:prstGeom prst="rect">
            <a:avLst/>
          </a:prstGeom>
          <a:noFill/>
          <a:ln/>
        </p:spPr>
        <p:txBody>
          <a:bodyPr wrap="square" rtlCol="0" anchor="ctr"/>
          <a:lstStyle/>
          <a:p>
            <a:pPr marL="0" indent="0">
              <a:buNone/>
            </a:pPr>
            <a:r>
              <a:rPr lang="en-US" sz="1450" b="1" dirty="0">
                <a:solidFill>
                  <a:srgbClr val="082744"/>
                </a:solidFill>
                <a:latin typeface="Cambria" pitchFamily="34" charset="0"/>
                <a:ea typeface="Cambria" pitchFamily="34" charset="-122"/>
                <a:cs typeface="Cambria" pitchFamily="34" charset="-120"/>
              </a:rPr>
              <a:t>POC success criteria</a:t>
            </a:r>
            <a:endParaRPr lang="en-US" sz="14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02920" y="4709160"/>
          <a:ext cx="11155680" cy="1572768"/>
        </p:xfrm>
        <a:graphic>
          <a:graphicData uri="http://schemas.openxmlformats.org/drawingml/2006/table">
            <a:tbl>
              <a:tblPr/>
              <a:tblGrid>
                <a:gridCol w="3200400">
                  <a:extLst>
                    <a:ext uri="{9D8B030D-6E8A-4147-A177-3AD203B41FA5}">
                      <a16:colId xmlns:a16="http://schemas.microsoft.com/office/drawing/2014/main" val="20000"/>
                    </a:ext>
                  </a:extLst>
                </a:gridCol>
                <a:gridCol w="7955280">
                  <a:extLst>
                    <a:ext uri="{9D8B030D-6E8A-4147-A177-3AD203B41FA5}">
                      <a16:colId xmlns:a16="http://schemas.microsoft.com/office/drawing/2014/main" val="20001"/>
                    </a:ext>
                  </a:extLst>
                </a:gridCol>
              </a:tblGrid>
              <a:tr h="292608">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Criterion</a:t>
                      </a:r>
                      <a:endParaRPr lang="en-US" sz="1050" dirty="0">
                        <a:latin typeface="Calibri" charset="0"/>
                        <a:ea typeface="Calibri" charset="0"/>
                        <a:cs typeface="Calibri" charset="0"/>
                      </a:endParaRPr>
                    </a:p>
                  </a:txBody>
                  <a:tcPr>
                    <a:lnL w="9525" cap="flat" cmpd="sng" algn="ctr">
                      <a:solidFill>
                        <a:srgbClr val="E1E4EF"/>
                      </a:solidFill>
                      <a:prstDash val="solid"/>
                      <a:round/>
                      <a:headEnd type="none" w="med" len="med"/>
                      <a:tailEnd type="none" w="med" len="med"/>
                    </a:lnL>
                    <a:lnR w="9525" cap="flat" cmpd="sng" algn="ctr">
                      <a:solidFill>
                        <a:srgbClr val="E1E4EF"/>
                      </a:solidFill>
                      <a:prstDash val="solid"/>
                      <a:round/>
                      <a:headEnd type="none" w="med" len="med"/>
                      <a:tailEnd type="none" w="med" len="med"/>
                    </a:lnR>
                    <a:lnT w="9525" cap="flat" cmpd="sng" algn="ctr">
                      <a:solidFill>
                        <a:srgbClr val="E1E4EF"/>
                      </a:solidFill>
                      <a:prstDash val="solid"/>
                      <a:round/>
                      <a:headEnd type="none" w="med" len="med"/>
                      <a:tailEnd type="none" w="med" len="med"/>
                    </a:lnT>
                    <a:lnB w="9525" cap="flat" cmpd="sng" algn="ctr">
                      <a:solidFill>
                        <a:srgbClr val="E1E4EF"/>
                      </a:solidFill>
                      <a:prstDash val="solid"/>
                      <a:round/>
                      <a:headEnd type="none" w="med" len="med"/>
                      <a:tailEnd type="none" w="med" len="med"/>
                    </a:lnB>
                    <a:solidFill>
                      <a:srgbClr val="0D3B66"/>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What It Tests</a:t>
                      </a:r>
                      <a:endParaRPr lang="en-US" sz="1050" dirty="0">
                        <a:latin typeface="Calibri" charset="0"/>
                        <a:ea typeface="Calibri" charset="0"/>
                        <a:cs typeface="Calibri" charset="0"/>
                      </a:endParaRPr>
                    </a:p>
                  </a:txBody>
                  <a:tcPr>
                    <a:lnL w="9525" cap="flat" cmpd="sng" algn="ctr">
                      <a:solidFill>
                        <a:srgbClr val="E1E4EF"/>
                      </a:solidFill>
                      <a:prstDash val="solid"/>
                      <a:round/>
                      <a:headEnd type="none" w="med" len="med"/>
                      <a:tailEnd type="none" w="med" len="med"/>
                    </a:lnL>
                    <a:lnR w="9525" cap="flat" cmpd="sng" algn="ctr">
                      <a:solidFill>
                        <a:srgbClr val="E1E4EF"/>
                      </a:solidFill>
                      <a:prstDash val="solid"/>
                      <a:round/>
                      <a:headEnd type="none" w="med" len="med"/>
                      <a:tailEnd type="none" w="med" len="med"/>
                    </a:lnR>
                    <a:lnT w="9525" cap="flat" cmpd="sng" algn="ctr">
                      <a:solidFill>
                        <a:srgbClr val="E1E4EF"/>
                      </a:solidFill>
                      <a:prstDash val="solid"/>
                      <a:round/>
                      <a:headEnd type="none" w="med" len="med"/>
                      <a:tailEnd type="none" w="med" len="med"/>
                    </a:lnT>
                    <a:lnB w="9525" cap="flat" cmpd="sng" algn="ctr">
                      <a:solidFill>
                        <a:srgbClr val="E1E4EF"/>
                      </a:solidFill>
                      <a:prstDash val="solid"/>
                      <a:round/>
                      <a:headEnd type="none" w="med" len="med"/>
                      <a:tailEnd type="none" w="med" len="med"/>
                    </a:lnB>
                    <a:solidFill>
                      <a:srgbClr val="0D3B66"/>
                    </a:solidFill>
                  </a:tcPr>
                </a:tc>
                <a:extLst>
                  <a:ext uri="{0D108BD9-81ED-4DB2-BD59-A6C34878D82A}">
                    <a16:rowId xmlns:a16="http://schemas.microsoft.com/office/drawing/2014/main" val="10000"/>
                  </a:ext>
                </a:extLst>
              </a:tr>
              <a:tr h="329184">
                <a:tc>
                  <a:txBody>
                    <a:bodyPr/>
                    <a:lstStyle/>
                    <a:p>
                      <a:pPr marL="0" indent="0">
                        <a:buNone/>
                      </a:pPr>
                      <a:r>
                        <a:rPr lang="en-US" sz="1050" dirty="0">
                          <a:solidFill>
                            <a:srgbClr val="222222"/>
                          </a:solidFill>
                          <a:latin typeface="Calibri" pitchFamily="34" charset="0"/>
                          <a:ea typeface="Calibri" pitchFamily="34" charset="-122"/>
                          <a:cs typeface="Calibri" pitchFamily="34" charset="-120"/>
                        </a:rPr>
                        <a:t>End-to-End Workflow</a:t>
                      </a:r>
                      <a:endParaRPr lang="en-US" sz="1050" dirty="0">
                        <a:latin typeface="Calibri" charset="0"/>
                        <a:ea typeface="Calibri" charset="0"/>
                        <a:cs typeface="Calibri" charset="0"/>
                      </a:endParaRPr>
                    </a:p>
                  </a:txBody>
                  <a:tcPr>
                    <a:lnL w="9525" cap="flat" cmpd="sng" algn="ctr">
                      <a:solidFill>
                        <a:srgbClr val="E1E4EF"/>
                      </a:solidFill>
                      <a:prstDash val="solid"/>
                      <a:round/>
                      <a:headEnd type="none" w="med" len="med"/>
                      <a:tailEnd type="none" w="med" len="med"/>
                    </a:lnL>
                    <a:lnR w="9525" cap="flat" cmpd="sng" algn="ctr">
                      <a:solidFill>
                        <a:srgbClr val="E1E4EF"/>
                      </a:solidFill>
                      <a:prstDash val="solid"/>
                      <a:round/>
                      <a:headEnd type="none" w="med" len="med"/>
                      <a:tailEnd type="none" w="med" len="med"/>
                    </a:lnR>
                    <a:lnT w="9525" cap="flat" cmpd="sng" algn="ctr">
                      <a:solidFill>
                        <a:srgbClr val="E1E4EF"/>
                      </a:solidFill>
                      <a:prstDash val="solid"/>
                      <a:round/>
                      <a:headEnd type="none" w="med" len="med"/>
                      <a:tailEnd type="none" w="med" len="med"/>
                    </a:lnT>
                    <a:lnB w="9525" cap="flat" cmpd="sng" algn="ctr">
                      <a:solidFill>
                        <a:srgbClr val="E1E4EF"/>
                      </a:solidFill>
                      <a:prstDash val="solid"/>
                      <a:round/>
                      <a:headEnd type="none" w="med" len="med"/>
                      <a:tailEnd type="none" w="med" len="med"/>
                    </a:lnB>
                  </a:tcPr>
                </a:tc>
                <a:tc>
                  <a:txBody>
                    <a:bodyPr/>
                    <a:lstStyle/>
                    <a:p>
                      <a:pPr marL="0" indent="0">
                        <a:buNone/>
                      </a:pPr>
                      <a:r>
                        <a:rPr lang="en-US" sz="1050" dirty="0">
                          <a:solidFill>
                            <a:srgbClr val="222222"/>
                          </a:solidFill>
                          <a:latin typeface="Calibri" pitchFamily="34" charset="0"/>
                          <a:ea typeface="Calibri" pitchFamily="34" charset="-122"/>
                          <a:cs typeface="Calibri" pitchFamily="34" charset="-120"/>
                        </a:rPr>
                        <a:t>Governed AI workflow functions with real Propel data in a sandbox</a:t>
                      </a:r>
                      <a:endParaRPr lang="en-US" sz="1050" dirty="0">
                        <a:latin typeface="Calibri" charset="0"/>
                        <a:ea typeface="Calibri" charset="0"/>
                        <a:cs typeface="Calibri" charset="0"/>
                      </a:endParaRPr>
                    </a:p>
                  </a:txBody>
                  <a:tcPr>
                    <a:lnL w="9525" cap="flat" cmpd="sng" algn="ctr">
                      <a:solidFill>
                        <a:srgbClr val="E1E4EF"/>
                      </a:solidFill>
                      <a:prstDash val="solid"/>
                      <a:round/>
                      <a:headEnd type="none" w="med" len="med"/>
                      <a:tailEnd type="none" w="med" len="med"/>
                    </a:lnL>
                    <a:lnR w="9525" cap="flat" cmpd="sng" algn="ctr">
                      <a:solidFill>
                        <a:srgbClr val="E1E4EF"/>
                      </a:solidFill>
                      <a:prstDash val="solid"/>
                      <a:round/>
                      <a:headEnd type="none" w="med" len="med"/>
                      <a:tailEnd type="none" w="med" len="med"/>
                    </a:lnR>
                    <a:lnT w="9525" cap="flat" cmpd="sng" algn="ctr">
                      <a:solidFill>
                        <a:srgbClr val="E1E4EF"/>
                      </a:solidFill>
                      <a:prstDash val="solid"/>
                      <a:round/>
                      <a:headEnd type="none" w="med" len="med"/>
                      <a:tailEnd type="none" w="med" len="med"/>
                    </a:lnT>
                    <a:lnB w="9525" cap="flat" cmpd="sng" algn="ctr">
                      <a:solidFill>
                        <a:srgbClr val="E1E4EF"/>
                      </a:solidFill>
                      <a:prstDash val="solid"/>
                      <a:round/>
                      <a:headEnd type="none" w="med" len="med"/>
                      <a:tailEnd type="none" w="med" len="med"/>
                    </a:lnB>
                  </a:tcPr>
                </a:tc>
                <a:extLst>
                  <a:ext uri="{0D108BD9-81ED-4DB2-BD59-A6C34878D82A}">
                    <a16:rowId xmlns:a16="http://schemas.microsoft.com/office/drawing/2014/main" val="10001"/>
                  </a:ext>
                </a:extLst>
              </a:tr>
              <a:tr h="329184">
                <a:tc>
                  <a:txBody>
                    <a:bodyPr/>
                    <a:lstStyle/>
                    <a:p>
                      <a:pPr marL="0" indent="0">
                        <a:buNone/>
                      </a:pPr>
                      <a:r>
                        <a:rPr lang="en-US" sz="1050" dirty="0">
                          <a:solidFill>
                            <a:srgbClr val="222222"/>
                          </a:solidFill>
                          <a:latin typeface="Calibri" pitchFamily="34" charset="0"/>
                          <a:ea typeface="Calibri" pitchFamily="34" charset="-122"/>
                          <a:cs typeface="Calibri" pitchFamily="34" charset="-120"/>
                        </a:rPr>
                        <a:t>Context Governance</a:t>
                      </a:r>
                      <a:endParaRPr lang="en-US" sz="1050" dirty="0">
                        <a:latin typeface="Calibri" charset="0"/>
                        <a:ea typeface="Calibri" charset="0"/>
                        <a:cs typeface="Calibri" charset="0"/>
                      </a:endParaRPr>
                    </a:p>
                  </a:txBody>
                  <a:tcPr>
                    <a:lnL w="9525" cap="flat" cmpd="sng" algn="ctr">
                      <a:solidFill>
                        <a:srgbClr val="E1E4EF"/>
                      </a:solidFill>
                      <a:prstDash val="solid"/>
                      <a:round/>
                      <a:headEnd type="none" w="med" len="med"/>
                      <a:tailEnd type="none" w="med" len="med"/>
                    </a:lnL>
                    <a:lnR w="9525" cap="flat" cmpd="sng" algn="ctr">
                      <a:solidFill>
                        <a:srgbClr val="E1E4EF"/>
                      </a:solidFill>
                      <a:prstDash val="solid"/>
                      <a:round/>
                      <a:headEnd type="none" w="med" len="med"/>
                      <a:tailEnd type="none" w="med" len="med"/>
                    </a:lnR>
                    <a:lnT w="9525" cap="flat" cmpd="sng" algn="ctr">
                      <a:solidFill>
                        <a:srgbClr val="E1E4EF"/>
                      </a:solidFill>
                      <a:prstDash val="solid"/>
                      <a:round/>
                      <a:headEnd type="none" w="med" len="med"/>
                      <a:tailEnd type="none" w="med" len="med"/>
                    </a:lnT>
                    <a:lnB w="9525" cap="flat" cmpd="sng" algn="ctr">
                      <a:solidFill>
                        <a:srgbClr val="E1E4EF"/>
                      </a:solidFill>
                      <a:prstDash val="solid"/>
                      <a:round/>
                      <a:headEnd type="none" w="med" len="med"/>
                      <a:tailEnd type="none" w="med" len="med"/>
                    </a:lnB>
                  </a:tcPr>
                </a:tc>
                <a:tc>
                  <a:txBody>
                    <a:bodyPr/>
                    <a:lstStyle/>
                    <a:p>
                      <a:pPr marL="0" indent="0">
                        <a:buNone/>
                      </a:pPr>
                      <a:r>
                        <a:rPr lang="en-US" sz="1050" dirty="0">
                          <a:solidFill>
                            <a:srgbClr val="222222"/>
                          </a:solidFill>
                          <a:latin typeface="Calibri" pitchFamily="34" charset="0"/>
                          <a:ea typeface="Calibri" pitchFamily="34" charset="-122"/>
                          <a:cs typeface="Calibri" pitchFamily="34" charset="-120"/>
                        </a:rPr>
                        <a:t>Project context governs the session; scope enforced; cross-program contamination prevented</a:t>
                      </a:r>
                      <a:endParaRPr lang="en-US" sz="1050" dirty="0">
                        <a:latin typeface="Calibri" charset="0"/>
                        <a:ea typeface="Calibri" charset="0"/>
                        <a:cs typeface="Calibri" charset="0"/>
                      </a:endParaRPr>
                    </a:p>
                  </a:txBody>
                  <a:tcPr>
                    <a:lnL w="9525" cap="flat" cmpd="sng" algn="ctr">
                      <a:solidFill>
                        <a:srgbClr val="E1E4EF"/>
                      </a:solidFill>
                      <a:prstDash val="solid"/>
                      <a:round/>
                      <a:headEnd type="none" w="med" len="med"/>
                      <a:tailEnd type="none" w="med" len="med"/>
                    </a:lnL>
                    <a:lnR w="9525" cap="flat" cmpd="sng" algn="ctr">
                      <a:solidFill>
                        <a:srgbClr val="E1E4EF"/>
                      </a:solidFill>
                      <a:prstDash val="solid"/>
                      <a:round/>
                      <a:headEnd type="none" w="med" len="med"/>
                      <a:tailEnd type="none" w="med" len="med"/>
                    </a:lnR>
                    <a:lnT w="9525" cap="flat" cmpd="sng" algn="ctr">
                      <a:solidFill>
                        <a:srgbClr val="E1E4EF"/>
                      </a:solidFill>
                      <a:prstDash val="solid"/>
                      <a:round/>
                      <a:headEnd type="none" w="med" len="med"/>
                      <a:tailEnd type="none" w="med" len="med"/>
                    </a:lnT>
                    <a:lnB w="9525" cap="flat" cmpd="sng" algn="ctr">
                      <a:solidFill>
                        <a:srgbClr val="E1E4EF"/>
                      </a:solidFill>
                      <a:prstDash val="solid"/>
                      <a:round/>
                      <a:headEnd type="none" w="med" len="med"/>
                      <a:tailEnd type="none" w="med" len="med"/>
                    </a:lnB>
                  </a:tcPr>
                </a:tc>
                <a:extLst>
                  <a:ext uri="{0D108BD9-81ED-4DB2-BD59-A6C34878D82A}">
                    <a16:rowId xmlns:a16="http://schemas.microsoft.com/office/drawing/2014/main" val="10002"/>
                  </a:ext>
                </a:extLst>
              </a:tr>
              <a:tr h="292608">
                <a:tc>
                  <a:txBody>
                    <a:bodyPr/>
                    <a:lstStyle/>
                    <a:p>
                      <a:pPr marL="0" indent="0">
                        <a:buNone/>
                      </a:pPr>
                      <a:r>
                        <a:rPr lang="en-US" sz="1050" dirty="0">
                          <a:solidFill>
                            <a:srgbClr val="222222"/>
                          </a:solidFill>
                          <a:latin typeface="Calibri" pitchFamily="34" charset="0"/>
                          <a:ea typeface="Calibri" pitchFamily="34" charset="-122"/>
                          <a:cs typeface="Calibri" pitchFamily="34" charset="-120"/>
                        </a:rPr>
                        <a:t>Audit Defensibility</a:t>
                      </a:r>
                      <a:endParaRPr lang="en-US" sz="1050" dirty="0">
                        <a:latin typeface="Calibri" charset="0"/>
                        <a:ea typeface="Calibri" charset="0"/>
                        <a:cs typeface="Calibri" charset="0"/>
                      </a:endParaRPr>
                    </a:p>
                  </a:txBody>
                  <a:tcPr>
                    <a:lnL w="9525" cap="flat" cmpd="sng" algn="ctr">
                      <a:solidFill>
                        <a:srgbClr val="E1E4EF"/>
                      </a:solidFill>
                      <a:prstDash val="solid"/>
                      <a:round/>
                      <a:headEnd type="none" w="med" len="med"/>
                      <a:tailEnd type="none" w="med" len="med"/>
                    </a:lnL>
                    <a:lnR w="9525" cap="flat" cmpd="sng" algn="ctr">
                      <a:solidFill>
                        <a:srgbClr val="E1E4EF"/>
                      </a:solidFill>
                      <a:prstDash val="solid"/>
                      <a:round/>
                      <a:headEnd type="none" w="med" len="med"/>
                      <a:tailEnd type="none" w="med" len="med"/>
                    </a:lnR>
                    <a:lnT w="9525" cap="flat" cmpd="sng" algn="ctr">
                      <a:solidFill>
                        <a:srgbClr val="E1E4EF"/>
                      </a:solidFill>
                      <a:prstDash val="solid"/>
                      <a:round/>
                      <a:headEnd type="none" w="med" len="med"/>
                      <a:tailEnd type="none" w="med" len="med"/>
                    </a:lnT>
                    <a:lnB w="9525" cap="flat" cmpd="sng" algn="ctr">
                      <a:solidFill>
                        <a:srgbClr val="E1E4EF"/>
                      </a:solidFill>
                      <a:prstDash val="solid"/>
                      <a:round/>
                      <a:headEnd type="none" w="med" len="med"/>
                      <a:tailEnd type="none" w="med" len="med"/>
                    </a:lnB>
                  </a:tcPr>
                </a:tc>
                <a:tc>
                  <a:txBody>
                    <a:bodyPr/>
                    <a:lstStyle/>
                    <a:p>
                      <a:pPr marL="0" indent="0">
                        <a:buNone/>
                      </a:pPr>
                      <a:r>
                        <a:rPr lang="en-US" sz="1050" dirty="0">
                          <a:solidFill>
                            <a:srgbClr val="222222"/>
                          </a:solidFill>
                          <a:latin typeface="Calibri" pitchFamily="34" charset="0"/>
                          <a:ea typeface="Calibri" pitchFamily="34" charset="-122"/>
                          <a:cs typeface="Calibri" pitchFamily="34" charset="-120"/>
                        </a:rPr>
                        <a:t>Logs produce defensible, Part-11-aligned evidentiary trace records</a:t>
                      </a:r>
                      <a:endParaRPr lang="en-US" sz="1050" dirty="0">
                        <a:latin typeface="Calibri" charset="0"/>
                        <a:ea typeface="Calibri" charset="0"/>
                        <a:cs typeface="Calibri" charset="0"/>
                      </a:endParaRPr>
                    </a:p>
                  </a:txBody>
                  <a:tcPr>
                    <a:lnL w="9525" cap="flat" cmpd="sng" algn="ctr">
                      <a:solidFill>
                        <a:srgbClr val="E1E4EF"/>
                      </a:solidFill>
                      <a:prstDash val="solid"/>
                      <a:round/>
                      <a:headEnd type="none" w="med" len="med"/>
                      <a:tailEnd type="none" w="med" len="med"/>
                    </a:lnL>
                    <a:lnR w="9525" cap="flat" cmpd="sng" algn="ctr">
                      <a:solidFill>
                        <a:srgbClr val="E1E4EF"/>
                      </a:solidFill>
                      <a:prstDash val="solid"/>
                      <a:round/>
                      <a:headEnd type="none" w="med" len="med"/>
                      <a:tailEnd type="none" w="med" len="med"/>
                    </a:lnR>
                    <a:lnT w="9525" cap="flat" cmpd="sng" algn="ctr">
                      <a:solidFill>
                        <a:srgbClr val="E1E4EF"/>
                      </a:solidFill>
                      <a:prstDash val="solid"/>
                      <a:round/>
                      <a:headEnd type="none" w="med" len="med"/>
                      <a:tailEnd type="none" w="med" len="med"/>
                    </a:lnT>
                    <a:lnB w="9525" cap="flat" cmpd="sng" algn="ctr">
                      <a:solidFill>
                        <a:srgbClr val="E1E4EF"/>
                      </a:solidFill>
                      <a:prstDash val="solid"/>
                      <a:round/>
                      <a:headEnd type="none" w="med" len="med"/>
                      <a:tailEnd type="none" w="med" len="med"/>
                    </a:lnB>
                  </a:tcPr>
                </a:tc>
                <a:extLst>
                  <a:ext uri="{0D108BD9-81ED-4DB2-BD59-A6C34878D82A}">
                    <a16:rowId xmlns:a16="http://schemas.microsoft.com/office/drawing/2014/main" val="10003"/>
                  </a:ext>
                </a:extLst>
              </a:tr>
              <a:tr h="329184">
                <a:tc>
                  <a:txBody>
                    <a:bodyPr/>
                    <a:lstStyle/>
                    <a:p>
                      <a:pPr marL="0" indent="0">
                        <a:buNone/>
                      </a:pPr>
                      <a:r>
                        <a:rPr lang="en-US" sz="1050" dirty="0">
                          <a:solidFill>
                            <a:srgbClr val="222222"/>
                          </a:solidFill>
                          <a:latin typeface="Calibri" pitchFamily="34" charset="0"/>
                          <a:ea typeface="Calibri" pitchFamily="34" charset="-122"/>
                          <a:cs typeface="Calibri" pitchFamily="34" charset="-120"/>
                        </a:rPr>
                        <a:t>Measured Productivity</a:t>
                      </a:r>
                      <a:endParaRPr lang="en-US" sz="1050" dirty="0">
                        <a:latin typeface="Calibri" charset="0"/>
                        <a:ea typeface="Calibri" charset="0"/>
                        <a:cs typeface="Calibri" charset="0"/>
                      </a:endParaRPr>
                    </a:p>
                  </a:txBody>
                  <a:tcPr>
                    <a:lnL w="9525" cap="flat" cmpd="sng" algn="ctr">
                      <a:solidFill>
                        <a:srgbClr val="E1E4EF"/>
                      </a:solidFill>
                      <a:prstDash val="solid"/>
                      <a:round/>
                      <a:headEnd type="none" w="med" len="med"/>
                      <a:tailEnd type="none" w="med" len="med"/>
                    </a:lnL>
                    <a:lnR w="9525" cap="flat" cmpd="sng" algn="ctr">
                      <a:solidFill>
                        <a:srgbClr val="E1E4EF"/>
                      </a:solidFill>
                      <a:prstDash val="solid"/>
                      <a:round/>
                      <a:headEnd type="none" w="med" len="med"/>
                      <a:tailEnd type="none" w="med" len="med"/>
                    </a:lnR>
                    <a:lnT w="9525" cap="flat" cmpd="sng" algn="ctr">
                      <a:solidFill>
                        <a:srgbClr val="E1E4EF"/>
                      </a:solidFill>
                      <a:prstDash val="solid"/>
                      <a:round/>
                      <a:headEnd type="none" w="med" len="med"/>
                      <a:tailEnd type="none" w="med" len="med"/>
                    </a:lnT>
                    <a:lnB w="9525" cap="flat" cmpd="sng" algn="ctr">
                      <a:solidFill>
                        <a:srgbClr val="E1E4EF"/>
                      </a:solidFill>
                      <a:prstDash val="solid"/>
                      <a:round/>
                      <a:headEnd type="none" w="med" len="med"/>
                      <a:tailEnd type="none" w="med" len="med"/>
                    </a:lnB>
                  </a:tcPr>
                </a:tc>
                <a:tc>
                  <a:txBody>
                    <a:bodyPr/>
                    <a:lstStyle/>
                    <a:p>
                      <a:pPr marL="0" indent="0">
                        <a:buNone/>
                      </a:pPr>
                      <a:r>
                        <a:rPr lang="en-US" sz="1050" dirty="0">
                          <a:solidFill>
                            <a:srgbClr val="222222"/>
                          </a:solidFill>
                          <a:latin typeface="Calibri" pitchFamily="34" charset="0"/>
                          <a:ea typeface="Calibri" pitchFamily="34" charset="-122"/>
                          <a:cs typeface="Calibri" pitchFamily="34" charset="-120"/>
                        </a:rPr>
                        <a:t>Cycle-time reduction measured under controlled conditions against a real baseline</a:t>
                      </a:r>
                      <a:endParaRPr lang="en-US" sz="1050" dirty="0">
                        <a:latin typeface="Calibri" charset="0"/>
                        <a:ea typeface="Calibri" charset="0"/>
                        <a:cs typeface="Calibri" charset="0"/>
                      </a:endParaRPr>
                    </a:p>
                  </a:txBody>
                  <a:tcPr>
                    <a:lnL w="9525" cap="flat" cmpd="sng" algn="ctr">
                      <a:solidFill>
                        <a:srgbClr val="E1E4EF"/>
                      </a:solidFill>
                      <a:prstDash val="solid"/>
                      <a:round/>
                      <a:headEnd type="none" w="med" len="med"/>
                      <a:tailEnd type="none" w="med" len="med"/>
                    </a:lnL>
                    <a:lnR w="9525" cap="flat" cmpd="sng" algn="ctr">
                      <a:solidFill>
                        <a:srgbClr val="E1E4EF"/>
                      </a:solidFill>
                      <a:prstDash val="solid"/>
                      <a:round/>
                      <a:headEnd type="none" w="med" len="med"/>
                      <a:tailEnd type="none" w="med" len="med"/>
                    </a:lnR>
                    <a:lnT w="9525" cap="flat" cmpd="sng" algn="ctr">
                      <a:solidFill>
                        <a:srgbClr val="E1E4EF"/>
                      </a:solidFill>
                      <a:prstDash val="solid"/>
                      <a:round/>
                      <a:headEnd type="none" w="med" len="med"/>
                      <a:tailEnd type="none" w="med" len="med"/>
                    </a:lnT>
                    <a:lnB w="9525" cap="flat" cmpd="sng" algn="ctr">
                      <a:solidFill>
                        <a:srgbClr val="E1E4E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4" name="Text 11"/>
          <p:cNvSpPr/>
          <p:nvPr/>
        </p:nvSpPr>
        <p:spPr>
          <a:xfrm>
            <a:off x="11368735" y="6528816"/>
            <a:ext cx="365760" cy="256032"/>
          </a:xfrm>
          <a:prstGeom prst="rect">
            <a:avLst/>
          </a:prstGeom>
          <a:noFill/>
          <a:ln/>
        </p:spPr>
        <p:txBody>
          <a:bodyPr wrap="square" rtlCol="0" anchor="ctr"/>
          <a:lstStyle/>
          <a:p>
            <a:pPr marL="0" indent="0" algn="r">
              <a:buNone/>
            </a:pPr>
            <a:r>
              <a:rPr lang="en-US" sz="900" dirty="0">
                <a:solidFill>
                  <a:srgbClr val="5F6368"/>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1"/>
          <p:cNvSpPr/>
          <p:nvPr/>
        </p:nvSpPr>
        <p:spPr>
          <a:xfrm>
            <a:off x="502920" y="576072"/>
            <a:ext cx="10515600" cy="640080"/>
          </a:xfrm>
          <a:prstGeom prst="rect">
            <a:avLst/>
          </a:prstGeom>
          <a:noFill/>
          <a:ln/>
        </p:spPr>
        <p:txBody>
          <a:bodyPr wrap="square" rtlCol="0" anchor="ctr"/>
          <a:lstStyle/>
          <a:p>
            <a:pPr marL="0" indent="0">
              <a:buNone/>
            </a:pPr>
            <a:r>
              <a:rPr lang="en-US" sz="2800" b="1" dirty="0">
                <a:solidFill>
                  <a:srgbClr val="082744"/>
                </a:solidFill>
                <a:latin typeface="Cambria" pitchFamily="34" charset="0"/>
                <a:ea typeface="Cambria" pitchFamily="34" charset="-122"/>
                <a:cs typeface="Cambria" pitchFamily="34" charset="-120"/>
              </a:rPr>
              <a:t>Why the case doesn't rest on any single number</a:t>
            </a:r>
            <a:endParaRPr lang="en-US" sz="2800" dirty="0"/>
          </a:p>
        </p:txBody>
      </p:sp>
      <p:sp>
        <p:nvSpPr>
          <p:cNvPr id="4" name="Shape 2"/>
          <p:cNvSpPr/>
          <p:nvPr/>
        </p:nvSpPr>
        <p:spPr>
          <a:xfrm>
            <a:off x="632308" y="1417320"/>
            <a:ext cx="3429000" cy="1371600"/>
          </a:xfrm>
          <a:prstGeom prst="roundRect">
            <a:avLst>
              <a:gd name="adj" fmla="val 4667"/>
            </a:avLst>
          </a:prstGeom>
          <a:solidFill>
            <a:srgbClr val="FFFFFF"/>
          </a:solidFill>
          <a:ln w="12700">
            <a:solidFill>
              <a:srgbClr val="E1E4EF"/>
            </a:solidFill>
            <a:prstDash val="solid"/>
          </a:ln>
        </p:spPr>
        <p:txBody>
          <a:bodyPr/>
          <a:lstStyle/>
          <a:p>
            <a:endParaRPr lang="en-US"/>
          </a:p>
        </p:txBody>
      </p:sp>
      <p:sp>
        <p:nvSpPr>
          <p:cNvPr id="5" name="Text 3"/>
          <p:cNvSpPr/>
          <p:nvPr/>
        </p:nvSpPr>
        <p:spPr>
          <a:xfrm>
            <a:off x="860908" y="1508760"/>
            <a:ext cx="2971800" cy="274320"/>
          </a:xfrm>
          <a:prstGeom prst="rect">
            <a:avLst/>
          </a:prstGeom>
          <a:noFill/>
          <a:ln/>
        </p:spPr>
        <p:txBody>
          <a:bodyPr wrap="square" rtlCol="0" anchor="ctr"/>
          <a:lstStyle/>
          <a:p>
            <a:pPr marL="0" indent="0">
              <a:buNone/>
            </a:pPr>
            <a:r>
              <a:rPr lang="en-US" sz="1000" b="1" kern="0" spc="100" dirty="0">
                <a:solidFill>
                  <a:srgbClr val="5F6368"/>
                </a:solidFill>
                <a:latin typeface="Calibri" pitchFamily="34" charset="0"/>
                <a:ea typeface="Calibri" pitchFamily="34" charset="-122"/>
                <a:cs typeface="Calibri" pitchFamily="34" charset="-120"/>
              </a:rPr>
              <a:t>5-YR ROI: CONSERVATIVE</a:t>
            </a:r>
            <a:endParaRPr lang="en-US" sz="1000" dirty="0"/>
          </a:p>
        </p:txBody>
      </p:sp>
      <p:sp>
        <p:nvSpPr>
          <p:cNvPr id="6" name="Text 4"/>
          <p:cNvSpPr/>
          <p:nvPr/>
        </p:nvSpPr>
        <p:spPr>
          <a:xfrm>
            <a:off x="860908" y="1737360"/>
            <a:ext cx="2971800" cy="502920"/>
          </a:xfrm>
          <a:prstGeom prst="rect">
            <a:avLst/>
          </a:prstGeom>
          <a:noFill/>
          <a:ln/>
        </p:spPr>
        <p:txBody>
          <a:bodyPr wrap="square" rtlCol="0" anchor="ctr"/>
          <a:lstStyle/>
          <a:p>
            <a:pPr marL="0" indent="0">
              <a:buNone/>
            </a:pPr>
            <a:r>
              <a:rPr lang="en-US" sz="3000" b="1" dirty="0">
                <a:solidFill>
                  <a:srgbClr val="082744"/>
                </a:solidFill>
                <a:latin typeface="Cambria" pitchFamily="34" charset="0"/>
                <a:ea typeface="Cambria" pitchFamily="34" charset="-122"/>
                <a:cs typeface="Cambria" pitchFamily="34" charset="-120"/>
              </a:rPr>
              <a:t>27%</a:t>
            </a:r>
            <a:endParaRPr lang="en-US" sz="3000" dirty="0"/>
          </a:p>
        </p:txBody>
      </p:sp>
      <p:sp>
        <p:nvSpPr>
          <p:cNvPr id="7" name="Text 5"/>
          <p:cNvSpPr/>
          <p:nvPr/>
        </p:nvSpPr>
        <p:spPr>
          <a:xfrm>
            <a:off x="860908" y="2286000"/>
            <a:ext cx="2971800" cy="365760"/>
          </a:xfrm>
          <a:prstGeom prst="rect">
            <a:avLst/>
          </a:prstGeom>
          <a:noFill/>
          <a:ln/>
        </p:spPr>
        <p:txBody>
          <a:bodyPr wrap="square" rtlCol="0" anchor="ctr"/>
          <a:lstStyle/>
          <a:p>
            <a:pPr marL="0" indent="0">
              <a:buNone/>
            </a:pPr>
            <a:r>
              <a:rPr lang="en-US" sz="1100" dirty="0">
                <a:solidFill>
                  <a:srgbClr val="666666"/>
                </a:solidFill>
                <a:latin typeface="Calibri" pitchFamily="34" charset="0"/>
                <a:ea typeface="Calibri" pitchFamily="34" charset="-122"/>
                <a:cs typeface="Calibri" pitchFamily="34" charset="-120"/>
              </a:rPr>
              <a:t>28-month payback</a:t>
            </a:r>
            <a:endParaRPr lang="en-US" sz="1100" dirty="0"/>
          </a:p>
        </p:txBody>
      </p:sp>
      <p:sp>
        <p:nvSpPr>
          <p:cNvPr id="8" name="Shape 6"/>
          <p:cNvSpPr/>
          <p:nvPr/>
        </p:nvSpPr>
        <p:spPr>
          <a:xfrm>
            <a:off x="4381348" y="1417320"/>
            <a:ext cx="3429000" cy="1371600"/>
          </a:xfrm>
          <a:prstGeom prst="roundRect">
            <a:avLst>
              <a:gd name="adj" fmla="val 4667"/>
            </a:avLst>
          </a:prstGeom>
          <a:solidFill>
            <a:srgbClr val="FFFFFF"/>
          </a:solidFill>
          <a:ln w="12700">
            <a:solidFill>
              <a:srgbClr val="E1E4EF"/>
            </a:solidFill>
            <a:prstDash val="solid"/>
          </a:ln>
        </p:spPr>
        <p:txBody>
          <a:bodyPr/>
          <a:lstStyle/>
          <a:p>
            <a:endParaRPr lang="en-US"/>
          </a:p>
        </p:txBody>
      </p:sp>
      <p:sp>
        <p:nvSpPr>
          <p:cNvPr id="9" name="Text 7"/>
          <p:cNvSpPr/>
          <p:nvPr/>
        </p:nvSpPr>
        <p:spPr>
          <a:xfrm>
            <a:off x="4609948" y="1508760"/>
            <a:ext cx="2971800" cy="274320"/>
          </a:xfrm>
          <a:prstGeom prst="rect">
            <a:avLst/>
          </a:prstGeom>
          <a:noFill/>
          <a:ln/>
        </p:spPr>
        <p:txBody>
          <a:bodyPr wrap="square" rtlCol="0" anchor="ctr"/>
          <a:lstStyle/>
          <a:p>
            <a:pPr marL="0" indent="0">
              <a:buNone/>
            </a:pPr>
            <a:r>
              <a:rPr lang="en-US" sz="1000" b="1" kern="0" spc="100" dirty="0">
                <a:solidFill>
                  <a:srgbClr val="5F6368"/>
                </a:solidFill>
                <a:latin typeface="Calibri" pitchFamily="34" charset="0"/>
                <a:ea typeface="Calibri" pitchFamily="34" charset="-122"/>
                <a:cs typeface="Calibri" pitchFamily="34" charset="-120"/>
              </a:rPr>
              <a:t>5-YR ROI: BASE CASE</a:t>
            </a:r>
            <a:endParaRPr lang="en-US" sz="1000" dirty="0"/>
          </a:p>
        </p:txBody>
      </p:sp>
      <p:sp>
        <p:nvSpPr>
          <p:cNvPr id="10" name="Text 8"/>
          <p:cNvSpPr/>
          <p:nvPr/>
        </p:nvSpPr>
        <p:spPr>
          <a:xfrm>
            <a:off x="4609948" y="1737360"/>
            <a:ext cx="2971800" cy="502920"/>
          </a:xfrm>
          <a:prstGeom prst="rect">
            <a:avLst/>
          </a:prstGeom>
          <a:noFill/>
          <a:ln/>
        </p:spPr>
        <p:txBody>
          <a:bodyPr wrap="square" rtlCol="0" anchor="ctr"/>
          <a:lstStyle/>
          <a:p>
            <a:pPr marL="0" indent="0">
              <a:buNone/>
            </a:pPr>
            <a:r>
              <a:rPr lang="en-US" sz="3000" b="1" dirty="0">
                <a:solidFill>
                  <a:srgbClr val="082744"/>
                </a:solidFill>
                <a:latin typeface="Cambria" pitchFamily="34" charset="0"/>
                <a:ea typeface="Cambria" pitchFamily="34" charset="-122"/>
                <a:cs typeface="Cambria" pitchFamily="34" charset="-120"/>
              </a:rPr>
              <a:t>93%</a:t>
            </a:r>
            <a:endParaRPr lang="en-US" sz="3000" dirty="0"/>
          </a:p>
        </p:txBody>
      </p:sp>
      <p:sp>
        <p:nvSpPr>
          <p:cNvPr id="11" name="Text 9"/>
          <p:cNvSpPr/>
          <p:nvPr/>
        </p:nvSpPr>
        <p:spPr>
          <a:xfrm>
            <a:off x="4609948" y="2286000"/>
            <a:ext cx="2971800" cy="365760"/>
          </a:xfrm>
          <a:prstGeom prst="rect">
            <a:avLst/>
          </a:prstGeom>
          <a:noFill/>
          <a:ln/>
        </p:spPr>
        <p:txBody>
          <a:bodyPr wrap="square" rtlCol="0" anchor="ctr"/>
          <a:lstStyle/>
          <a:p>
            <a:pPr marL="0" indent="0">
              <a:buNone/>
            </a:pPr>
            <a:r>
              <a:rPr lang="en-US" sz="1100" dirty="0">
                <a:solidFill>
                  <a:srgbClr val="666666"/>
                </a:solidFill>
                <a:latin typeface="Calibri" pitchFamily="34" charset="0"/>
                <a:ea typeface="Calibri" pitchFamily="34" charset="-122"/>
                <a:cs typeface="Calibri" pitchFamily="34" charset="-120"/>
              </a:rPr>
              <a:t>17-month payback · $4.1M NPV</a:t>
            </a:r>
            <a:endParaRPr lang="en-US" sz="1100" dirty="0"/>
          </a:p>
        </p:txBody>
      </p:sp>
      <p:sp>
        <p:nvSpPr>
          <p:cNvPr id="12" name="Shape 10"/>
          <p:cNvSpPr/>
          <p:nvPr/>
        </p:nvSpPr>
        <p:spPr>
          <a:xfrm>
            <a:off x="8130388" y="1417320"/>
            <a:ext cx="3429000" cy="1371600"/>
          </a:xfrm>
          <a:prstGeom prst="roundRect">
            <a:avLst>
              <a:gd name="adj" fmla="val 4667"/>
            </a:avLst>
          </a:prstGeom>
          <a:solidFill>
            <a:srgbClr val="FFFFFF"/>
          </a:solidFill>
          <a:ln w="12700">
            <a:solidFill>
              <a:srgbClr val="E1E4EF"/>
            </a:solidFill>
            <a:prstDash val="solid"/>
          </a:ln>
        </p:spPr>
        <p:txBody>
          <a:bodyPr/>
          <a:lstStyle/>
          <a:p>
            <a:endParaRPr lang="en-US"/>
          </a:p>
        </p:txBody>
      </p:sp>
      <p:sp>
        <p:nvSpPr>
          <p:cNvPr id="13" name="Text 11"/>
          <p:cNvSpPr/>
          <p:nvPr/>
        </p:nvSpPr>
        <p:spPr>
          <a:xfrm>
            <a:off x="8358988" y="1508760"/>
            <a:ext cx="2971800" cy="274320"/>
          </a:xfrm>
          <a:prstGeom prst="rect">
            <a:avLst/>
          </a:prstGeom>
          <a:noFill/>
          <a:ln/>
        </p:spPr>
        <p:txBody>
          <a:bodyPr wrap="square" rtlCol="0" anchor="ctr"/>
          <a:lstStyle/>
          <a:p>
            <a:pPr marL="0" indent="0">
              <a:buNone/>
            </a:pPr>
            <a:r>
              <a:rPr lang="en-US" sz="1000" b="1" kern="0" spc="100" dirty="0">
                <a:solidFill>
                  <a:srgbClr val="5F6368"/>
                </a:solidFill>
                <a:latin typeface="Calibri" pitchFamily="34" charset="0"/>
                <a:ea typeface="Calibri" pitchFamily="34" charset="-122"/>
                <a:cs typeface="Calibri" pitchFamily="34" charset="-120"/>
              </a:rPr>
              <a:t>5-YR ROI: COMBINED</a:t>
            </a:r>
            <a:endParaRPr lang="en-US" sz="1000" dirty="0"/>
          </a:p>
        </p:txBody>
      </p:sp>
      <p:sp>
        <p:nvSpPr>
          <p:cNvPr id="14" name="Text 12"/>
          <p:cNvSpPr/>
          <p:nvPr/>
        </p:nvSpPr>
        <p:spPr>
          <a:xfrm>
            <a:off x="8358988" y="1737360"/>
            <a:ext cx="2971800" cy="502920"/>
          </a:xfrm>
          <a:prstGeom prst="rect">
            <a:avLst/>
          </a:prstGeom>
          <a:noFill/>
          <a:ln/>
        </p:spPr>
        <p:txBody>
          <a:bodyPr wrap="square" rtlCol="0" anchor="ctr"/>
          <a:lstStyle/>
          <a:p>
            <a:pPr marL="0" indent="0">
              <a:buNone/>
            </a:pPr>
            <a:r>
              <a:rPr lang="en-US" sz="3000" b="1" dirty="0">
                <a:solidFill>
                  <a:srgbClr val="082744"/>
                </a:solidFill>
                <a:latin typeface="Cambria" pitchFamily="34" charset="0"/>
                <a:ea typeface="Cambria" pitchFamily="34" charset="-122"/>
                <a:cs typeface="Cambria" pitchFamily="34" charset="-120"/>
              </a:rPr>
              <a:t>203%</a:t>
            </a:r>
            <a:endParaRPr lang="en-US" sz="3000" dirty="0"/>
          </a:p>
        </p:txBody>
      </p:sp>
      <p:sp>
        <p:nvSpPr>
          <p:cNvPr id="15" name="Text 13"/>
          <p:cNvSpPr/>
          <p:nvPr/>
        </p:nvSpPr>
        <p:spPr>
          <a:xfrm>
            <a:off x="8358988" y="2286000"/>
            <a:ext cx="2971800" cy="365760"/>
          </a:xfrm>
          <a:prstGeom prst="rect">
            <a:avLst/>
          </a:prstGeom>
          <a:noFill/>
          <a:ln/>
        </p:spPr>
        <p:txBody>
          <a:bodyPr wrap="square" rtlCol="0" anchor="ctr"/>
          <a:lstStyle/>
          <a:p>
            <a:pPr marL="0" indent="0">
              <a:buNone/>
            </a:pPr>
            <a:r>
              <a:rPr lang="en-US" sz="1100" dirty="0">
                <a:solidFill>
                  <a:srgbClr val="666666"/>
                </a:solidFill>
                <a:latin typeface="Calibri" pitchFamily="34" charset="0"/>
                <a:ea typeface="Calibri" pitchFamily="34" charset="-122"/>
                <a:cs typeface="Calibri" pitchFamily="34" charset="-120"/>
              </a:rPr>
              <a:t>11-month payback · $9.0M NPV</a:t>
            </a:r>
            <a:endParaRPr lang="en-US" sz="1100" dirty="0"/>
          </a:p>
        </p:txBody>
      </p:sp>
      <p:sp>
        <p:nvSpPr>
          <p:cNvPr id="16" name="Text 14"/>
          <p:cNvSpPr/>
          <p:nvPr/>
        </p:nvSpPr>
        <p:spPr>
          <a:xfrm>
            <a:off x="502920" y="3063240"/>
            <a:ext cx="11155680" cy="320040"/>
          </a:xfrm>
          <a:prstGeom prst="rect">
            <a:avLst/>
          </a:prstGeom>
          <a:noFill/>
          <a:ln/>
        </p:spPr>
        <p:txBody>
          <a:bodyPr wrap="square" rtlCol="0" anchor="ctr"/>
          <a:lstStyle/>
          <a:p>
            <a:pPr marL="0" indent="0">
              <a:buNone/>
            </a:pPr>
            <a:r>
              <a:rPr lang="en-US" sz="1300" i="1" dirty="0">
                <a:solidFill>
                  <a:srgbClr val="444444"/>
                </a:solidFill>
                <a:latin typeface="Calibri" pitchFamily="34" charset="0"/>
                <a:ea typeface="Calibri" pitchFamily="34" charset="-122"/>
                <a:cs typeface="Calibri" pitchFamily="34" charset="-120"/>
              </a:rPr>
              <a:t>Three independent figures — we don't need all three to hold for this to make sense:</a:t>
            </a:r>
            <a:endParaRPr lang="en-US" sz="1300" dirty="0"/>
          </a:p>
        </p:txBody>
      </p:sp>
      <p:sp>
        <p:nvSpPr>
          <p:cNvPr id="17" name="Shape 15"/>
          <p:cNvSpPr/>
          <p:nvPr/>
        </p:nvSpPr>
        <p:spPr>
          <a:xfrm>
            <a:off x="632308" y="3474720"/>
            <a:ext cx="3429000" cy="1691640"/>
          </a:xfrm>
          <a:prstGeom prst="roundRect">
            <a:avLst>
              <a:gd name="adj" fmla="val 3784"/>
            </a:avLst>
          </a:prstGeom>
          <a:solidFill>
            <a:srgbClr val="E8F5E9"/>
          </a:solidFill>
          <a:ln w="12700">
            <a:solidFill>
              <a:srgbClr val="C8E6C9"/>
            </a:solidFill>
            <a:prstDash val="solid"/>
          </a:ln>
        </p:spPr>
        <p:txBody>
          <a:bodyPr/>
          <a:lstStyle/>
          <a:p>
            <a:endParaRPr lang="en-US"/>
          </a:p>
        </p:txBody>
      </p:sp>
      <p:sp>
        <p:nvSpPr>
          <p:cNvPr id="18" name="Text 16"/>
          <p:cNvSpPr/>
          <p:nvPr/>
        </p:nvSpPr>
        <p:spPr>
          <a:xfrm>
            <a:off x="815188" y="3611880"/>
            <a:ext cx="3063240" cy="457200"/>
          </a:xfrm>
          <a:prstGeom prst="rect">
            <a:avLst/>
          </a:prstGeom>
          <a:noFill/>
          <a:ln/>
        </p:spPr>
        <p:txBody>
          <a:bodyPr wrap="square" rtlCol="0" anchor="ctr"/>
          <a:lstStyle/>
          <a:p>
            <a:pPr marL="0" indent="0" algn="ctr">
              <a:buNone/>
            </a:pPr>
            <a:r>
              <a:rPr lang="en-US" sz="2000" b="1" dirty="0">
                <a:solidFill>
                  <a:srgbClr val="1B5E20"/>
                </a:solidFill>
                <a:latin typeface="Cambria" pitchFamily="34" charset="0"/>
                <a:ea typeface="Cambria" pitchFamily="34" charset="-122"/>
                <a:cs typeface="Cambria" pitchFamily="34" charset="-120"/>
              </a:rPr>
              <a:t>$500K–$1M</a:t>
            </a:r>
            <a:endParaRPr lang="en-US" sz="2000" dirty="0"/>
          </a:p>
        </p:txBody>
      </p:sp>
      <p:sp>
        <p:nvSpPr>
          <p:cNvPr id="19" name="Text 17"/>
          <p:cNvSpPr/>
          <p:nvPr/>
        </p:nvSpPr>
        <p:spPr>
          <a:xfrm>
            <a:off x="860908" y="4114800"/>
            <a:ext cx="2971800" cy="1005840"/>
          </a:xfrm>
          <a:prstGeom prst="rect">
            <a:avLst/>
          </a:prstGeom>
          <a:noFill/>
          <a:ln/>
        </p:spPr>
        <p:txBody>
          <a:bodyPr wrap="square" rtlCol="0" anchor="ctr"/>
          <a:lstStyle/>
          <a:p>
            <a:pPr marL="0" indent="0" algn="ctr">
              <a:buNone/>
            </a:pPr>
            <a:r>
              <a:rPr lang="en-US" sz="1100" dirty="0">
                <a:solidFill>
                  <a:srgbClr val="33691E"/>
                </a:solidFill>
                <a:latin typeface="Calibri" pitchFamily="34" charset="0"/>
                <a:ea typeface="Calibri" pitchFamily="34" charset="-122"/>
                <a:cs typeface="Calibri" pitchFamily="34" charset="-120"/>
              </a:rPr>
              <a:t>Cost of one avoided FDA 483 observation tied to ungoverned AI use — legal response, remediation, CAPA, re-inspection</a:t>
            </a:r>
            <a:endParaRPr lang="en-US" sz="1100" dirty="0"/>
          </a:p>
        </p:txBody>
      </p:sp>
      <p:sp>
        <p:nvSpPr>
          <p:cNvPr id="20" name="Shape 18"/>
          <p:cNvSpPr/>
          <p:nvPr/>
        </p:nvSpPr>
        <p:spPr>
          <a:xfrm>
            <a:off x="4381348" y="3474720"/>
            <a:ext cx="3429000" cy="1691640"/>
          </a:xfrm>
          <a:prstGeom prst="roundRect">
            <a:avLst>
              <a:gd name="adj" fmla="val 3784"/>
            </a:avLst>
          </a:prstGeom>
          <a:solidFill>
            <a:srgbClr val="E8F5E9"/>
          </a:solidFill>
          <a:ln w="12700">
            <a:solidFill>
              <a:srgbClr val="C8E6C9"/>
            </a:solidFill>
            <a:prstDash val="solid"/>
          </a:ln>
        </p:spPr>
        <p:txBody>
          <a:bodyPr/>
          <a:lstStyle/>
          <a:p>
            <a:endParaRPr lang="en-US"/>
          </a:p>
        </p:txBody>
      </p:sp>
      <p:sp>
        <p:nvSpPr>
          <p:cNvPr id="21" name="Text 19"/>
          <p:cNvSpPr/>
          <p:nvPr/>
        </p:nvSpPr>
        <p:spPr>
          <a:xfrm>
            <a:off x="4564228" y="3611880"/>
            <a:ext cx="3063240" cy="457200"/>
          </a:xfrm>
          <a:prstGeom prst="rect">
            <a:avLst/>
          </a:prstGeom>
          <a:noFill/>
          <a:ln/>
        </p:spPr>
        <p:txBody>
          <a:bodyPr wrap="square" rtlCol="0" anchor="ctr"/>
          <a:lstStyle/>
          <a:p>
            <a:pPr marL="0" indent="0" algn="ctr">
              <a:buNone/>
            </a:pPr>
            <a:r>
              <a:rPr lang="en-US" sz="2000" b="1" dirty="0">
                <a:solidFill>
                  <a:srgbClr val="1B5E20"/>
                </a:solidFill>
                <a:latin typeface="Cambria" pitchFamily="34" charset="0"/>
                <a:ea typeface="Cambria" pitchFamily="34" charset="-122"/>
                <a:cs typeface="Cambria" pitchFamily="34" charset="-120"/>
              </a:rPr>
              <a:t>$3M+</a:t>
            </a:r>
            <a:endParaRPr lang="en-US" sz="2000" dirty="0"/>
          </a:p>
        </p:txBody>
      </p:sp>
      <p:sp>
        <p:nvSpPr>
          <p:cNvPr id="22" name="Text 20"/>
          <p:cNvSpPr/>
          <p:nvPr/>
        </p:nvSpPr>
        <p:spPr>
          <a:xfrm>
            <a:off x="4609948" y="4114800"/>
            <a:ext cx="2971800" cy="1005840"/>
          </a:xfrm>
          <a:prstGeom prst="rect">
            <a:avLst/>
          </a:prstGeom>
          <a:noFill/>
          <a:ln/>
        </p:spPr>
        <p:txBody>
          <a:bodyPr wrap="square" rtlCol="0" anchor="ctr"/>
          <a:lstStyle/>
          <a:p>
            <a:pPr marL="0" indent="0" algn="ctr">
              <a:buNone/>
            </a:pPr>
            <a:r>
              <a:rPr lang="en-US" sz="1100" dirty="0">
                <a:solidFill>
                  <a:srgbClr val="33691E"/>
                </a:solidFill>
                <a:latin typeface="Calibri" pitchFamily="34" charset="0"/>
                <a:ea typeface="Calibri" pitchFamily="34" charset="-122"/>
                <a:cs typeface="Calibri" pitchFamily="34" charset="-120"/>
              </a:rPr>
              <a:t>Annual revenue from NexTern's largest customer relationship — retaining it once exceeds the program's full cost</a:t>
            </a:r>
            <a:endParaRPr lang="en-US" sz="1100" dirty="0"/>
          </a:p>
        </p:txBody>
      </p:sp>
      <p:sp>
        <p:nvSpPr>
          <p:cNvPr id="23" name="Shape 21"/>
          <p:cNvSpPr/>
          <p:nvPr/>
        </p:nvSpPr>
        <p:spPr>
          <a:xfrm>
            <a:off x="8130388" y="3474720"/>
            <a:ext cx="3429000" cy="1691640"/>
          </a:xfrm>
          <a:prstGeom prst="roundRect">
            <a:avLst>
              <a:gd name="adj" fmla="val 3784"/>
            </a:avLst>
          </a:prstGeom>
          <a:solidFill>
            <a:srgbClr val="E8F5E9"/>
          </a:solidFill>
          <a:ln w="12700">
            <a:solidFill>
              <a:srgbClr val="C8E6C9"/>
            </a:solidFill>
            <a:prstDash val="solid"/>
          </a:ln>
        </p:spPr>
        <p:txBody>
          <a:bodyPr/>
          <a:lstStyle/>
          <a:p>
            <a:endParaRPr lang="en-US"/>
          </a:p>
        </p:txBody>
      </p:sp>
      <p:sp>
        <p:nvSpPr>
          <p:cNvPr id="24" name="Text 22"/>
          <p:cNvSpPr/>
          <p:nvPr/>
        </p:nvSpPr>
        <p:spPr>
          <a:xfrm>
            <a:off x="8313268" y="3611880"/>
            <a:ext cx="3063240" cy="457200"/>
          </a:xfrm>
          <a:prstGeom prst="rect">
            <a:avLst/>
          </a:prstGeom>
          <a:noFill/>
          <a:ln/>
        </p:spPr>
        <p:txBody>
          <a:bodyPr wrap="square" rtlCol="0" anchor="ctr"/>
          <a:lstStyle/>
          <a:p>
            <a:pPr marL="0" indent="0" algn="ctr">
              <a:buNone/>
            </a:pPr>
            <a:r>
              <a:rPr lang="en-US" sz="2000" b="1" dirty="0">
                <a:solidFill>
                  <a:srgbClr val="1B5E20"/>
                </a:solidFill>
                <a:latin typeface="Cambria" pitchFamily="34" charset="0"/>
                <a:ea typeface="Cambria" pitchFamily="34" charset="-122"/>
                <a:cs typeface="Cambria" pitchFamily="34" charset="-120"/>
              </a:rPr>
              <a:t>$594K vs $425K</a:t>
            </a:r>
            <a:endParaRPr lang="en-US" sz="2000" dirty="0"/>
          </a:p>
        </p:txBody>
      </p:sp>
      <p:sp>
        <p:nvSpPr>
          <p:cNvPr id="25" name="Text 23"/>
          <p:cNvSpPr/>
          <p:nvPr/>
        </p:nvSpPr>
        <p:spPr>
          <a:xfrm>
            <a:off x="8358988" y="4114800"/>
            <a:ext cx="2971800" cy="1005840"/>
          </a:xfrm>
          <a:prstGeom prst="rect">
            <a:avLst/>
          </a:prstGeom>
          <a:noFill/>
          <a:ln/>
        </p:spPr>
        <p:txBody>
          <a:bodyPr wrap="square" rtlCol="0" anchor="ctr"/>
          <a:lstStyle/>
          <a:p>
            <a:pPr marL="0" indent="0" algn="ctr">
              <a:buNone/>
            </a:pPr>
            <a:r>
              <a:rPr lang="en-US" sz="1100" dirty="0">
                <a:solidFill>
                  <a:srgbClr val="33691E"/>
                </a:solidFill>
                <a:latin typeface="Calibri" pitchFamily="34" charset="0"/>
                <a:ea typeface="Calibri" pitchFamily="34" charset="-122"/>
                <a:cs typeface="Calibri" pitchFamily="34" charset="-120"/>
              </a:rPr>
              <a:t>Recovered engineer capacity vs. run cost at full build-out — cash-flow positive from go-live</a:t>
            </a:r>
            <a:endParaRPr lang="en-US" sz="1100" dirty="0"/>
          </a:p>
        </p:txBody>
      </p:sp>
      <p:sp>
        <p:nvSpPr>
          <p:cNvPr id="26" name="Shape 24"/>
          <p:cNvSpPr/>
          <p:nvPr/>
        </p:nvSpPr>
        <p:spPr>
          <a:xfrm>
            <a:off x="502920" y="5349240"/>
            <a:ext cx="11155680" cy="868680"/>
          </a:xfrm>
          <a:prstGeom prst="roundRect">
            <a:avLst>
              <a:gd name="adj" fmla="val 6316"/>
            </a:avLst>
          </a:prstGeom>
          <a:solidFill>
            <a:srgbClr val="FFF3E0"/>
          </a:solidFill>
          <a:ln w="9525">
            <a:solidFill>
              <a:srgbClr val="E65100"/>
            </a:solidFill>
            <a:prstDash val="solid"/>
          </a:ln>
        </p:spPr>
        <p:txBody>
          <a:bodyPr/>
          <a:lstStyle/>
          <a:p>
            <a:endParaRPr lang="en-US"/>
          </a:p>
        </p:txBody>
      </p:sp>
      <p:sp>
        <p:nvSpPr>
          <p:cNvPr id="27" name="Text 25"/>
          <p:cNvSpPr/>
          <p:nvPr/>
        </p:nvSpPr>
        <p:spPr>
          <a:xfrm>
            <a:off x="731520" y="5413248"/>
            <a:ext cx="10698480" cy="749808"/>
          </a:xfrm>
          <a:prstGeom prst="rect">
            <a:avLst/>
          </a:prstGeom>
          <a:noFill/>
          <a:ln/>
        </p:spPr>
        <p:txBody>
          <a:bodyPr wrap="square" rtlCol="0" anchor="ctr"/>
          <a:lstStyle/>
          <a:p>
            <a:pPr marL="0" indent="0">
              <a:buNone/>
            </a:pPr>
            <a:r>
              <a:rPr lang="en-US" sz="1050" i="1" dirty="0">
                <a:solidFill>
                  <a:srgbClr val="7A3B00"/>
                </a:solidFill>
                <a:latin typeface="Calibri" pitchFamily="34" charset="0"/>
                <a:ea typeface="Calibri" pitchFamily="34" charset="-122"/>
                <a:cs typeface="Calibri" pitchFamily="34" charset="-120"/>
              </a:rPr>
              <a:t>Sensitivity check: at the Forrester-standard 50% productivity capture rate, the base case holds (93% ROI, 17-month payback). At a pessimistic 30% capture rate, ROI compresses to ~50% with a 26-month payback — still net positive. We'd recommend an explicit Year-1 adoption/change-management line of $75K–$150K as a hedge.</a:t>
            </a:r>
            <a:endParaRPr lang="en-US" sz="1050" dirty="0"/>
          </a:p>
        </p:txBody>
      </p:sp>
      <p:sp>
        <p:nvSpPr>
          <p:cNvPr id="29" name="Text 27"/>
          <p:cNvSpPr/>
          <p:nvPr/>
        </p:nvSpPr>
        <p:spPr>
          <a:xfrm>
            <a:off x="11368735" y="6528816"/>
            <a:ext cx="365760" cy="256032"/>
          </a:xfrm>
          <a:prstGeom prst="rect">
            <a:avLst/>
          </a:prstGeom>
          <a:noFill/>
          <a:ln/>
        </p:spPr>
        <p:txBody>
          <a:bodyPr wrap="square" rtlCol="0" anchor="ctr"/>
          <a:lstStyle/>
          <a:p>
            <a:pPr marL="0" indent="0" algn="r">
              <a:buNone/>
            </a:pPr>
            <a:r>
              <a:rPr lang="en-US" sz="900" dirty="0">
                <a:solidFill>
                  <a:srgbClr val="5F6368"/>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1"/>
          <p:cNvSpPr/>
          <p:nvPr/>
        </p:nvSpPr>
        <p:spPr>
          <a:xfrm>
            <a:off x="502920" y="576072"/>
            <a:ext cx="10515600" cy="640080"/>
          </a:xfrm>
          <a:prstGeom prst="rect">
            <a:avLst/>
          </a:prstGeom>
          <a:noFill/>
          <a:ln/>
        </p:spPr>
        <p:txBody>
          <a:bodyPr wrap="square" rtlCol="0" anchor="ctr"/>
          <a:lstStyle/>
          <a:p>
            <a:pPr marL="0" indent="0">
              <a:buNone/>
            </a:pPr>
            <a:r>
              <a:rPr lang="en-US" sz="2800" b="1" dirty="0">
                <a:solidFill>
                  <a:srgbClr val="082744"/>
                </a:solidFill>
                <a:latin typeface="Cambria" pitchFamily="34" charset="0"/>
                <a:ea typeface="Cambria" pitchFamily="34" charset="-122"/>
                <a:cs typeface="Cambria" pitchFamily="34" charset="-120"/>
              </a:rPr>
              <a:t>Costs</a:t>
            </a:r>
            <a:endParaRPr lang="en-US" sz="2800" dirty="0"/>
          </a:p>
        </p:txBody>
      </p:sp>
      <p:pic>
        <p:nvPicPr>
          <p:cNvPr id="16" name="Picture 15">
            <a:extLst>
              <a:ext uri="{FF2B5EF4-FFF2-40B4-BE49-F238E27FC236}">
                <a16:creationId xmlns:a16="http://schemas.microsoft.com/office/drawing/2014/main" id="{6ED4CBEA-44A9-7C0E-C29D-1010C63231C1}"/>
              </a:ext>
            </a:extLst>
          </p:cNvPr>
          <p:cNvPicPr>
            <a:picLocks noChangeAspect="1"/>
          </p:cNvPicPr>
          <p:nvPr/>
        </p:nvPicPr>
        <p:blipFill>
          <a:blip r:embed="rId3"/>
          <a:srcRect t="13397"/>
          <a:stretch>
            <a:fillRect/>
          </a:stretch>
        </p:blipFill>
        <p:spPr>
          <a:xfrm>
            <a:off x="4147994" y="360145"/>
            <a:ext cx="5630120" cy="2669829"/>
          </a:xfrm>
          <a:prstGeom prst="rect">
            <a:avLst/>
          </a:prstGeom>
        </p:spPr>
      </p:pic>
      <p:sp>
        <p:nvSpPr>
          <p:cNvPr id="18" name="TextBox 17">
            <a:extLst>
              <a:ext uri="{FF2B5EF4-FFF2-40B4-BE49-F238E27FC236}">
                <a16:creationId xmlns:a16="http://schemas.microsoft.com/office/drawing/2014/main" id="{B5611194-2CFC-37E4-E45F-83767A1BF68D}"/>
              </a:ext>
            </a:extLst>
          </p:cNvPr>
          <p:cNvSpPr txBox="1"/>
          <p:nvPr/>
        </p:nvSpPr>
        <p:spPr>
          <a:xfrm>
            <a:off x="3322561" y="1525782"/>
            <a:ext cx="657552" cy="338554"/>
          </a:xfrm>
          <a:prstGeom prst="rect">
            <a:avLst/>
          </a:prstGeom>
          <a:noFill/>
        </p:spPr>
        <p:txBody>
          <a:bodyPr wrap="none" rtlCol="0">
            <a:spAutoFit/>
          </a:bodyPr>
          <a:lstStyle/>
          <a:p>
            <a:r>
              <a:rPr lang="en-US" sz="1600" dirty="0"/>
              <a:t>Labor</a:t>
            </a:r>
          </a:p>
        </p:txBody>
      </p:sp>
      <p:sp>
        <p:nvSpPr>
          <p:cNvPr id="19" name="TextBox 18">
            <a:extLst>
              <a:ext uri="{FF2B5EF4-FFF2-40B4-BE49-F238E27FC236}">
                <a16:creationId xmlns:a16="http://schemas.microsoft.com/office/drawing/2014/main" id="{41831146-3A9C-C1B4-0B5D-7392C6BFB329}"/>
              </a:ext>
            </a:extLst>
          </p:cNvPr>
          <p:cNvSpPr txBox="1"/>
          <p:nvPr/>
        </p:nvSpPr>
        <p:spPr>
          <a:xfrm>
            <a:off x="2648530" y="4644023"/>
            <a:ext cx="1331583" cy="338554"/>
          </a:xfrm>
          <a:prstGeom prst="rect">
            <a:avLst/>
          </a:prstGeom>
          <a:noFill/>
        </p:spPr>
        <p:txBody>
          <a:bodyPr wrap="none" rtlCol="0">
            <a:spAutoFit/>
          </a:bodyPr>
          <a:lstStyle/>
          <a:p>
            <a:r>
              <a:rPr lang="en-US" sz="1600" dirty="0"/>
              <a:t>Infrastructure</a:t>
            </a:r>
          </a:p>
        </p:txBody>
      </p:sp>
      <p:pic>
        <p:nvPicPr>
          <p:cNvPr id="22" name="Picture 21">
            <a:extLst>
              <a:ext uri="{FF2B5EF4-FFF2-40B4-BE49-F238E27FC236}">
                <a16:creationId xmlns:a16="http://schemas.microsoft.com/office/drawing/2014/main" id="{6F95F95A-3035-F0EF-5F95-7DAF1CCCA2FD}"/>
              </a:ext>
            </a:extLst>
          </p:cNvPr>
          <p:cNvPicPr>
            <a:picLocks noChangeAspect="1"/>
          </p:cNvPicPr>
          <p:nvPr/>
        </p:nvPicPr>
        <p:blipFill>
          <a:blip r:embed="rId4"/>
          <a:stretch>
            <a:fillRect/>
          </a:stretch>
        </p:blipFill>
        <p:spPr>
          <a:xfrm>
            <a:off x="4147994" y="3256440"/>
            <a:ext cx="7088688" cy="2775167"/>
          </a:xfrm>
          <a:prstGeom prst="rect">
            <a:avLst/>
          </a:prstGeom>
        </p:spPr>
      </p:pic>
      <p:sp>
        <p:nvSpPr>
          <p:cNvPr id="2" name="Rectangle 1">
            <a:extLst>
              <a:ext uri="{FF2B5EF4-FFF2-40B4-BE49-F238E27FC236}">
                <a16:creationId xmlns:a16="http://schemas.microsoft.com/office/drawing/2014/main" id="{C521A9D3-4796-4E96-6577-823629A8A4AC}"/>
              </a:ext>
            </a:extLst>
          </p:cNvPr>
          <p:cNvSpPr/>
          <p:nvPr/>
        </p:nvSpPr>
        <p:spPr>
          <a:xfrm>
            <a:off x="3980113" y="5693079"/>
            <a:ext cx="4180594" cy="432148"/>
          </a:xfrm>
          <a:prstGeom prst="rect">
            <a:avLst/>
          </a:prstGeom>
          <a:noFill/>
          <a:ln w="28575"/>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ext 1"/>
          <p:cNvSpPr/>
          <p:nvPr/>
        </p:nvSpPr>
        <p:spPr>
          <a:xfrm>
            <a:off x="502920" y="576072"/>
            <a:ext cx="10515600" cy="640080"/>
          </a:xfrm>
          <a:prstGeom prst="rect">
            <a:avLst/>
          </a:prstGeom>
          <a:noFill/>
          <a:ln/>
        </p:spPr>
        <p:txBody>
          <a:bodyPr wrap="square" rtlCol="0" anchor="ctr"/>
          <a:lstStyle/>
          <a:p>
            <a:pPr marL="0" indent="0">
              <a:buNone/>
            </a:pPr>
            <a:r>
              <a:rPr lang="en-US" sz="2800" b="1" dirty="0">
                <a:solidFill>
                  <a:srgbClr val="082744"/>
                </a:solidFill>
                <a:latin typeface="Cambria" pitchFamily="34" charset="0"/>
                <a:ea typeface="Cambria" pitchFamily="34" charset="-122"/>
                <a:cs typeface="Cambria" pitchFamily="34" charset="-120"/>
              </a:rPr>
              <a:t>Go deeper</a:t>
            </a:r>
            <a:endParaRPr lang="en-US" sz="2800" dirty="0"/>
          </a:p>
        </p:txBody>
      </p:sp>
      <p:sp>
        <p:nvSpPr>
          <p:cNvPr id="4" name="Text 2"/>
          <p:cNvSpPr/>
          <p:nvPr/>
        </p:nvSpPr>
        <p:spPr>
          <a:xfrm>
            <a:off x="502920" y="1371600"/>
            <a:ext cx="11155680" cy="365760"/>
          </a:xfrm>
          <a:prstGeom prst="rect">
            <a:avLst/>
          </a:prstGeom>
          <a:noFill/>
          <a:ln/>
        </p:spPr>
        <p:txBody>
          <a:bodyPr wrap="square" rtlCol="0" anchor="ctr"/>
          <a:lstStyle/>
          <a:p>
            <a:pPr marL="0" indent="0">
              <a:buNone/>
            </a:pPr>
            <a:r>
              <a:rPr lang="en-US" sz="1350" dirty="0">
                <a:solidFill>
                  <a:srgbClr val="333333"/>
                </a:solidFill>
                <a:latin typeface="Calibri" pitchFamily="34" charset="0"/>
                <a:ea typeface="Calibri" pitchFamily="34" charset="-122"/>
                <a:cs typeface="Calibri" pitchFamily="34" charset="-120"/>
              </a:rPr>
              <a:t>This page is a summary. Full detail is available on request:</a:t>
            </a:r>
            <a:endParaRPr lang="en-US" sz="1350" dirty="0"/>
          </a:p>
        </p:txBody>
      </p:sp>
      <p:sp>
        <p:nvSpPr>
          <p:cNvPr id="5" name="Shape 3"/>
          <p:cNvSpPr/>
          <p:nvPr/>
        </p:nvSpPr>
        <p:spPr>
          <a:xfrm>
            <a:off x="502920" y="1920240"/>
            <a:ext cx="11155680" cy="4023360"/>
          </a:xfrm>
          <a:prstGeom prst="roundRect">
            <a:avLst>
              <a:gd name="adj" fmla="val 1364"/>
            </a:avLst>
          </a:prstGeom>
          <a:solidFill>
            <a:srgbClr val="F3F6FB"/>
          </a:solidFill>
          <a:ln w="12700">
            <a:solidFill>
              <a:srgbClr val="E1E4EF"/>
            </a:solidFill>
            <a:prstDash val="solid"/>
          </a:ln>
        </p:spPr>
        <p:txBody>
          <a:bodyPr/>
          <a:lstStyle/>
          <a:p>
            <a:endParaRPr lang="en-US"/>
          </a:p>
        </p:txBody>
      </p:sp>
      <p:sp>
        <p:nvSpPr>
          <p:cNvPr id="6" name="Text 4"/>
          <p:cNvSpPr/>
          <p:nvPr/>
        </p:nvSpPr>
        <p:spPr>
          <a:xfrm>
            <a:off x="868680" y="2194560"/>
            <a:ext cx="10515600" cy="3520440"/>
          </a:xfrm>
          <a:prstGeom prst="rect">
            <a:avLst/>
          </a:prstGeom>
          <a:noFill/>
          <a:ln/>
        </p:spPr>
        <p:txBody>
          <a:bodyPr wrap="square" rtlCol="0" anchor="t"/>
          <a:lstStyle/>
          <a:p>
            <a:pPr marL="342900" indent="-342900">
              <a:spcAft>
                <a:spcPts val="1400"/>
              </a:spcAft>
              <a:buSzPct val="100000"/>
              <a:buChar char="•"/>
            </a:pPr>
            <a:r>
              <a:rPr lang="en-US" sz="1450" dirty="0">
                <a:solidFill>
                  <a:srgbClr val="222222"/>
                </a:solidFill>
                <a:latin typeface="Calibri" pitchFamily="34" charset="0"/>
                <a:ea typeface="Calibri" pitchFamily="34" charset="-122"/>
                <a:cs typeface="Calibri" pitchFamily="34" charset="-120"/>
              </a:rPr>
              <a:t>The 12-diagram architecture set (C4 + UML), architecture/docs/</a:t>
            </a:r>
            <a:endParaRPr lang="en-US" sz="1450" dirty="0"/>
          </a:p>
          <a:p>
            <a:pPr marL="342900" indent="-342900">
              <a:spcAft>
                <a:spcPts val="1400"/>
              </a:spcAft>
              <a:buSzPct val="100000"/>
              <a:buChar char="•"/>
            </a:pPr>
            <a:r>
              <a:rPr lang="en-US" sz="1450" dirty="0">
                <a:solidFill>
                  <a:srgbClr val="222222"/>
                </a:solidFill>
                <a:latin typeface="Calibri" pitchFamily="34" charset="0"/>
                <a:ea typeface="Calibri" pitchFamily="34" charset="-122"/>
                <a:cs typeface="Calibri" pitchFamily="34" charset="-120"/>
              </a:rPr>
              <a:t>Full Architecture Overview Document (AOD) and its DRAFT HTML rendering</a:t>
            </a:r>
            <a:endParaRPr lang="en-US" sz="1450" dirty="0"/>
          </a:p>
          <a:p>
            <a:pPr marL="342900" indent="-342900">
              <a:spcAft>
                <a:spcPts val="1400"/>
              </a:spcAft>
              <a:buSzPct val="100000"/>
              <a:buChar char="•"/>
            </a:pPr>
            <a:r>
              <a:rPr lang="en-US" sz="1450" dirty="0">
                <a:solidFill>
                  <a:srgbClr val="222222"/>
                </a:solidFill>
                <a:latin typeface="Calibri" pitchFamily="34" charset="0"/>
                <a:ea typeface="Calibri" pitchFamily="34" charset="-122"/>
                <a:cs typeface="Calibri" pitchFamily="34" charset="-120"/>
              </a:rPr>
              <a:t>Architecture Decision Records (ADR-0001 through ADR-0003), architecture/decisions/</a:t>
            </a:r>
            <a:endParaRPr lang="en-US" sz="1450" dirty="0"/>
          </a:p>
          <a:p>
            <a:pPr marL="342900" indent="-342900">
              <a:spcAft>
                <a:spcPts val="1400"/>
              </a:spcAft>
              <a:buSzPct val="100000"/>
              <a:buChar char="•"/>
            </a:pPr>
            <a:r>
              <a:rPr lang="en-US" sz="1450" dirty="0">
                <a:solidFill>
                  <a:srgbClr val="222222"/>
                </a:solidFill>
                <a:latin typeface="Calibri" pitchFamily="34" charset="0"/>
                <a:ea typeface="Calibri" pitchFamily="34" charset="-122"/>
                <a:cs typeface="Calibri" pitchFamily="34" charset="-120"/>
              </a:rPr>
              <a:t>Full ROI models and the original board-approved ROI deck (v7), ROI/</a:t>
            </a:r>
            <a:endParaRPr lang="en-US" sz="1450" dirty="0"/>
          </a:p>
          <a:p>
            <a:pPr marL="342900" indent="-342900">
              <a:spcAft>
                <a:spcPts val="1400"/>
              </a:spcAft>
              <a:buSzPct val="100000"/>
              <a:buChar char="•"/>
            </a:pPr>
            <a:r>
              <a:rPr lang="en-US" sz="1450" dirty="0">
                <a:solidFill>
                  <a:srgbClr val="222222"/>
                </a:solidFill>
                <a:latin typeface="Calibri" pitchFamily="34" charset="0"/>
                <a:ea typeface="Calibri" pitchFamily="34" charset="-122"/>
                <a:cs typeface="Calibri" pitchFamily="34" charset="-120"/>
              </a:rPr>
              <a:t>POC demo materials: VM deployment plan, Act 1/Act 2 demo scripts, audit-checklist mapping, docs/demo/</a:t>
            </a:r>
            <a:endParaRPr lang="en-US" sz="1450" dirty="0"/>
          </a:p>
          <a:p>
            <a:pPr marL="342900" indent="-342900">
              <a:spcAft>
                <a:spcPts val="1400"/>
              </a:spcAft>
              <a:buSzPct val="100000"/>
              <a:buChar char="•"/>
            </a:pPr>
            <a:r>
              <a:rPr lang="en-US" sz="1450" dirty="0">
                <a:solidFill>
                  <a:srgbClr val="222222"/>
                </a:solidFill>
                <a:latin typeface="Calibri" pitchFamily="34" charset="0"/>
                <a:ea typeface="Calibri" pitchFamily="34" charset="-122"/>
                <a:cs typeface="Calibri" pitchFamily="34" charset="-120"/>
              </a:rPr>
              <a:t>Vendor governance comparison (Claude, Gemini, ChatGPT, IBM Bob) — the working backdrop for evaluating any new vendor claim</a:t>
            </a:r>
            <a:endParaRPr lang="en-US" sz="1450" dirty="0"/>
          </a:p>
        </p:txBody>
      </p:sp>
      <p:sp>
        <p:nvSpPr>
          <p:cNvPr id="8" name="Text 6"/>
          <p:cNvSpPr/>
          <p:nvPr/>
        </p:nvSpPr>
        <p:spPr>
          <a:xfrm>
            <a:off x="11368735" y="6528816"/>
            <a:ext cx="365760" cy="256032"/>
          </a:xfrm>
          <a:prstGeom prst="rect">
            <a:avLst/>
          </a:prstGeom>
          <a:noFill/>
          <a:ln/>
        </p:spPr>
        <p:txBody>
          <a:bodyPr wrap="square" rtlCol="0" anchor="ctr"/>
          <a:lstStyle/>
          <a:p>
            <a:pPr marL="0" indent="0" algn="r">
              <a:buNone/>
            </a:pPr>
            <a:r>
              <a:rPr lang="en-US" sz="900" dirty="0">
                <a:solidFill>
                  <a:srgbClr val="5F6368"/>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extern-ai-poc-exit" id="{C4466ADC-61B7-D74B-A97A-11595A8E9FD8}" vid="{D13D2010-991D-734F-A5E6-9AC36AF0EB0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74</TotalTime>
  <Words>2336</Words>
  <Application>Microsoft Macintosh PowerPoint</Application>
  <PresentationFormat>Widescreen</PresentationFormat>
  <Paragraphs>326</Paragraphs>
  <Slides>21</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PptxGenJS Presentation</dc:subject>
  <dc:creator>Timothy McCrimmon</dc:creator>
  <cp:lastModifiedBy>Timothy McCrimmon</cp:lastModifiedBy>
  <cp:revision>2</cp:revision>
  <dcterms:created xsi:type="dcterms:W3CDTF">2026-09-24T16:43:22Z</dcterms:created>
  <dcterms:modified xsi:type="dcterms:W3CDTF">2026-09-24T17:57:47Z</dcterms:modified>
</cp:coreProperties>
</file>