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4F"/>
    <a:srgbClr val="161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25"/>
    <p:restoredTop sz="94731"/>
  </p:normalViewPr>
  <p:slideViewPr>
    <p:cSldViewPr snapToGrid="0">
      <p:cViewPr varScale="1">
        <p:scale>
          <a:sx n="149" d="100"/>
          <a:sy n="149" d="100"/>
        </p:scale>
        <p:origin x="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D3A3-438C-C936-67D1-67B720F11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2E464-93A6-25D0-F1C0-71626357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4610F-0622-FC6A-0DB3-DDC3CAD6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2F94C-9C3C-FE7E-CB6B-494B9BA4209D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842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0121-789C-DFA2-4702-65BC187B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870E8-A8B3-9C54-563E-A23683BB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B04A96-2308-F741-292C-A783E6EA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0B9B6-8F56-F42F-F828-BE7E5DE92262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523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4361-5738-457B-1F9F-B9D72A3A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C0C6E-8478-B8BC-0D58-D3079E8D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2576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CC79C4-45B2-8FA7-14B0-E6E2C40C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B3DE9-B96F-3293-A89F-34C44B7AC9DA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2094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9194-C4AD-2779-EB64-F50DB4A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61FA8-24D6-2A18-8F5D-F445A6F8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71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68882-01B4-FF9D-C694-2AE3704BA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71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B03D38-17DF-D93D-72D5-92DDC9AE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59F96-933A-933B-5962-7BE680CFA5E7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9473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B048-F193-8E85-1D7E-36F47F94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D54AB-6B3F-0A4B-C26A-E57ABAC6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F8B54-6FBE-936C-8556-C45BB0419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75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EDE43-58E6-C70D-5CA2-19C92F057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24D93-7559-117E-0C16-216E59A6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75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8783311-DB0D-9662-13AF-ED55DCE7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CB803-5373-4377-7F96-0AABC3893EB7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9281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78E8-7282-983D-D137-03EDE432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0137B12-8189-1F54-498D-C19712B7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F1B12-02A4-5F5D-8369-7AB9A722B810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682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FC769A-DAF3-D354-8A6E-34C2E2A2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94D9C-2F49-D479-9F75-C52F078B8B7E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12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201C-51F4-F65C-60DE-0D0E559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F9D6-D7F8-0371-CF28-3EB82775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63BD5-ED20-C7E3-673C-DEFDCDD3B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3416"/>
            <a:ext cx="3932237" cy="35955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B8B0F81-3ADC-2F50-284E-510B4988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1B5BD-11FF-CA36-EB57-DC39DCDC9E8D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8388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3346-2C94-02D9-0004-30C8D427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0F88B-3EAD-342C-BC68-906A70582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60BC4-B92B-4891-2088-5C313807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1472"/>
            <a:ext cx="3932237" cy="36375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7182F7B-0B19-7B81-8838-785B2ED2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F69B1-FF5E-6F5A-355D-91DAC94242D5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457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C078-E438-4BFA-4C48-1EEC084C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DEF05-4131-D39F-21C4-FE609F70E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ABCAAAD-08D3-CCF0-758A-4D5E545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0E6FF-D6A3-AE47-22AA-A8C0D428FEE8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259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B0819-B110-F0BF-7EF0-E3E54EEDA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549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735A-E9B1-7FC9-237B-20BC7EFC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54911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18541BA-289F-D42A-F5F0-EA97661A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396F1-DEFF-ECF0-E013-EF948793B8C1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999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A58F0-9BC3-AA6D-C0A9-566341D6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48E01-589E-E1AE-A303-B6E9AD9AA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8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C095-DDF6-9109-0938-BE3A25B1F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35A94-27D5-F943-9E22-FF249660658B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9051-563A-F4A9-32D1-A6F20D07E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BD30F-380F-C749-FE13-3E189E82C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96C6A-1D41-0F4A-A30D-D15EB165DB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3ED2A-83C2-5676-1A85-8F4B5D0EA109}"/>
              </a:ext>
            </a:extLst>
          </p:cNvPr>
          <p:cNvSpPr/>
          <p:nvPr userDrawn="1"/>
        </p:nvSpPr>
        <p:spPr>
          <a:xfrm>
            <a:off x="0" y="6044825"/>
            <a:ext cx="12192000" cy="813175"/>
          </a:xfrm>
          <a:prstGeom prst="rect">
            <a:avLst/>
          </a:prstGeom>
          <a:solidFill>
            <a:srgbClr val="002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13346F5-600E-F855-62E6-88E278E565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36550" b="32722"/>
          <a:stretch>
            <a:fillRect/>
          </a:stretch>
        </p:blipFill>
        <p:spPr>
          <a:xfrm>
            <a:off x="4772790" y="6044824"/>
            <a:ext cx="2646420" cy="81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5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3C24-732C-EC73-63D0-A30BD15BC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Context Specification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E8105-F2C4-4458-BB3F-C72D18273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6891" y="3790882"/>
            <a:ext cx="6278217" cy="165576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Launch Plan</a:t>
            </a:r>
          </a:p>
        </p:txBody>
      </p:sp>
    </p:spTree>
    <p:extLst>
      <p:ext uri="{BB962C8B-B14F-4D97-AF65-F5344CB8AC3E}">
        <p14:creationId xmlns:p14="http://schemas.microsoft.com/office/powerpoint/2010/main" val="4074120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6AB4-F7A8-2079-14DE-CDDA9189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CD6C5EE-84CE-F1F8-03AE-A27C326F8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3416"/>
            <a:ext cx="3932237" cy="3595571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DAAE157-D685-6C95-0FBE-09833D477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23178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183188" y="457200"/>
          <a:ext cx="6172201" cy="527208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092023">
                  <a:extLst>
                    <a:ext uri="{9D8B030D-6E8A-4147-A177-3AD203B41FA5}">
                      <a16:colId xmlns:a16="http://schemas.microsoft.com/office/drawing/2014/main" val="4195219160"/>
                    </a:ext>
                  </a:extLst>
                </a:gridCol>
                <a:gridCol w="4080178">
                  <a:extLst>
                    <a:ext uri="{9D8B030D-6E8A-4147-A177-3AD203B41FA5}">
                      <a16:colId xmlns:a16="http://schemas.microsoft.com/office/drawing/2014/main" val="3521280987"/>
                    </a:ext>
                  </a:extLst>
                </a:gridCol>
              </a:tblGrid>
              <a:tr h="87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Overview, Goals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53707"/>
                  </a:ext>
                </a:extLst>
              </a:tr>
              <a:tr h="87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Target Audience, Messages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55792"/>
                  </a:ext>
                </a:extLst>
              </a:tr>
              <a:tr h="87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Leaders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65543"/>
                  </a:ext>
                </a:extLst>
              </a:tr>
              <a:tr h="87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Developers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22917"/>
                  </a:ext>
                </a:extLst>
              </a:tr>
              <a:tr h="87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Platforms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39705"/>
                  </a:ext>
                </a:extLst>
              </a:tr>
              <a:tr h="878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Deliverables</a:t>
                      </a:r>
                    </a:p>
                  </a:txBody>
                  <a:tcPr marL="136662" marR="136662" marT="136662" marB="1366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76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33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D8A0-8D14-92EA-CDFB-85A24EDD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Presence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F4E8C-91AD-5F60-5D0C-A0744C2C9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53957"/>
              </p:ext>
            </p:extLst>
          </p:nvPr>
        </p:nvGraphicFramePr>
        <p:xfrm>
          <a:off x="838200" y="2062690"/>
          <a:ext cx="10377490" cy="219032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75498">
                  <a:extLst>
                    <a:ext uri="{9D8B030D-6E8A-4147-A177-3AD203B41FA5}">
                      <a16:colId xmlns:a16="http://schemas.microsoft.com/office/drawing/2014/main" val="266454809"/>
                    </a:ext>
                  </a:extLst>
                </a:gridCol>
                <a:gridCol w="2075498">
                  <a:extLst>
                    <a:ext uri="{9D8B030D-6E8A-4147-A177-3AD203B41FA5}">
                      <a16:colId xmlns:a16="http://schemas.microsoft.com/office/drawing/2014/main" val="3660092617"/>
                    </a:ext>
                  </a:extLst>
                </a:gridCol>
                <a:gridCol w="2075498">
                  <a:extLst>
                    <a:ext uri="{9D8B030D-6E8A-4147-A177-3AD203B41FA5}">
                      <a16:colId xmlns:a16="http://schemas.microsoft.com/office/drawing/2014/main" val="2979008532"/>
                    </a:ext>
                  </a:extLst>
                </a:gridCol>
                <a:gridCol w="2075498">
                  <a:extLst>
                    <a:ext uri="{9D8B030D-6E8A-4147-A177-3AD203B41FA5}">
                      <a16:colId xmlns:a16="http://schemas.microsoft.com/office/drawing/2014/main" val="156105437"/>
                    </a:ext>
                  </a:extLst>
                </a:gridCol>
                <a:gridCol w="2075498">
                  <a:extLst>
                    <a:ext uri="{9D8B030D-6E8A-4147-A177-3AD203B41FA5}">
                      <a16:colId xmlns:a16="http://schemas.microsoft.com/office/drawing/2014/main" val="2047525312"/>
                    </a:ext>
                  </a:extLst>
                </a:gridCol>
              </a:tblGrid>
              <a:tr h="387562"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r>
                        <a:rPr lang="en-US" dirty="0"/>
                        <a:t>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r>
                        <a:rPr lang="en-US" dirty="0"/>
                        <a:t>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r>
                        <a:rPr lang="en-US" dirty="0"/>
                        <a:t> Discussions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r>
                        <a:rPr lang="en-US" dirty="0"/>
                        <a:t> Wiki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11694"/>
                  </a:ext>
                </a:extLst>
              </a:tr>
              <a:tr h="3875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070357"/>
                  </a:ext>
                </a:extLst>
              </a:tr>
              <a:tr h="3875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973255"/>
                  </a:ext>
                </a:extLst>
              </a:tr>
              <a:tr h="3875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735639"/>
                  </a:ext>
                </a:extLst>
              </a:tr>
              <a:tr h="38756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476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1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E3E0-E25E-A006-23B7-C2D9C116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Deliverables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E57DD2-D015-9C47-87BE-57F81D01C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492141"/>
              </p:ext>
            </p:extLst>
          </p:nvPr>
        </p:nvGraphicFramePr>
        <p:xfrm>
          <a:off x="974725" y="1945640"/>
          <a:ext cx="9983787" cy="29667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327929">
                  <a:extLst>
                    <a:ext uri="{9D8B030D-6E8A-4147-A177-3AD203B41FA5}">
                      <a16:colId xmlns:a16="http://schemas.microsoft.com/office/drawing/2014/main" val="40201038"/>
                    </a:ext>
                  </a:extLst>
                </a:gridCol>
                <a:gridCol w="3327929">
                  <a:extLst>
                    <a:ext uri="{9D8B030D-6E8A-4147-A177-3AD203B41FA5}">
                      <a16:colId xmlns:a16="http://schemas.microsoft.com/office/drawing/2014/main" val="3487702390"/>
                    </a:ext>
                  </a:extLst>
                </a:gridCol>
                <a:gridCol w="3327929">
                  <a:extLst>
                    <a:ext uri="{9D8B030D-6E8A-4147-A177-3AD203B41FA5}">
                      <a16:colId xmlns:a16="http://schemas.microsoft.com/office/drawing/2014/main" val="2745272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44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28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54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22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747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666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879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46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DB4F-75DB-18F5-857D-5E5ED3F4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Content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261052-F28B-6F30-B5EC-3810BF796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338788"/>
              </p:ext>
            </p:extLst>
          </p:nvPr>
        </p:nvGraphicFramePr>
        <p:xfrm>
          <a:off x="974725" y="1945640"/>
          <a:ext cx="9983787" cy="29667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327929">
                  <a:extLst>
                    <a:ext uri="{9D8B030D-6E8A-4147-A177-3AD203B41FA5}">
                      <a16:colId xmlns:a16="http://schemas.microsoft.com/office/drawing/2014/main" val="40201038"/>
                    </a:ext>
                  </a:extLst>
                </a:gridCol>
                <a:gridCol w="3327929">
                  <a:extLst>
                    <a:ext uri="{9D8B030D-6E8A-4147-A177-3AD203B41FA5}">
                      <a16:colId xmlns:a16="http://schemas.microsoft.com/office/drawing/2014/main" val="3487702390"/>
                    </a:ext>
                  </a:extLst>
                </a:gridCol>
                <a:gridCol w="3327929">
                  <a:extLst>
                    <a:ext uri="{9D8B030D-6E8A-4147-A177-3AD203B41FA5}">
                      <a16:colId xmlns:a16="http://schemas.microsoft.com/office/drawing/2014/main" val="2745272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44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28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54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22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747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666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879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70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BFA0-C8FD-6FCB-129A-66751281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9B8F-EBE2-650E-F0FC-B19917E6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Day Activities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6378EF-8722-DC94-867F-5CDD7C8BF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953809"/>
              </p:ext>
            </p:extLst>
          </p:nvPr>
        </p:nvGraphicFramePr>
        <p:xfrm>
          <a:off x="974725" y="1945640"/>
          <a:ext cx="9983787" cy="29667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327929">
                  <a:extLst>
                    <a:ext uri="{9D8B030D-6E8A-4147-A177-3AD203B41FA5}">
                      <a16:colId xmlns:a16="http://schemas.microsoft.com/office/drawing/2014/main" val="40201038"/>
                    </a:ext>
                  </a:extLst>
                </a:gridCol>
                <a:gridCol w="3327929">
                  <a:extLst>
                    <a:ext uri="{9D8B030D-6E8A-4147-A177-3AD203B41FA5}">
                      <a16:colId xmlns:a16="http://schemas.microsoft.com/office/drawing/2014/main" val="3487702390"/>
                    </a:ext>
                  </a:extLst>
                </a:gridCol>
                <a:gridCol w="3327929">
                  <a:extLst>
                    <a:ext uri="{9D8B030D-6E8A-4147-A177-3AD203B41FA5}">
                      <a16:colId xmlns:a16="http://schemas.microsoft.com/office/drawing/2014/main" val="2745272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44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28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54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22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747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666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879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9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149E5C-564B-1B3A-12AD-62EB184858E0}"/>
              </a:ext>
            </a:extLst>
          </p:cNvPr>
          <p:cNvSpPr/>
          <p:nvPr/>
        </p:nvSpPr>
        <p:spPr>
          <a:xfrm>
            <a:off x="5355997" y="2853972"/>
            <a:ext cx="1060297" cy="2699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A8A8A-2848-47EB-63F1-FF051CEE9F3E}"/>
              </a:ext>
            </a:extLst>
          </p:cNvPr>
          <p:cNvSpPr/>
          <p:nvPr/>
        </p:nvSpPr>
        <p:spPr>
          <a:xfrm>
            <a:off x="5355997" y="3203480"/>
            <a:ext cx="1060297" cy="2699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STANDARD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8C324-FF29-7E59-B313-08A5A6D0EB4E}"/>
              </a:ext>
            </a:extLst>
          </p:cNvPr>
          <p:cNvSpPr/>
          <p:nvPr/>
        </p:nvSpPr>
        <p:spPr>
          <a:xfrm>
            <a:off x="5355997" y="3552988"/>
            <a:ext cx="1060297" cy="2699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F14213-3D50-7CFE-6B01-21E8027B4FD1}"/>
              </a:ext>
            </a:extLst>
          </p:cNvPr>
          <p:cNvSpPr txBox="1"/>
          <p:nvPr/>
        </p:nvSpPr>
        <p:spPr>
          <a:xfrm>
            <a:off x="5074064" y="976165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Governance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1D22F3-0694-51B6-6D3F-56F92B18C9C9}"/>
              </a:ext>
            </a:extLst>
          </p:cNvPr>
          <p:cNvSpPr txBox="1"/>
          <p:nvPr/>
        </p:nvSpPr>
        <p:spPr>
          <a:xfrm>
            <a:off x="3617154" y="287163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F2F576-07E3-F219-923A-FBD5427BEDC1}"/>
              </a:ext>
            </a:extLst>
          </p:cNvPr>
          <p:cNvSpPr txBox="1"/>
          <p:nvPr/>
        </p:nvSpPr>
        <p:spPr>
          <a:xfrm>
            <a:off x="5092498" y="4717016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Compliance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A9649-C4BB-2413-51EA-8342E023B5EC}"/>
              </a:ext>
            </a:extLst>
          </p:cNvPr>
          <p:cNvSpPr txBox="1"/>
          <p:nvPr/>
        </p:nvSpPr>
        <p:spPr>
          <a:xfrm>
            <a:off x="7387148" y="278453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</a:t>
            </a:r>
          </a:p>
        </p:txBody>
      </p:sp>
      <p:pic>
        <p:nvPicPr>
          <p:cNvPr id="17" name="Graphic 16" descr="Bar graph with upward trend with solid fill">
            <a:extLst>
              <a:ext uri="{FF2B5EF4-FFF2-40B4-BE49-F238E27FC236}">
                <a16:creationId xmlns:a16="http://schemas.microsoft.com/office/drawing/2014/main" id="{898FD59E-F1BE-521E-8C04-7FD4F8B87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7430" y="640120"/>
            <a:ext cx="377430" cy="377430"/>
          </a:xfrm>
          <a:prstGeom prst="rect">
            <a:avLst/>
          </a:prstGeom>
        </p:spPr>
      </p:pic>
      <p:pic>
        <p:nvPicPr>
          <p:cNvPr id="19" name="Graphic 18" descr="Tools with solid fill">
            <a:extLst>
              <a:ext uri="{FF2B5EF4-FFF2-40B4-BE49-F238E27FC236}">
                <a16:creationId xmlns:a16="http://schemas.microsoft.com/office/drawing/2014/main" id="{49ACC190-98A4-252A-B87E-0E6D2EAA7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6197" y="2765419"/>
            <a:ext cx="377430" cy="377430"/>
          </a:xfrm>
          <a:prstGeom prst="rect">
            <a:avLst/>
          </a:prstGeom>
        </p:spPr>
      </p:pic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8B267514-ACAC-124A-22A6-DCFA29809E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0920" y="4993596"/>
            <a:ext cx="710451" cy="710451"/>
          </a:xfrm>
          <a:prstGeom prst="rect">
            <a:avLst/>
          </a:prstGeom>
        </p:spPr>
      </p:pic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96763C73-4A01-B21A-78F9-4E1CBFD4A0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35709" y="2863541"/>
            <a:ext cx="377431" cy="356712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FA657DA5-FF96-4D38-F9BD-70088A56A6F3}"/>
              </a:ext>
            </a:extLst>
          </p:cNvPr>
          <p:cNvSpPr/>
          <p:nvPr/>
        </p:nvSpPr>
        <p:spPr>
          <a:xfrm>
            <a:off x="4998112" y="2089822"/>
            <a:ext cx="235670" cy="188286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A4032364-07BE-C64F-709D-BDC72407C768}"/>
              </a:ext>
            </a:extLst>
          </p:cNvPr>
          <p:cNvSpPr/>
          <p:nvPr/>
        </p:nvSpPr>
        <p:spPr>
          <a:xfrm rot="10800000">
            <a:off x="6558855" y="2052331"/>
            <a:ext cx="235670" cy="188286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13396B-34E3-D631-01F9-AC94A8D875B6}"/>
              </a:ext>
            </a:extLst>
          </p:cNvPr>
          <p:cNvSpPr txBox="1"/>
          <p:nvPr/>
        </p:nvSpPr>
        <p:spPr>
          <a:xfrm>
            <a:off x="5395466" y="2066478"/>
            <a:ext cx="981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STRUCTURED</a:t>
            </a:r>
          </a:p>
          <a:p>
            <a:pPr algn="ctr"/>
            <a:r>
              <a:rPr lang="en-US" sz="1000" dirty="0"/>
              <a:t>CONTEXT </a:t>
            </a:r>
          </a:p>
          <a:p>
            <a:pPr algn="ctr"/>
            <a:r>
              <a:rPr lang="en-US" sz="1000" dirty="0"/>
              <a:t>DOCUMENTS</a:t>
            </a:r>
            <a:br>
              <a:rPr lang="en-US" sz="1000" dirty="0"/>
            </a:br>
            <a:r>
              <a:rPr lang="en-US" sz="1000" dirty="0"/>
              <a:t>(SCDs)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389FCA-106D-3DF4-3EBE-64044FF30437}"/>
              </a:ext>
            </a:extLst>
          </p:cNvPr>
          <p:cNvSpPr txBox="1"/>
          <p:nvPr/>
        </p:nvSpPr>
        <p:spPr>
          <a:xfrm>
            <a:off x="5325735" y="1273662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Live Monitoring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B3D79-040A-C79F-EE17-2C5AF4780161}"/>
              </a:ext>
            </a:extLst>
          </p:cNvPr>
          <p:cNvSpPr txBox="1"/>
          <p:nvPr/>
        </p:nvSpPr>
        <p:spPr>
          <a:xfrm>
            <a:off x="5106124" y="4491263"/>
            <a:ext cx="15600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Continuous Validation</a:t>
            </a:r>
          </a:p>
        </p:txBody>
      </p:sp>
      <p:sp>
        <p:nvSpPr>
          <p:cNvPr id="29" name="Up Arrow 28">
            <a:extLst>
              <a:ext uri="{FF2B5EF4-FFF2-40B4-BE49-F238E27FC236}">
                <a16:creationId xmlns:a16="http://schemas.microsoft.com/office/drawing/2014/main" id="{3968303C-43ED-6D44-73C1-F1FD88AE1E7E}"/>
              </a:ext>
            </a:extLst>
          </p:cNvPr>
          <p:cNvSpPr/>
          <p:nvPr/>
        </p:nvSpPr>
        <p:spPr>
          <a:xfrm>
            <a:off x="5580683" y="1549567"/>
            <a:ext cx="610924" cy="336446"/>
          </a:xfrm>
          <a:prstGeom prst="up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AI</a:t>
            </a:r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514C017E-EA6E-54D2-5EC6-611E990E670F}"/>
              </a:ext>
            </a:extLst>
          </p:cNvPr>
          <p:cNvSpPr/>
          <p:nvPr/>
        </p:nvSpPr>
        <p:spPr>
          <a:xfrm>
            <a:off x="5559038" y="4099317"/>
            <a:ext cx="654215" cy="33644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AI</a:t>
            </a:r>
          </a:p>
        </p:txBody>
      </p:sp>
      <p:sp>
        <p:nvSpPr>
          <p:cNvPr id="36" name="Curved Right Arrow 35">
            <a:extLst>
              <a:ext uri="{FF2B5EF4-FFF2-40B4-BE49-F238E27FC236}">
                <a16:creationId xmlns:a16="http://schemas.microsoft.com/office/drawing/2014/main" id="{F11BC01A-5D40-78C7-0C09-F150E29E71D5}"/>
              </a:ext>
            </a:extLst>
          </p:cNvPr>
          <p:cNvSpPr/>
          <p:nvPr/>
        </p:nvSpPr>
        <p:spPr>
          <a:xfrm>
            <a:off x="7072085" y="2370074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3A4CD0-3858-42EB-84E4-4AF0F0256B16}"/>
              </a:ext>
            </a:extLst>
          </p:cNvPr>
          <p:cNvSpPr txBox="1"/>
          <p:nvPr/>
        </p:nvSpPr>
        <p:spPr>
          <a:xfrm>
            <a:off x="3168631" y="220900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Person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(accountable)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928AFD-1A67-99CD-4F1C-54B433A4B150}"/>
              </a:ext>
            </a:extLst>
          </p:cNvPr>
          <p:cNvSpPr txBox="1"/>
          <p:nvPr/>
        </p:nvSpPr>
        <p:spPr>
          <a:xfrm>
            <a:off x="3444347" y="3439169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/>
                </a:solidFill>
              </a:rPr>
              <a:t>AI Tool</a:t>
            </a:r>
          </a:p>
          <a:p>
            <a:pPr algn="ctr"/>
            <a:r>
              <a:rPr lang="en-US" sz="1200" dirty="0">
                <a:solidFill>
                  <a:schemeClr val="accent6"/>
                </a:solidFill>
              </a:rPr>
              <a:t>(Assists)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06F904-FAEC-601A-D64E-B9BD7F0F63C5}"/>
              </a:ext>
            </a:extLst>
          </p:cNvPr>
          <p:cNvSpPr txBox="1"/>
          <p:nvPr/>
        </p:nvSpPr>
        <p:spPr>
          <a:xfrm>
            <a:off x="7319469" y="220900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Person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(accountable)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B381D7-2D63-770A-142D-2BA849AC30A5}"/>
              </a:ext>
            </a:extLst>
          </p:cNvPr>
          <p:cNvSpPr txBox="1"/>
          <p:nvPr/>
        </p:nvSpPr>
        <p:spPr>
          <a:xfrm>
            <a:off x="7652939" y="3439169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/>
                </a:solidFill>
              </a:rPr>
              <a:t>AI Tool</a:t>
            </a:r>
          </a:p>
          <a:p>
            <a:pPr algn="ctr"/>
            <a:r>
              <a:rPr lang="en-US" sz="1200" dirty="0">
                <a:solidFill>
                  <a:schemeClr val="accent6"/>
                </a:solidFill>
              </a:rPr>
              <a:t>(Assists)</a:t>
            </a:r>
          </a:p>
        </p:txBody>
      </p:sp>
      <p:sp>
        <p:nvSpPr>
          <p:cNvPr id="51" name="Curved Right Arrow 50">
            <a:extLst>
              <a:ext uri="{FF2B5EF4-FFF2-40B4-BE49-F238E27FC236}">
                <a16:creationId xmlns:a16="http://schemas.microsoft.com/office/drawing/2014/main" id="{DCE74115-A788-89A3-DFDF-086E7F6E7412}"/>
              </a:ext>
            </a:extLst>
          </p:cNvPr>
          <p:cNvSpPr/>
          <p:nvPr/>
        </p:nvSpPr>
        <p:spPr>
          <a:xfrm rot="10800000">
            <a:off x="8555546" y="2341481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Curved Right Arrow 51">
            <a:extLst>
              <a:ext uri="{FF2B5EF4-FFF2-40B4-BE49-F238E27FC236}">
                <a16:creationId xmlns:a16="http://schemas.microsoft.com/office/drawing/2014/main" id="{D4D3709B-ACB8-AAA9-9A69-A7A1E1E1D815}"/>
              </a:ext>
            </a:extLst>
          </p:cNvPr>
          <p:cNvSpPr/>
          <p:nvPr/>
        </p:nvSpPr>
        <p:spPr>
          <a:xfrm rot="10800000">
            <a:off x="4413844" y="2318248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Curved Right Arrow 52">
            <a:extLst>
              <a:ext uri="{FF2B5EF4-FFF2-40B4-BE49-F238E27FC236}">
                <a16:creationId xmlns:a16="http://schemas.microsoft.com/office/drawing/2014/main" id="{B25FE5AA-8F8D-E126-730E-8ED631A4D55A}"/>
              </a:ext>
            </a:extLst>
          </p:cNvPr>
          <p:cNvSpPr/>
          <p:nvPr/>
        </p:nvSpPr>
        <p:spPr>
          <a:xfrm>
            <a:off x="2936733" y="2331680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84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7CFB-FADF-FE9F-A0EA-8D248359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94EED-5801-C0AC-E546-9BFA5481D71B}"/>
              </a:ext>
            </a:extLst>
          </p:cNvPr>
          <p:cNvSpPr/>
          <p:nvPr/>
        </p:nvSpPr>
        <p:spPr>
          <a:xfrm>
            <a:off x="5355997" y="2853972"/>
            <a:ext cx="1060297" cy="2699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981E4-45B3-A46B-4BE9-06B5D5831043}"/>
              </a:ext>
            </a:extLst>
          </p:cNvPr>
          <p:cNvSpPr/>
          <p:nvPr/>
        </p:nvSpPr>
        <p:spPr>
          <a:xfrm>
            <a:off x="5355997" y="3203480"/>
            <a:ext cx="1060297" cy="2699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STANDARD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71110-8611-009C-EA3C-9C3FFF121FBE}"/>
              </a:ext>
            </a:extLst>
          </p:cNvPr>
          <p:cNvSpPr/>
          <p:nvPr/>
        </p:nvSpPr>
        <p:spPr>
          <a:xfrm>
            <a:off x="5355997" y="3552988"/>
            <a:ext cx="1060297" cy="2699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PROJECT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D7FBF-35B5-591D-1F71-A45E4AA05971}"/>
              </a:ext>
            </a:extLst>
          </p:cNvPr>
          <p:cNvSpPr txBox="1"/>
          <p:nvPr/>
        </p:nvSpPr>
        <p:spPr>
          <a:xfrm>
            <a:off x="3617154" y="287163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C4C11-0B75-015A-8176-8E1FDC8A5038}"/>
              </a:ext>
            </a:extLst>
          </p:cNvPr>
          <p:cNvSpPr txBox="1"/>
          <p:nvPr/>
        </p:nvSpPr>
        <p:spPr>
          <a:xfrm>
            <a:off x="7387148" y="278453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</a:t>
            </a:r>
          </a:p>
        </p:txBody>
      </p:sp>
      <p:pic>
        <p:nvPicPr>
          <p:cNvPr id="19" name="Graphic 18" descr="Tools with solid fill">
            <a:extLst>
              <a:ext uri="{FF2B5EF4-FFF2-40B4-BE49-F238E27FC236}">
                <a16:creationId xmlns:a16="http://schemas.microsoft.com/office/drawing/2014/main" id="{FCE83644-8582-96E1-5CE6-FD558C7E2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6197" y="2765419"/>
            <a:ext cx="377430" cy="377430"/>
          </a:xfrm>
          <a:prstGeom prst="rect">
            <a:avLst/>
          </a:prstGeom>
        </p:spPr>
      </p:pic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4801E660-74C0-6E86-25AB-48FB193C9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5709" y="2863541"/>
            <a:ext cx="377431" cy="356712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A3672850-0E12-3355-1366-2341A0A74BE3}"/>
              </a:ext>
            </a:extLst>
          </p:cNvPr>
          <p:cNvSpPr/>
          <p:nvPr/>
        </p:nvSpPr>
        <p:spPr>
          <a:xfrm>
            <a:off x="4998112" y="2089822"/>
            <a:ext cx="235670" cy="188286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57A3D782-65B9-C8DD-A62A-BC4E7F86D0DC}"/>
              </a:ext>
            </a:extLst>
          </p:cNvPr>
          <p:cNvSpPr/>
          <p:nvPr/>
        </p:nvSpPr>
        <p:spPr>
          <a:xfrm rot="10800000">
            <a:off x="6558855" y="2052331"/>
            <a:ext cx="235670" cy="188286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CB449B-3771-472A-3DDB-683E589E67BF}"/>
              </a:ext>
            </a:extLst>
          </p:cNvPr>
          <p:cNvSpPr txBox="1"/>
          <p:nvPr/>
        </p:nvSpPr>
        <p:spPr>
          <a:xfrm>
            <a:off x="5395466" y="2066478"/>
            <a:ext cx="981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STRUCTURED</a:t>
            </a:r>
          </a:p>
          <a:p>
            <a:pPr algn="ctr"/>
            <a:r>
              <a:rPr lang="en-US" sz="1000" dirty="0"/>
              <a:t>CONTEXT </a:t>
            </a:r>
          </a:p>
          <a:p>
            <a:pPr algn="ctr"/>
            <a:r>
              <a:rPr lang="en-US" sz="1000" dirty="0"/>
              <a:t>DOCUMENTS</a:t>
            </a:r>
            <a:br>
              <a:rPr lang="en-US" sz="1000" dirty="0"/>
            </a:br>
            <a:r>
              <a:rPr lang="en-US" sz="1000" dirty="0"/>
              <a:t>(SCDs)</a:t>
            </a:r>
          </a:p>
        </p:txBody>
      </p:sp>
      <p:sp>
        <p:nvSpPr>
          <p:cNvPr id="36" name="Curved Right Arrow 35">
            <a:extLst>
              <a:ext uri="{FF2B5EF4-FFF2-40B4-BE49-F238E27FC236}">
                <a16:creationId xmlns:a16="http://schemas.microsoft.com/office/drawing/2014/main" id="{56439312-7A8F-EC37-3819-368DD38D1728}"/>
              </a:ext>
            </a:extLst>
          </p:cNvPr>
          <p:cNvSpPr/>
          <p:nvPr/>
        </p:nvSpPr>
        <p:spPr>
          <a:xfrm>
            <a:off x="7072085" y="2370074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F3B16B-921E-09E1-BD1D-09D51F03FAFA}"/>
              </a:ext>
            </a:extLst>
          </p:cNvPr>
          <p:cNvSpPr txBox="1"/>
          <p:nvPr/>
        </p:nvSpPr>
        <p:spPr>
          <a:xfrm>
            <a:off x="3168631" y="220900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Person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(accountable)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26C66E-8713-B2C8-CFEB-31A7E996B16A}"/>
              </a:ext>
            </a:extLst>
          </p:cNvPr>
          <p:cNvSpPr txBox="1"/>
          <p:nvPr/>
        </p:nvSpPr>
        <p:spPr>
          <a:xfrm>
            <a:off x="3444347" y="3439169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/>
                </a:solidFill>
              </a:rPr>
              <a:t>AI Tool</a:t>
            </a:r>
          </a:p>
          <a:p>
            <a:pPr algn="ctr"/>
            <a:r>
              <a:rPr lang="en-US" sz="1200" dirty="0">
                <a:solidFill>
                  <a:schemeClr val="accent6"/>
                </a:solidFill>
              </a:rPr>
              <a:t>(Assists)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0F69B4-3CD2-8E4B-6EB6-09406E6BC29A}"/>
              </a:ext>
            </a:extLst>
          </p:cNvPr>
          <p:cNvSpPr txBox="1"/>
          <p:nvPr/>
        </p:nvSpPr>
        <p:spPr>
          <a:xfrm>
            <a:off x="7319469" y="220900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Person</a:t>
            </a:r>
          </a:p>
          <a:p>
            <a:pPr algn="ctr"/>
            <a:r>
              <a:rPr lang="en-US" sz="1200" dirty="0">
                <a:solidFill>
                  <a:srgbClr val="0070C0"/>
                </a:solidFill>
              </a:rPr>
              <a:t>(accountable)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E15889-0248-1B4D-2677-4BCDD56C5D73}"/>
              </a:ext>
            </a:extLst>
          </p:cNvPr>
          <p:cNvSpPr txBox="1"/>
          <p:nvPr/>
        </p:nvSpPr>
        <p:spPr>
          <a:xfrm>
            <a:off x="7652939" y="3439169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/>
                </a:solidFill>
              </a:rPr>
              <a:t>AI Tool</a:t>
            </a:r>
          </a:p>
          <a:p>
            <a:pPr algn="ctr"/>
            <a:r>
              <a:rPr lang="en-US" sz="1200" dirty="0">
                <a:solidFill>
                  <a:schemeClr val="accent6"/>
                </a:solidFill>
              </a:rPr>
              <a:t>(Assists)</a:t>
            </a:r>
          </a:p>
        </p:txBody>
      </p:sp>
      <p:sp>
        <p:nvSpPr>
          <p:cNvPr id="51" name="Curved Right Arrow 50">
            <a:extLst>
              <a:ext uri="{FF2B5EF4-FFF2-40B4-BE49-F238E27FC236}">
                <a16:creationId xmlns:a16="http://schemas.microsoft.com/office/drawing/2014/main" id="{6C6EA267-539E-019C-2533-41475D22DC6E}"/>
              </a:ext>
            </a:extLst>
          </p:cNvPr>
          <p:cNvSpPr/>
          <p:nvPr/>
        </p:nvSpPr>
        <p:spPr>
          <a:xfrm rot="10800000">
            <a:off x="8555546" y="2341481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Curved Right Arrow 51">
            <a:extLst>
              <a:ext uri="{FF2B5EF4-FFF2-40B4-BE49-F238E27FC236}">
                <a16:creationId xmlns:a16="http://schemas.microsoft.com/office/drawing/2014/main" id="{72A2C763-2982-BFE6-00F7-6DD589455EC6}"/>
              </a:ext>
            </a:extLst>
          </p:cNvPr>
          <p:cNvSpPr/>
          <p:nvPr/>
        </p:nvSpPr>
        <p:spPr>
          <a:xfrm rot="10800000">
            <a:off x="4413844" y="2318248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Curved Right Arrow 52">
            <a:extLst>
              <a:ext uri="{FF2B5EF4-FFF2-40B4-BE49-F238E27FC236}">
                <a16:creationId xmlns:a16="http://schemas.microsoft.com/office/drawing/2014/main" id="{06090689-CEF4-614B-6939-4529184766B0}"/>
              </a:ext>
            </a:extLst>
          </p:cNvPr>
          <p:cNvSpPr/>
          <p:nvPr/>
        </p:nvSpPr>
        <p:spPr>
          <a:xfrm>
            <a:off x="2936733" y="2331680"/>
            <a:ext cx="304104" cy="1369690"/>
          </a:xfrm>
          <a:prstGeom prst="curved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29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13058</TotalTime>
  <Words>120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Office Theme</vt:lpstr>
      <vt:lpstr>Structured Context Specification</vt:lpstr>
      <vt:lpstr>Agenda</vt:lpstr>
      <vt:lpstr>Web Presence</vt:lpstr>
      <vt:lpstr>Major Deliverables</vt:lpstr>
      <vt:lpstr>Marketing Content</vt:lpstr>
      <vt:lpstr>Launch Day Activities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McCrimmon</dc:creator>
  <cp:lastModifiedBy>Timothy McCrimmon</cp:lastModifiedBy>
  <cp:revision>52</cp:revision>
  <dcterms:created xsi:type="dcterms:W3CDTF">2025-08-14T19:36:48Z</dcterms:created>
  <dcterms:modified xsi:type="dcterms:W3CDTF">2025-12-15T14:47:47Z</dcterms:modified>
</cp:coreProperties>
</file>